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9" r:id="rId3"/>
    <p:sldId id="262" r:id="rId4"/>
    <p:sldId id="260" r:id="rId5"/>
    <p:sldId id="268" r:id="rId6"/>
    <p:sldId id="309" r:id="rId7"/>
    <p:sldId id="304" r:id="rId8"/>
    <p:sldId id="290" r:id="rId9"/>
    <p:sldId id="310" r:id="rId10"/>
    <p:sldId id="306" r:id="rId11"/>
    <p:sldId id="307" r:id="rId12"/>
    <p:sldId id="308" r:id="rId13"/>
    <p:sldId id="286" r:id="rId14"/>
    <p:sldId id="305" r:id="rId15"/>
    <p:sldId id="311" r:id="rId16"/>
    <p:sldId id="312" r:id="rId17"/>
    <p:sldId id="313" r:id="rId18"/>
    <p:sldId id="314" r:id="rId19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0448"/>
    <a:srgbClr val="4D4D4D"/>
    <a:srgbClr val="003366"/>
    <a:srgbClr val="000066"/>
    <a:srgbClr val="333399"/>
    <a:srgbClr val="6600CC"/>
    <a:srgbClr val="3366FF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C17BEF-56B6-B218-0ACE-E5520C095326}" v="354" dt="2025-05-09T06:58:03.079"/>
    <p1510:client id="{230E29B6-B26C-C741-1CE2-DEA569D38DFB}" v="84" dt="2025-05-09T17:15:16.766"/>
    <p1510:client id="{30CDC230-D28E-1257-30F7-5DD12C2ECE20}" v="250" dt="2025-05-09T07:09:38.298"/>
    <p1510:client id="{47ACF679-5D3A-564B-A607-567FB0487C5D}" v="111" dt="2025-05-09T15:05:44.640"/>
    <p1510:client id="{79E93BEB-6D0E-CCC5-B6E3-E291BE8D056A}" v="50" dt="2025-05-09T17:37:31.634"/>
    <p1510:client id="{A75EE82C-5509-1D25-CD68-1A5922C9780C}" v="76" dt="2025-05-09T05:07:26.4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4F014-9A02-4370-98AF-8A4593A02C6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140A1D-0B06-4C79-9F26-2E2FB119E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195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PMingLiU" pitchFamily="18" charset="-120"/>
              </a:defRPr>
            </a:lvl1pPr>
          </a:lstStyle>
          <a:p>
            <a:fld id="{5D7F18D2-2977-429E-8B6D-22778A44E64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720294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3EEB0713-4CCC-4E3E-846C-FACD634EFBA6}" type="slidenum">
              <a:rPr lang="zh-TW" altLang="en-US" sz="1200">
                <a:ea typeface="PMingLiU" pitchFamily="18" charset="-120"/>
              </a:rPr>
              <a:pPr eaLnBrk="1" hangingPunct="1"/>
              <a:t>1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1220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2DF503E9-4B1D-4341-B837-151F396BAC41}" type="slidenum">
              <a:rPr lang="zh-TW" altLang="en-US" sz="1200">
                <a:ea typeface="PMingLiU" pitchFamily="18" charset="-120"/>
              </a:rPr>
              <a:pPr eaLnBrk="1" hangingPunct="1"/>
              <a:t>2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noProof="0">
                <a:latin typeface="Arial" pitchFamily="34" charset="0"/>
                <a:ea typeface="PMingLiU" pitchFamily="18" charset="-120"/>
              </a:rPr>
              <a:t>The motivation of this</a:t>
            </a:r>
            <a:r>
              <a:rPr lang="en-US" altLang="zh-CN" baseline="0" noProof="0">
                <a:latin typeface="Arial" pitchFamily="34" charset="0"/>
                <a:ea typeface="PMingLiU" pitchFamily="18" charset="-120"/>
              </a:rPr>
              <a:t> project</a:t>
            </a:r>
            <a:endParaRPr lang="zh-CN" altLang="en-US" noProof="0">
              <a:latin typeface="Arial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16358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7F18D2-2977-429E-8B6D-22778A44E64D}" type="slidenum">
              <a:rPr lang="zh-TW" altLang="en-US" smtClean="0"/>
              <a:pPr/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44056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7F18D2-2977-429E-8B6D-22778A44E64D}" type="slidenum">
              <a:rPr lang="zh-TW" altLang="en-US" smtClean="0"/>
              <a:pPr/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69274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07E23D78-CF54-4D4E-9A10-679B9CD3C531}" type="slidenum">
              <a:rPr lang="zh-TW" altLang="en-US" sz="1200">
                <a:ea typeface="PMingLiU" pitchFamily="18" charset="-120"/>
              </a:rPr>
              <a:pPr eaLnBrk="1" hangingPunct="1"/>
              <a:t>5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>
                <a:latin typeface="Arial" pitchFamily="34" charset="0"/>
                <a:ea typeface="PMingLiU" pitchFamily="18" charset="-120"/>
              </a:rPr>
              <a:t>Here, we make the claim of this project.</a:t>
            </a:r>
            <a:endParaRPr lang="zh-TW" altLang="en-US">
              <a:latin typeface="Arial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11335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07E23D78-CF54-4D4E-9A10-679B9CD3C531}" type="slidenum">
              <a:rPr lang="zh-TW" altLang="en-US" sz="1200">
                <a:ea typeface="PMingLiU" pitchFamily="18" charset="-120"/>
              </a:rPr>
              <a:pPr eaLnBrk="1" hangingPunct="1"/>
              <a:t>6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>
                <a:latin typeface="Arial" pitchFamily="34" charset="0"/>
                <a:ea typeface="PMingLiU" pitchFamily="18" charset="-120"/>
              </a:rPr>
              <a:t>Here, we make the claim of this project.</a:t>
            </a:r>
            <a:endParaRPr lang="zh-TW" altLang="en-US">
              <a:latin typeface="Arial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4447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US"/>
              <a:t>Here</a:t>
            </a:r>
            <a:r>
              <a:rPr lang="en-US" baseline="0"/>
              <a:t> is our proposed solution.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7F18D2-2977-429E-8B6D-22778A44E64D}" type="slidenum">
              <a:rPr lang="zh-TW" altLang="en-US" smtClean="0"/>
              <a:pPr/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13623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8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1946370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F96DA-45F9-079B-86F0-A06D70737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5C900F2E-99B8-96F4-5116-0093A84DB2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9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C39DA6F7-A5E8-5FBA-12FC-D12971E205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05EAFDF5-811C-41B6-67FC-F7B26300C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23054973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10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19472728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11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1639256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12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537301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7F18D2-2977-429E-8B6D-22778A44E64D}" type="slidenum">
              <a:rPr lang="zh-TW" altLang="en-US" smtClean="0"/>
              <a:pPr/>
              <a:t>17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7322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0BA4C9-2F9F-4941-AE8E-AC62D4D2183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18953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714D2E-7875-44F7-AD06-272F94F3FDC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70567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5E09B8-D849-4C92-A970-16FA4838A42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22180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9270A9-8D84-49FD-B2CD-C3D2813EE56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92272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497711-EAFB-4E5A-A951-28BB7421965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67382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B9F96C-5FBF-454D-AED9-6FBC07E2617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14993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836DE4-103E-47E4-9B1A-63D8DBEAA21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05156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B7166F-8A7E-4E15-882C-A9C18C7F8E9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3268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641FC1-14D6-4CDA-B301-C72ECEE19E8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92883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410D2D-20AB-4FDA-A7D1-25C10B534DA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37638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8BEF21-3D8E-49E2-8FE9-D5A02E038BC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95077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5760C2-38E4-496F-933D-2305F303D3F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9726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PMingLiU" pitchFamily="18" charset="-120"/>
              </a:defRPr>
            </a:lvl1pPr>
          </a:lstStyle>
          <a:p>
            <a:fld id="{533C024B-1461-4457-9A28-300117C30C91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8"/>
          <p:cNvSpPr txBox="1">
            <a:spLocks noChangeArrowheads="1"/>
          </p:cNvSpPr>
          <p:nvPr/>
        </p:nvSpPr>
        <p:spPr bwMode="auto">
          <a:xfrm>
            <a:off x="152400" y="2590800"/>
            <a:ext cx="8839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TW" sz="36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Private Data Synthesis for Preference Learning in Large Language Models</a:t>
            </a:r>
          </a:p>
        </p:txBody>
      </p:sp>
      <p:sp>
        <p:nvSpPr>
          <p:cNvPr id="2051" name="Text Box 9"/>
          <p:cNvSpPr txBox="1">
            <a:spLocks noChangeArrowheads="1"/>
          </p:cNvSpPr>
          <p:nvPr/>
        </p:nvSpPr>
        <p:spPr bwMode="auto">
          <a:xfrm>
            <a:off x="152400" y="3962400"/>
            <a:ext cx="8839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TW" sz="2200" err="1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Fengyu</a:t>
            </a:r>
            <a:r>
              <a:rPr lang="en-US" altLang="zh-TW" sz="22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 Gao, Wei Shen	</a:t>
            </a:r>
          </a:p>
        </p:txBody>
      </p:sp>
      <p:sp>
        <p:nvSpPr>
          <p:cNvPr id="2052" name="Text Box 9"/>
          <p:cNvSpPr txBox="1">
            <a:spLocks noChangeArrowheads="1"/>
          </p:cNvSpPr>
          <p:nvPr/>
        </p:nvSpPr>
        <p:spPr bwMode="auto">
          <a:xfrm>
            <a:off x="76200" y="4419600"/>
            <a:ext cx="8839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TW" sz="22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05/09/2025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A4C9-2F9F-4941-AE8E-AC62D4D21837}" type="slidenum">
              <a:rPr lang="zh-TW" altLang="en-US" smtClean="0"/>
              <a:pPr/>
              <a:t>1</a:t>
            </a:fld>
            <a:endParaRPr lang="en-US" altLang="zh-TW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zh-CN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Motivation</a:t>
            </a:r>
            <a:endParaRPr lang="en-US" altLang="zh-TW" sz="360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2</a:t>
            </a:fld>
            <a:endParaRPr lang="en-US" altLang="zh-TW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8D48BA90-97AC-F177-DCD5-E642C0537D8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33400" y="1447800"/>
            <a:ext cx="8229600" cy="4419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2000" b="1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Preference Learning </a:t>
            </a:r>
            <a:r>
              <a:rPr lang="en-US" altLang="zh-TW" sz="20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is essential for aligning LLMs to human preferences.</a:t>
            </a:r>
            <a:endParaRPr lang="en-US" altLang="zh-TW" sz="1600">
              <a:solidFill>
                <a:srgbClr val="4D4D4D"/>
              </a:solidFill>
              <a:latin typeface="Georgia" charset="0"/>
              <a:ea typeface="新細明體" charset="0"/>
              <a:cs typeface="新細明體" charset="0"/>
            </a:endParaRPr>
          </a:p>
          <a:p>
            <a:pPr eaLnBrk="1" hangingPunct="1"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20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It relies on a </a:t>
            </a:r>
            <a:r>
              <a:rPr lang="en-US" altLang="zh-TW" sz="2000" b="1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dataset of human preferences and feedback</a:t>
            </a:r>
            <a:r>
              <a:rPr lang="en-US" altLang="zh-TW" sz="20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.</a:t>
            </a:r>
          </a:p>
          <a:p>
            <a:pPr eaLnBrk="1" hangingPunct="1"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20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But this introduces </a:t>
            </a:r>
            <a:r>
              <a:rPr lang="en-US" altLang="zh-TW" sz="2000" b="1">
                <a:solidFill>
                  <a:srgbClr val="FF0000"/>
                </a:solidFill>
                <a:latin typeface="Georgia" charset="0"/>
                <a:ea typeface="新細明體" charset="0"/>
                <a:cs typeface="新細明體" charset="0"/>
              </a:rPr>
              <a:t>privacy concerns</a:t>
            </a:r>
            <a:r>
              <a:rPr lang="en-US" altLang="zh-TW" sz="20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:</a:t>
            </a:r>
          </a:p>
          <a:p>
            <a:pPr lvl="1" eaLnBrk="1" hangingPunct="1"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16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Preference data is sensitive - it comes from real </a:t>
            </a:r>
            <a:r>
              <a:rPr lang="en-US" altLang="zh-TW" sz="1600" b="1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user prompts and feedback</a:t>
            </a:r>
            <a:r>
              <a:rPr lang="en-US" altLang="zh-TW" sz="16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.</a:t>
            </a:r>
          </a:p>
          <a:p>
            <a:pPr lvl="1" eaLnBrk="1" hangingPunct="1"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16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Prompts may disclose personal information related to health or identity.</a:t>
            </a:r>
          </a:p>
          <a:p>
            <a:pPr lvl="1" eaLnBrk="1" hangingPunct="1"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16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Human feedback can reveal private beliefs, preferences, or behavioral patterns.</a:t>
            </a:r>
          </a:p>
          <a:p>
            <a:pPr lvl="1" eaLnBrk="1" hangingPunct="1"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16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LLMs are known to memorize training data.</a:t>
            </a:r>
          </a:p>
          <a:p>
            <a:pPr lvl="1" eaLnBrk="1" hangingPunct="1"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16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What if model memorizes a user's prompt or preference and regurgitates it later?</a:t>
            </a:r>
          </a:p>
          <a:p>
            <a:pPr eaLnBrk="1" hangingPunct="1">
              <a:lnSpc>
                <a:spcPct val="150000"/>
              </a:lnSpc>
              <a:buFont typeface="Wingdings" charset="0"/>
              <a:buChar char="§"/>
              <a:defRPr/>
            </a:pPr>
            <a:endParaRPr lang="en-US" altLang="zh-TW" sz="2000">
              <a:solidFill>
                <a:srgbClr val="4D4D4D"/>
              </a:solidFill>
              <a:latin typeface="Georgia" charset="0"/>
              <a:ea typeface="新細明體" charset="0"/>
              <a:cs typeface="新細明體" charset="0"/>
            </a:endParaRPr>
          </a:p>
          <a:p>
            <a:pPr eaLnBrk="1" hangingPunct="1">
              <a:lnSpc>
                <a:spcPct val="150000"/>
              </a:lnSpc>
              <a:buFont typeface="Wingdings" charset="0"/>
              <a:buChar char="§"/>
              <a:defRPr/>
            </a:pPr>
            <a:endParaRPr lang="en-US" altLang="zh-TW" sz="2000">
              <a:solidFill>
                <a:srgbClr val="4D4D4D"/>
              </a:solidFill>
              <a:latin typeface="Georgia" charset="0"/>
              <a:ea typeface="新細明體" charset="0"/>
              <a:cs typeface="新細明體" charset="0"/>
            </a:endParaRPr>
          </a:p>
          <a:p>
            <a:pPr eaLnBrk="1" hangingPunct="1">
              <a:lnSpc>
                <a:spcPct val="150000"/>
              </a:lnSpc>
              <a:buFont typeface="Wingdings" charset="0"/>
              <a:buChar char="§"/>
              <a:defRPr/>
            </a:pPr>
            <a:endParaRPr lang="en-US" altLang="zh-TW" sz="2000">
              <a:solidFill>
                <a:srgbClr val="4D4D4D"/>
              </a:solidFill>
              <a:latin typeface="Georgia" charset="0"/>
              <a:ea typeface="新細明體" charset="0"/>
              <a:cs typeface="新細明體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20625C-6E54-47C3-479E-72F742C8DD49}"/>
              </a:ext>
            </a:extLst>
          </p:cNvPr>
          <p:cNvSpPr txBox="1"/>
          <p:nvPr/>
        </p:nvSpPr>
        <p:spPr>
          <a:xfrm>
            <a:off x="533400" y="5678396"/>
            <a:ext cx="807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rgbClr val="300448"/>
                </a:solidFill>
                <a:latin typeface="Georgia" panose="02040502050405020303" pitchFamily="18" charset="0"/>
                <a:cs typeface="Gisha" panose="020F0502020204030204" pitchFamily="34" charset="0"/>
              </a:rPr>
              <a:t>Can we perform preference learning while preserving user privacy?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ja-JP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Background</a:t>
            </a:r>
            <a:endParaRPr lang="en-US" altLang="zh-TW" sz="360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1">
                <a:extLst>
                  <a:ext uri="{FF2B5EF4-FFF2-40B4-BE49-F238E27FC236}">
                    <a16:creationId xmlns:a16="http://schemas.microsoft.com/office/drawing/2014/main" id="{E9FC90C3-9A28-5543-54BB-943C59B25B3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533400" y="1447800"/>
                <a:ext cx="8229600" cy="4419600"/>
              </a:xfrm>
            </p:spPr>
            <p:txBody>
              <a:bodyPr/>
              <a:lstStyle/>
              <a:p>
                <a:pPr eaLnBrk="1" hangingPunct="1">
                  <a:lnSpc>
                    <a:spcPct val="150000"/>
                  </a:lnSpc>
                  <a:buFont typeface="Wingdings" charset="0"/>
                  <a:buChar char="§"/>
                  <a:defRPr/>
                </a:pPr>
                <a:r>
                  <a:rPr lang="en-US" altLang="zh-TW" sz="2000">
                    <a:solidFill>
                      <a:srgbClr val="4D4D4D"/>
                    </a:solidFill>
                    <a:latin typeface="Georgia" charset="0"/>
                    <a:ea typeface="新細明體" charset="0"/>
                    <a:cs typeface="新細明體" charset="0"/>
                  </a:rPr>
                  <a:t>Preference Learning in LLMs:</a:t>
                </a:r>
              </a:p>
              <a:p>
                <a:pPr lvl="1" eaLnBrk="1" hangingPunct="1">
                  <a:lnSpc>
                    <a:spcPct val="150000"/>
                  </a:lnSpc>
                  <a:buFont typeface="Wingdings" charset="0"/>
                  <a:buChar char="§"/>
                  <a:defRPr/>
                </a:pPr>
                <a:r>
                  <a:rPr lang="en-US" altLang="zh-TW" sz="1600">
                    <a:solidFill>
                      <a:srgbClr val="4D4D4D"/>
                    </a:solidFill>
                    <a:latin typeface="Georgia" charset="0"/>
                    <a:ea typeface="新細明體" charset="0"/>
                    <a:cs typeface="新細明體" charset="0"/>
                  </a:rPr>
                  <a:t>Preference Dataset: Represented as </a:t>
                </a:r>
                <a14:m>
                  <m:oMath xmlns:m="http://schemas.openxmlformats.org/officeDocument/2006/math">
                    <m:r>
                      <a:rPr lang="en-US" altLang="zh-TW" sz="1600" b="0" i="1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  <a:ea typeface="新細明體" charset="0"/>
                        <a:cs typeface="新細明體" charset="0"/>
                      </a:rPr>
                      <m:t>(</m:t>
                    </m:r>
                    <m:r>
                      <a:rPr lang="en-US" altLang="zh-TW" sz="1600" b="0" i="1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  <a:ea typeface="新細明體" charset="0"/>
                        <a:cs typeface="新細明體" charset="0"/>
                      </a:rPr>
                      <m:t>𝑥</m:t>
                    </m:r>
                    <m:r>
                      <a:rPr lang="en-US" altLang="zh-TW" sz="1600" b="0" i="1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  <a:ea typeface="新細明體" charset="0"/>
                        <a:cs typeface="新細明體" charset="0"/>
                      </a:rPr>
                      <m:t>,</m:t>
                    </m:r>
                    <m:sSup>
                      <m:sSupPr>
                        <m:ctrlPr>
                          <a:rPr lang="en-US" altLang="zh-TW" sz="1600" b="0" i="1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  <a:ea typeface="新細明體" charset="0"/>
                            <a:cs typeface="新細明體" charset="0"/>
                          </a:rPr>
                        </m:ctrlPr>
                      </m:sSupPr>
                      <m:e>
                        <m:r>
                          <a:rPr lang="en-US" altLang="zh-TW" sz="1600" b="0" i="1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  <a:ea typeface="新細明體" charset="0"/>
                            <a:cs typeface="新細明體" charset="0"/>
                          </a:rPr>
                          <m:t>𝑎</m:t>
                        </m:r>
                      </m:e>
                      <m:sup>
                        <m:r>
                          <a:rPr lang="en-US" altLang="zh-TW" sz="1600" b="0" i="1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  <a:ea typeface="新細明體" charset="0"/>
                            <a:cs typeface="新細明體" charset="0"/>
                          </a:rPr>
                          <m:t>+</m:t>
                        </m:r>
                      </m:sup>
                    </m:sSup>
                    <m:r>
                      <a:rPr lang="en-US" altLang="zh-TW" sz="1600" b="0" i="1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  <a:ea typeface="新細明體" charset="0"/>
                        <a:cs typeface="新細明體" charset="0"/>
                      </a:rPr>
                      <m:t>,</m:t>
                    </m:r>
                    <m:sSup>
                      <m:sSupPr>
                        <m:ctrlPr>
                          <a:rPr lang="en-US" altLang="zh-TW" sz="1600" b="0" i="1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  <a:ea typeface="新細明體" charset="0"/>
                            <a:cs typeface="新細明體" charset="0"/>
                          </a:rPr>
                        </m:ctrlPr>
                      </m:sSupPr>
                      <m:e>
                        <m:r>
                          <a:rPr lang="en-US" altLang="zh-TW" sz="1600" b="0" i="1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  <a:ea typeface="新細明體" charset="0"/>
                            <a:cs typeface="新細明體" charset="0"/>
                          </a:rPr>
                          <m:t>𝑎</m:t>
                        </m:r>
                      </m:e>
                      <m:sup>
                        <m:r>
                          <a:rPr lang="en-US" altLang="zh-TW" sz="1600" b="0" i="1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  <a:ea typeface="新細明體" charset="0"/>
                            <a:cs typeface="新細明體" charset="0"/>
                          </a:rPr>
                          <m:t>−</m:t>
                        </m:r>
                      </m:sup>
                    </m:sSup>
                    <m:r>
                      <a:rPr lang="en-US" altLang="zh-TW" sz="1600" b="0" i="1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  <a:ea typeface="新細明體" charset="0"/>
                        <a:cs typeface="新細明體" charset="0"/>
                      </a:rPr>
                      <m:t>)</m:t>
                    </m:r>
                  </m:oMath>
                </a14:m>
                <a:r>
                  <a:rPr lang="en-US" altLang="zh-TW" sz="1600">
                    <a:solidFill>
                      <a:srgbClr val="4D4D4D"/>
                    </a:solidFill>
                    <a:latin typeface="Georgia" charset="0"/>
                    <a:ea typeface="新細明體" charset="0"/>
                    <a:cs typeface="新細明體" charset="0"/>
                  </a:rPr>
                  <a:t>.  𝑥: User prompt,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600" b="0" i="1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  <a:ea typeface="新細明體" charset="0"/>
                            <a:cs typeface="新細明體" charset="0"/>
                          </a:rPr>
                        </m:ctrlPr>
                      </m:sSupPr>
                      <m:e>
                        <m:r>
                          <a:rPr lang="en-US" altLang="zh-TW" sz="1600" b="0" i="1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  <a:ea typeface="新細明體" charset="0"/>
                            <a:cs typeface="新細明體" charset="0"/>
                          </a:rPr>
                          <m:t>𝑎</m:t>
                        </m:r>
                      </m:e>
                      <m:sup>
                        <m:r>
                          <a:rPr lang="en-US" altLang="zh-TW" sz="1600" b="0" i="1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  <a:ea typeface="新細明體" charset="0"/>
                            <a:cs typeface="新細明體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TW" sz="1600">
                    <a:solidFill>
                      <a:srgbClr val="4D4D4D"/>
                    </a:solidFill>
                    <a:latin typeface="Georgia" charset="0"/>
                    <a:ea typeface="新細明體" charset="0"/>
                    <a:cs typeface="新細明體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600" b="0" i="1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  <a:ea typeface="新細明體" charset="0"/>
                            <a:cs typeface="新細明體" charset="0"/>
                          </a:rPr>
                        </m:ctrlPr>
                      </m:sSupPr>
                      <m:e>
                        <m:r>
                          <a:rPr lang="en-US" altLang="zh-TW" sz="1600" b="0" i="1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  <a:ea typeface="新細明體" charset="0"/>
                            <a:cs typeface="新細明體" charset="0"/>
                          </a:rPr>
                          <m:t>𝑎</m:t>
                        </m:r>
                      </m:e>
                      <m:sup>
                        <m:r>
                          <a:rPr lang="en-US" altLang="zh-TW" sz="1600" b="0" i="1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  <a:ea typeface="新細明體" charset="0"/>
                            <a:cs typeface="新細明體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altLang="zh-TW" sz="1600">
                    <a:solidFill>
                      <a:srgbClr val="4D4D4D"/>
                    </a:solidFill>
                    <a:latin typeface="Georgia" charset="0"/>
                    <a:ea typeface="新細明體" charset="0"/>
                    <a:cs typeface="新細明體" charset="0"/>
                  </a:rPr>
                  <a:t>: Chosen and rejected completions from LLMs, labeled by human annotators.</a:t>
                </a:r>
              </a:p>
              <a:p>
                <a:pPr lvl="1" eaLnBrk="1" hangingPunct="1">
                  <a:lnSpc>
                    <a:spcPct val="150000"/>
                  </a:lnSpc>
                  <a:buFont typeface="Wingdings" charset="0"/>
                  <a:buChar char="§"/>
                  <a:defRPr/>
                </a:pPr>
                <a:r>
                  <a:rPr lang="en-US" altLang="zh-TW" sz="1600">
                    <a:solidFill>
                      <a:srgbClr val="4D4D4D"/>
                    </a:solidFill>
                    <a:latin typeface="Georgia" charset="0"/>
                    <a:ea typeface="新細明體" charset="0"/>
                    <a:cs typeface="新細明體" charset="0"/>
                  </a:rPr>
                  <a:t>LLMs are fine-tuned on preference data using Reinforcement Learning or Supervised Learning methods (e.g., PPO, DPO).</a:t>
                </a:r>
              </a:p>
              <a:p>
                <a:pPr eaLnBrk="1" hangingPunct="1">
                  <a:lnSpc>
                    <a:spcPct val="150000"/>
                  </a:lnSpc>
                  <a:buFont typeface="Wingdings" charset="0"/>
                  <a:buChar char="§"/>
                  <a:defRPr/>
                </a:pPr>
                <a:r>
                  <a:rPr lang="en-US" altLang="zh-TW" sz="2000">
                    <a:solidFill>
                      <a:srgbClr val="4D4D4D"/>
                    </a:solidFill>
                    <a:latin typeface="Georgia" charset="0"/>
                    <a:ea typeface="新細明體" charset="0"/>
                    <a:cs typeface="新細明體" charset="0"/>
                  </a:rPr>
                  <a:t>Differential Privacy (DP): A rigorous framework that provides formal privacy guarantees when training on sensitive data.</a:t>
                </a:r>
              </a:p>
            </p:txBody>
          </p:sp>
        </mc:Choice>
        <mc:Fallback xmlns="">
          <p:sp>
            <p:nvSpPr>
              <p:cNvPr id="3" name="Content Placeholder 1">
                <a:extLst>
                  <a:ext uri="{FF2B5EF4-FFF2-40B4-BE49-F238E27FC236}">
                    <a16:creationId xmlns:a16="http://schemas.microsoft.com/office/drawing/2014/main" id="{E9FC90C3-9A28-5543-54BB-943C59B25B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533400" y="1447800"/>
                <a:ext cx="8229600" cy="4419600"/>
              </a:xfrm>
              <a:blipFill>
                <a:blip r:embed="rId3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615118A-7784-65B8-D49A-4B909EA4B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23" y="4610509"/>
            <a:ext cx="8804753" cy="8623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altLang="zh-TW" sz="36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Related Work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4</a:t>
            </a:fld>
            <a:endParaRPr lang="en-US" altLang="zh-TW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3DECCF24-4433-3056-76F3-927B51C6072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33400" y="1447800"/>
            <a:ext cx="8229600" cy="4539641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18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Wu et al. (2024) introduce a DP framework for aligning LLMs with RL by </a:t>
            </a:r>
            <a:r>
              <a:rPr lang="en-US" altLang="zh-TW" sz="1800" u="sng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adapting the PPO algorithm to DP setting</a:t>
            </a:r>
            <a:r>
              <a:rPr lang="en-US" altLang="zh-TW" sz="18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.</a:t>
            </a:r>
          </a:p>
          <a:p>
            <a:pPr lvl="1" eaLnBrk="1" hangingPunct="1"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16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Limitation: Focuses only on PPO, while preference learning evolves rapidly with new methods.</a:t>
            </a:r>
          </a:p>
          <a:p>
            <a:pPr eaLnBrk="1" hangingPunct="1"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18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Yu et al. (2024) propose to generate </a:t>
            </a:r>
            <a:r>
              <a:rPr lang="en-US" altLang="zh-TW" sz="1800" u="sng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DP synthetic instructions</a:t>
            </a:r>
            <a:r>
              <a:rPr lang="en-US" altLang="zh-TW" sz="18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 to replace real user prompts for SFT and data annotation.</a:t>
            </a:r>
          </a:p>
          <a:p>
            <a:pPr lvl="1" eaLnBrk="1" hangingPunct="1"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16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Limitation: Only privatizes prompts, but human preferences can also contain sensitive information.</a:t>
            </a:r>
          </a:p>
          <a:p>
            <a:pPr eaLnBrk="1" hangingPunct="1"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18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Chowdhury et al. (2024) study reward model learning from human preference data under </a:t>
            </a:r>
            <a:r>
              <a:rPr lang="en-US" altLang="zh-TW" sz="1800" u="sng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label-DP</a:t>
            </a:r>
            <a:r>
              <a:rPr lang="en-US" altLang="zh-TW" sz="18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, i.e., protecting which response is preferred.</a:t>
            </a:r>
          </a:p>
          <a:p>
            <a:pPr lvl="1" eaLnBrk="1" hangingPunct="1"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16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Limitation: Only protects the preference label; does not protect the prompt or responses themselves.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ja-JP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Claim / Target Task</a:t>
            </a:r>
            <a:endParaRPr lang="en-US" altLang="zh-TW" sz="360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5</a:t>
            </a:fld>
            <a:endParaRPr lang="en-US" altLang="zh-TW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1">
                <a:extLst>
                  <a:ext uri="{FF2B5EF4-FFF2-40B4-BE49-F238E27FC236}">
                    <a16:creationId xmlns:a16="http://schemas.microsoft.com/office/drawing/2014/main" id="{8A0D8BBA-4DDD-C0B9-3911-D64A0445396F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533400" y="1447800"/>
                <a:ext cx="8229600" cy="4419600"/>
              </a:xfrm>
            </p:spPr>
            <p:txBody>
              <a:bodyPr/>
              <a:lstStyle/>
              <a:p>
                <a:pPr eaLnBrk="1" hangingPunct="1">
                  <a:lnSpc>
                    <a:spcPct val="150000"/>
                  </a:lnSpc>
                  <a:buFont typeface="Wingdings" charset="0"/>
                  <a:buChar char="§"/>
                  <a:defRPr/>
                </a:pPr>
                <a:r>
                  <a:rPr lang="en-US" altLang="zh-TW" sz="2000">
                    <a:solidFill>
                      <a:srgbClr val="4D4D4D"/>
                    </a:solidFill>
                    <a:latin typeface="Georgia" charset="0"/>
                    <a:ea typeface="新細明體" charset="0"/>
                    <a:cs typeface="新細明體" charset="0"/>
                  </a:rPr>
                  <a:t>Can we generate a synthetic preference dataset under Differential Privacy for preference learning?</a:t>
                </a:r>
              </a:p>
              <a:p>
                <a:pPr lvl="1" eaLnBrk="1" hangingPunct="1">
                  <a:lnSpc>
                    <a:spcPct val="150000"/>
                  </a:lnSpc>
                  <a:buFont typeface="Wingdings" charset="0"/>
                  <a:buChar char="§"/>
                  <a:defRPr/>
                </a:pPr>
                <a:r>
                  <a:rPr lang="en-US" altLang="zh-TW" sz="1600">
                    <a:solidFill>
                      <a:srgbClr val="4D4D4D"/>
                    </a:solidFill>
                    <a:latin typeface="Georgia" charset="0"/>
                    <a:ea typeface="新細明體" charset="0"/>
                    <a:cs typeface="新細明體" charset="0"/>
                  </a:rPr>
                  <a:t>Input: Real preference dataset. Output: Synthetic dataset satisfying </a:t>
                </a:r>
                <a14:m>
                  <m:oMath xmlns:m="http://schemas.openxmlformats.org/officeDocument/2006/math">
                    <m:r>
                      <a:rPr lang="en-US" altLang="zh-TW" sz="1600" b="0" i="1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  <a:ea typeface="新細明體" charset="0"/>
                        <a:cs typeface="新細明體" charset="0"/>
                      </a:rPr>
                      <m:t>(</m:t>
                    </m:r>
                    <m:r>
                      <a:rPr lang="en-US" altLang="zh-TW" sz="1600" b="0" i="1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新細明體" charset="0"/>
                      </a:rPr>
                      <m:t>𝜀</m:t>
                    </m:r>
                    <m:r>
                      <a:rPr lang="en-US" altLang="zh-TW" sz="1600" b="0" i="1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新細明體" charset="0"/>
                      </a:rPr>
                      <m:t>,</m:t>
                    </m:r>
                    <m:r>
                      <a:rPr lang="en-US" altLang="zh-TW" sz="1600" b="0" i="1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新細明體" charset="0"/>
                      </a:rPr>
                      <m:t>𝛿</m:t>
                    </m:r>
                    <m:r>
                      <a:rPr lang="en-US" altLang="zh-TW" sz="1600" b="0" i="1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  <a:ea typeface="新細明體" charset="0"/>
                        <a:cs typeface="新細明體" charset="0"/>
                      </a:rPr>
                      <m:t>)</m:t>
                    </m:r>
                  </m:oMath>
                </a14:m>
                <a:r>
                  <a:rPr lang="en-US" altLang="zh-TW" sz="1600">
                    <a:solidFill>
                      <a:srgbClr val="4D4D4D"/>
                    </a:solidFill>
                    <a:latin typeface="Georgia" charset="0"/>
                    <a:ea typeface="新細明體" charset="0"/>
                    <a:cs typeface="新細明體" charset="0"/>
                  </a:rPr>
                  <a:t>-DP. </a:t>
                </a:r>
              </a:p>
              <a:p>
                <a:pPr eaLnBrk="1" hangingPunct="1">
                  <a:lnSpc>
                    <a:spcPct val="150000"/>
                  </a:lnSpc>
                  <a:buFont typeface="Wingdings" charset="0"/>
                  <a:buChar char="§"/>
                  <a:defRPr/>
                </a:pPr>
                <a:r>
                  <a:rPr lang="en-US" altLang="zh-TW" sz="2000">
                    <a:solidFill>
                      <a:srgbClr val="4D4D4D"/>
                    </a:solidFill>
                    <a:latin typeface="Georgia" charset="0"/>
                    <a:ea typeface="新細明體" charset="0"/>
                    <a:cs typeface="新細明體" charset="0"/>
                  </a:rPr>
                  <a:t>Advantages:</a:t>
                </a:r>
              </a:p>
              <a:p>
                <a:pPr lvl="1" eaLnBrk="1" hangingPunct="1">
                  <a:lnSpc>
                    <a:spcPct val="150000"/>
                  </a:lnSpc>
                  <a:buFont typeface="Wingdings" charset="0"/>
                  <a:buChar char="§"/>
                  <a:defRPr/>
                </a:pPr>
                <a:r>
                  <a:rPr lang="en-US" altLang="zh-TW" sz="1600">
                    <a:solidFill>
                      <a:srgbClr val="4D4D4D"/>
                    </a:solidFill>
                    <a:latin typeface="Georgia" charset="0"/>
                    <a:ea typeface="新細明體" charset="0"/>
                    <a:cs typeface="新細明體" charset="0"/>
                  </a:rPr>
                  <a:t>Enables privacy-preserving preference learning.</a:t>
                </a:r>
              </a:p>
              <a:p>
                <a:pPr lvl="1" eaLnBrk="1" hangingPunct="1">
                  <a:lnSpc>
                    <a:spcPct val="150000"/>
                  </a:lnSpc>
                  <a:buFont typeface="Wingdings" charset="0"/>
                  <a:buChar char="§"/>
                  <a:defRPr/>
                </a:pPr>
                <a:r>
                  <a:rPr lang="en-US" altLang="zh-TW" sz="1600">
                    <a:solidFill>
                      <a:srgbClr val="4D4D4D"/>
                    </a:solidFill>
                    <a:latin typeface="Georgia" charset="0"/>
                    <a:ea typeface="新細明體" charset="0"/>
                    <a:cs typeface="新細明體" charset="0"/>
                  </a:rPr>
                  <a:t>Reusable synthetic dataset (no extra privacy cost per use).</a:t>
                </a:r>
              </a:p>
              <a:p>
                <a:pPr lvl="1" eaLnBrk="1" hangingPunct="1">
                  <a:lnSpc>
                    <a:spcPct val="150000"/>
                  </a:lnSpc>
                  <a:buFont typeface="Wingdings" charset="0"/>
                  <a:buChar char="§"/>
                  <a:defRPr/>
                </a:pPr>
                <a:endParaRPr lang="en-US" altLang="zh-TW" sz="1600">
                  <a:solidFill>
                    <a:srgbClr val="4D4D4D"/>
                  </a:solidFill>
                  <a:latin typeface="Georgia" charset="0"/>
                  <a:ea typeface="新細明體" charset="0"/>
                  <a:cs typeface="新細明體" charset="0"/>
                </a:endParaRPr>
              </a:p>
            </p:txBody>
          </p:sp>
        </mc:Choice>
        <mc:Fallback xmlns="">
          <p:sp>
            <p:nvSpPr>
              <p:cNvPr id="4" name="Content Placeholder 1">
                <a:extLst>
                  <a:ext uri="{FF2B5EF4-FFF2-40B4-BE49-F238E27FC236}">
                    <a16:creationId xmlns:a16="http://schemas.microsoft.com/office/drawing/2014/main" id="{8A0D8BBA-4DDD-C0B9-3911-D64A044539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533400" y="1447800"/>
                <a:ext cx="8229600" cy="4419600"/>
              </a:xfrm>
              <a:blipFill>
                <a:blip r:embed="rId3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5"/>
          <p:cNvSpPr>
            <a:spLocks noChangeArrowheads="1"/>
          </p:cNvSpPr>
          <p:nvPr/>
        </p:nvSpPr>
        <p:spPr bwMode="auto">
          <a:xfrm>
            <a:off x="373063" y="152400"/>
            <a:ext cx="87709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ja-JP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An Intuitive Figure Showing WHY Claim</a:t>
            </a:r>
            <a:endParaRPr lang="en-US" altLang="zh-TW" sz="360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6</a:t>
            </a:fld>
            <a:endParaRPr lang="en-US" altLang="zh-TW"/>
          </a:p>
        </p:txBody>
      </p:sp>
      <p:pic>
        <p:nvPicPr>
          <p:cNvPr id="4" name="Picture 3" descr="A diagram of a scientific experiment&#10;&#10;Description automatically generated">
            <a:extLst>
              <a:ext uri="{FF2B5EF4-FFF2-40B4-BE49-F238E27FC236}">
                <a16:creationId xmlns:a16="http://schemas.microsoft.com/office/drawing/2014/main" id="{8FA819C7-70F1-D257-B1A9-D3D5294E48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9695"/>
            <a:ext cx="9144000" cy="266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448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ja-JP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Proposed Solution</a:t>
            </a:r>
            <a:endParaRPr lang="en-US" altLang="zh-TW" sz="360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p:sp>
        <p:nvSpPr>
          <p:cNvPr id="2" name="AutoShape 2" descr="Inline image 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10" descr="https://www.uni-marburg.de/sprachenzentrum/sprachen-tandem/icons/classic-timer-ico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A white sheet with black text&#10;&#10;Description automatically generated">
            <a:extLst>
              <a:ext uri="{FF2B5EF4-FFF2-40B4-BE49-F238E27FC236}">
                <a16:creationId xmlns:a16="http://schemas.microsoft.com/office/drawing/2014/main" id="{597FAB42-4AD8-CF82-2508-635CD3599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788" y="1689244"/>
            <a:ext cx="6342423" cy="4228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B6A58E-4544-43CE-2F19-721D7F1FE0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211" y="5943257"/>
            <a:ext cx="52070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773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Implementation</a:t>
            </a:r>
          </a:p>
        </p:txBody>
      </p:sp>
      <p:sp>
        <p:nvSpPr>
          <p:cNvPr id="3075" name="Content Placeholder 1"/>
          <p:cNvSpPr>
            <a:spLocks noGrp="1"/>
          </p:cNvSpPr>
          <p:nvPr>
            <p:ph/>
          </p:nvPr>
        </p:nvSpPr>
        <p:spPr>
          <a:xfrm>
            <a:off x="533400" y="1447800"/>
            <a:ext cx="8229600" cy="5280733"/>
          </a:xfrm>
        </p:spPr>
        <p:txBody>
          <a:bodyPr/>
          <a:lstStyle/>
          <a:p>
            <a:pPr eaLnBrk="1" hangingPunct="1">
              <a:buFont typeface="Wingdings" charset="0"/>
              <a:buChar char="•"/>
              <a:defRPr/>
            </a:pP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Setup for Algorithm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We use BAAI/bge-large-en-v1.5 (Xiao et al., 2023) as the embedding model ϕ to encode prompt-response pairs. </a:t>
            </a:r>
            <a:endParaRPr lang="en-US" sz="1800">
              <a:solidFill>
                <a:srgbClr val="000000"/>
              </a:solidFill>
              <a:ea typeface="+mn-lt"/>
              <a:cs typeface="+mn-lt"/>
            </a:endParaRPr>
          </a:p>
          <a:p>
            <a:pPr lvl="1">
              <a:buFont typeface="Arial" charset="0"/>
              <a:buChar char="•"/>
              <a:defRPr/>
            </a:pP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To generate candidate responses for public prompts, we use the instruction-finetuned LLaMA-7B-chat model (</a:t>
            </a:r>
            <a:r>
              <a:rPr lang="en-US" sz="1800" err="1">
                <a:solidFill>
                  <a:srgbClr val="4D4D4D"/>
                </a:solidFill>
                <a:ea typeface="+mn-lt"/>
                <a:cs typeface="+mn-lt"/>
              </a:rPr>
              <a:t>Touvron</a:t>
            </a: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 et al., 2023) with a temperature of 0.9. </a:t>
            </a:r>
            <a:endParaRPr lang="en-US" sz="1800">
              <a:solidFill>
                <a:srgbClr val="000000"/>
              </a:solidFill>
              <a:ea typeface="+mn-lt"/>
              <a:cs typeface="+mn-lt"/>
            </a:endParaRPr>
          </a:p>
          <a:p>
            <a:pPr lvl="1">
              <a:buFont typeface="Arial" charset="0"/>
              <a:buChar char="•"/>
              <a:defRPr/>
            </a:pP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We consider two overall privacy budgets ε = 4, 8. We set δ = 1/|</a:t>
            </a:r>
            <a:r>
              <a:rPr lang="en-US" sz="1800" err="1">
                <a:solidFill>
                  <a:srgbClr val="4D4D4D"/>
                </a:solidFill>
                <a:ea typeface="+mn-lt"/>
                <a:cs typeface="+mn-lt"/>
              </a:rPr>
              <a:t>Dpriv</a:t>
            </a: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|.</a:t>
            </a:r>
          </a:p>
          <a:p>
            <a:pPr>
              <a:buFont typeface="Wingdings" charset="0"/>
              <a:buChar char="•"/>
              <a:defRPr/>
            </a:pP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Evaluation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For downstream preference learning, we fine-tune the Pythia-2.8B model (Biderman et al., 2023). 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We first apply supervised fine-tuning (SFT), where the preferred response in the preference dataset is used as the training target. 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We then apply the DPO algorithm to further fine-tune the SFT model using preference pairs. 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We measure the win rate of the model-generated responses against the chosen responses in the test set using the GPT-4o model.</a:t>
            </a:r>
            <a:endParaRPr lang="en-US" sz="1800">
              <a:cs typeface="Arial"/>
            </a:endParaRPr>
          </a:p>
          <a:p>
            <a:pPr>
              <a:buFont typeface="Wingdings" charset="0"/>
              <a:buChar char="•"/>
              <a:defRPr/>
            </a:pPr>
            <a:endParaRPr lang="en-US" sz="1600">
              <a:solidFill>
                <a:srgbClr val="4D4D4D"/>
              </a:solidFill>
              <a:ea typeface="ＭＳ Ｐゴシック"/>
              <a:cs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8</a:t>
            </a:fld>
            <a:endParaRPr lang="en-US" altLang="zh-TW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D2459-7A29-40C4-4730-232E74AE4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>
            <a:extLst>
              <a:ext uri="{FF2B5EF4-FFF2-40B4-BE49-F238E27FC236}">
                <a16:creationId xmlns:a16="http://schemas.microsoft.com/office/drawing/2014/main" id="{D7CCEB73-E3F1-D944-7064-0BEE51B9D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Implementation</a:t>
            </a:r>
          </a:p>
        </p:txBody>
      </p:sp>
      <p:sp>
        <p:nvSpPr>
          <p:cNvPr id="3075" name="Content Placeholder 1">
            <a:extLst>
              <a:ext uri="{FF2B5EF4-FFF2-40B4-BE49-F238E27FC236}">
                <a16:creationId xmlns:a16="http://schemas.microsoft.com/office/drawing/2014/main" id="{D1DA0553-6688-3F36-0B67-3EF49324C0F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33400" y="1447800"/>
            <a:ext cx="8229600" cy="5280733"/>
          </a:xfrm>
        </p:spPr>
        <p:txBody>
          <a:bodyPr/>
          <a:lstStyle/>
          <a:p>
            <a:pPr eaLnBrk="1" hangingPunct="1">
              <a:buFont typeface="Wingdings" charset="0"/>
              <a:buChar char="•"/>
              <a:defRPr/>
            </a:pPr>
            <a:endParaRPr lang="en-US" sz="2000">
              <a:solidFill>
                <a:srgbClr val="4D4D4D"/>
              </a:solidFill>
              <a:cs typeface="Arial"/>
            </a:endParaRPr>
          </a:p>
          <a:p>
            <a:pPr>
              <a:buFont typeface="Wingdings" charset="0"/>
              <a:buChar char="•"/>
              <a:defRPr/>
            </a:pPr>
            <a:r>
              <a:rPr lang="en-US" sz="2000">
                <a:solidFill>
                  <a:srgbClr val="4D4D4D"/>
                </a:solidFill>
                <a:ea typeface="+mn-lt"/>
                <a:cs typeface="+mn-lt"/>
              </a:rPr>
              <a:t>Baseline: We compare our method with two non-private baselines</a:t>
            </a:r>
            <a:endParaRPr lang="en-US" sz="2000">
              <a:solidFill>
                <a:srgbClr val="4D4D4D"/>
              </a:solidFill>
              <a:ea typeface="ＭＳ Ｐゴシック"/>
              <a:cs typeface="Arial"/>
            </a:endParaRPr>
          </a:p>
          <a:p>
            <a:pPr lvl="1">
              <a:buFont typeface="Arial" charset="0"/>
              <a:buChar char="•"/>
              <a:defRPr/>
            </a:pPr>
            <a:r>
              <a:rPr lang="en-US" sz="2000">
                <a:solidFill>
                  <a:srgbClr val="4D4D4D"/>
                </a:solidFill>
                <a:ea typeface="+mn-lt"/>
                <a:cs typeface="+mn-lt"/>
              </a:rPr>
              <a:t>fine-tuning directly on the private preference data using SFT and DPO, denoted as ε = ∞ (non syn)</a:t>
            </a:r>
            <a:endParaRPr lang="en-US" sz="2000">
              <a:cs typeface="Arial"/>
            </a:endParaRPr>
          </a:p>
          <a:p>
            <a:pPr lvl="1">
              <a:buFont typeface="Arial" charset="0"/>
              <a:buChar char="•"/>
              <a:defRPr/>
            </a:pPr>
            <a:r>
              <a:rPr lang="en-US" sz="2000">
                <a:solidFill>
                  <a:srgbClr val="4D4D4D"/>
                </a:solidFill>
                <a:ea typeface="+mn-lt"/>
                <a:cs typeface="+mn-lt"/>
              </a:rPr>
              <a:t>generating synthetic preference data using </a:t>
            </a:r>
            <a:r>
              <a:rPr lang="en-US" sz="2000" err="1">
                <a:solidFill>
                  <a:srgbClr val="4D4D4D"/>
                </a:solidFill>
                <a:ea typeface="+mn-lt"/>
                <a:cs typeface="+mn-lt"/>
              </a:rPr>
              <a:t>DPPrefSyn</a:t>
            </a:r>
            <a:r>
              <a:rPr lang="en-US" sz="2000">
                <a:solidFill>
                  <a:srgbClr val="4D4D4D"/>
                </a:solidFill>
                <a:ea typeface="+mn-lt"/>
                <a:cs typeface="+mn-lt"/>
              </a:rPr>
              <a:t> without adding noise, followed by SFT and DPO on the synthetic data, denoted as ε = ∞ (syn)</a:t>
            </a:r>
            <a:endParaRPr lang="en-US" sz="2000">
              <a:cs typeface="Arial"/>
            </a:endParaRPr>
          </a:p>
          <a:p>
            <a:pPr lvl="1">
              <a:buFont typeface="Arial" charset="0"/>
              <a:buChar char="•"/>
              <a:defRPr/>
            </a:pPr>
            <a:endParaRPr lang="en-US" sz="2000">
              <a:solidFill>
                <a:srgbClr val="4D4D4D"/>
              </a:solidFill>
              <a:ea typeface="ＭＳ Ｐゴシック"/>
              <a:cs typeface="Arial"/>
            </a:endParaRPr>
          </a:p>
          <a:p>
            <a:pPr lvl="1">
              <a:buFont typeface="Arial" charset="0"/>
              <a:buChar char="•"/>
              <a:defRPr/>
            </a:pPr>
            <a:endParaRPr lang="en-US" sz="1600">
              <a:solidFill>
                <a:srgbClr val="4D4D4D"/>
              </a:solidFill>
              <a:ea typeface="ＭＳ Ｐゴシック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D592CE-E02D-FD7A-35A7-0DE0E9A44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88064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Data Summary</a:t>
            </a:r>
          </a:p>
        </p:txBody>
      </p:sp>
      <p:sp>
        <p:nvSpPr>
          <p:cNvPr id="3075" name="Content Placeholder 1"/>
          <p:cNvSpPr>
            <a:spLocks noGrp="1"/>
          </p:cNvSpPr>
          <p:nvPr>
            <p:ph/>
          </p:nvPr>
        </p:nvSpPr>
        <p:spPr>
          <a:xfrm>
            <a:off x="533400" y="1447800"/>
            <a:ext cx="8229600" cy="5183079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Two types of tasks: </a:t>
            </a:r>
            <a:r>
              <a:rPr lang="en-US" sz="1800" b="1">
                <a:solidFill>
                  <a:srgbClr val="4D4D4D"/>
                </a:solidFill>
                <a:ea typeface="+mn-lt"/>
                <a:cs typeface="+mn-lt"/>
              </a:rPr>
              <a:t>question answering</a:t>
            </a: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 and </a:t>
            </a:r>
            <a:r>
              <a:rPr lang="en-US" sz="1800" b="1">
                <a:solidFill>
                  <a:srgbClr val="4D4D4D"/>
                </a:solidFill>
                <a:ea typeface="+mn-lt"/>
                <a:cs typeface="+mn-lt"/>
              </a:rPr>
              <a:t>summarization</a:t>
            </a: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. </a:t>
            </a:r>
            <a:endParaRPr lang="en-US" sz="1800">
              <a:cs typeface="Arial"/>
            </a:endParaRPr>
          </a:p>
          <a:p>
            <a:pPr>
              <a:buFont typeface="Arial" charset="0"/>
              <a:buChar char="•"/>
              <a:defRPr/>
            </a:pP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Question answering: </a:t>
            </a:r>
            <a:endParaRPr lang="en-US" sz="1800">
              <a:solidFill>
                <a:srgbClr val="000000"/>
              </a:solidFill>
              <a:cs typeface="+mn-lt"/>
            </a:endParaRPr>
          </a:p>
          <a:p>
            <a:pPr lvl="1">
              <a:buFont typeface="Arial"/>
              <a:buChar char="•"/>
              <a:defRPr/>
            </a:pPr>
            <a:r>
              <a:rPr lang="en-US" sz="1800" err="1">
                <a:solidFill>
                  <a:srgbClr val="4D4D4D"/>
                </a:solidFill>
                <a:ea typeface="+mn-lt"/>
                <a:cs typeface="+mn-lt"/>
              </a:rPr>
              <a:t>OpenAssistant</a:t>
            </a: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 dataset (Köpf et al., 2023), which contains assistant-style conversations</a:t>
            </a:r>
          </a:p>
          <a:p>
            <a:pPr lvl="1">
              <a:buFont typeface="Arial"/>
              <a:buChar char="•"/>
              <a:defRPr/>
            </a:pP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Anthropic-HH dataset (Bai et al.,2022), which provides human preference comparisons focused on helpfulness and harmlessness</a:t>
            </a:r>
            <a:endParaRPr lang="en-US" sz="1800">
              <a:cs typeface="Arial"/>
            </a:endParaRPr>
          </a:p>
          <a:p>
            <a:pPr>
              <a:buFont typeface="Arial" charset="0"/>
              <a:buChar char="•"/>
              <a:defRPr/>
            </a:pP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Summarization:</a:t>
            </a:r>
          </a:p>
          <a:p>
            <a:pPr lvl="1">
              <a:buFont typeface="Arial"/>
              <a:buChar char="•"/>
              <a:defRPr/>
            </a:pP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TL;DR dataset (</a:t>
            </a:r>
            <a:r>
              <a:rPr lang="en-US" sz="1800" err="1">
                <a:solidFill>
                  <a:srgbClr val="4D4D4D"/>
                </a:solidFill>
                <a:ea typeface="+mn-lt"/>
                <a:cs typeface="+mn-lt"/>
              </a:rPr>
              <a:t>Stiennon</a:t>
            </a: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 et al., 2020), which contains annotations of human preference on pairs of summaries </a:t>
            </a:r>
            <a:endParaRPr lang="en-US" sz="1800">
              <a:solidFill>
                <a:srgbClr val="4D4D4D"/>
              </a:solidFill>
              <a:cs typeface="Arial"/>
            </a:endParaRPr>
          </a:p>
          <a:p>
            <a:pPr>
              <a:buFont typeface="Arial"/>
              <a:buChar char="•"/>
              <a:defRPr/>
            </a:pP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To simulate public data, we use prompts from </a:t>
            </a:r>
          </a:p>
          <a:p>
            <a:pPr lvl="1">
              <a:buFont typeface="Arial"/>
              <a:buChar char="•"/>
              <a:defRPr/>
            </a:pP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Alpaca (</a:t>
            </a:r>
            <a:r>
              <a:rPr lang="en-US" sz="1800" err="1">
                <a:solidFill>
                  <a:srgbClr val="4D4D4D"/>
                </a:solidFill>
                <a:ea typeface="+mn-lt"/>
                <a:cs typeface="+mn-lt"/>
              </a:rPr>
              <a:t>Taori</a:t>
            </a: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 et al., 2023) for the </a:t>
            </a:r>
            <a:r>
              <a:rPr lang="en-US" sz="1800" err="1">
                <a:solidFill>
                  <a:srgbClr val="4D4D4D"/>
                </a:solidFill>
                <a:ea typeface="+mn-lt"/>
                <a:cs typeface="+mn-lt"/>
              </a:rPr>
              <a:t>OpenAssistant</a:t>
            </a: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 QA task, </a:t>
            </a:r>
            <a:endParaRPr lang="en-US" sz="1800">
              <a:solidFill>
                <a:srgbClr val="000000"/>
              </a:solidFill>
              <a:cs typeface="+mn-lt"/>
            </a:endParaRPr>
          </a:p>
          <a:p>
            <a:pPr lvl="1">
              <a:buFont typeface="Arial"/>
              <a:buChar char="•"/>
              <a:defRPr/>
            </a:pPr>
            <a:r>
              <a:rPr lang="en-US" sz="1800" err="1">
                <a:solidFill>
                  <a:srgbClr val="4D4D4D"/>
                </a:solidFill>
                <a:ea typeface="+mn-lt"/>
                <a:cs typeface="+mn-lt"/>
              </a:rPr>
              <a:t>SafeRLHF</a:t>
            </a: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 (Ji et al., 2024)  for the Anthropic-HH QA task, </a:t>
            </a:r>
            <a:endParaRPr lang="en-US" sz="1800">
              <a:solidFill>
                <a:srgbClr val="000000"/>
              </a:solidFill>
              <a:cs typeface="+mn-lt"/>
            </a:endParaRPr>
          </a:p>
          <a:p>
            <a:pPr lvl="1">
              <a:buFont typeface="Arial"/>
              <a:buChar char="•"/>
              <a:defRPr/>
            </a:pPr>
            <a:r>
              <a:rPr lang="en-US" sz="1800" err="1">
                <a:solidFill>
                  <a:srgbClr val="4D4D4D"/>
                </a:solidFill>
                <a:ea typeface="+mn-lt"/>
                <a:cs typeface="+mn-lt"/>
              </a:rPr>
              <a:t>Xsum</a:t>
            </a:r>
            <a:r>
              <a:rPr lang="en-US" sz="1800">
                <a:solidFill>
                  <a:srgbClr val="4D4D4D"/>
                </a:solidFill>
                <a:ea typeface="+mn-lt"/>
                <a:cs typeface="+mn-lt"/>
              </a:rPr>
              <a:t> (Narayan et al., 2018) for the TL;DR summarization task. </a:t>
            </a:r>
            <a:endParaRPr lang="en-US" sz="1800">
              <a:cs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61079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Experimental Results</a:t>
            </a:r>
          </a:p>
        </p:txBody>
      </p:sp>
      <p:pic>
        <p:nvPicPr>
          <p:cNvPr id="3" name="Content Placeholder 2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A14073FE-7CB5-7772-0618-04D6981635F1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605547" y="1620915"/>
            <a:ext cx="8006310" cy="4739252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9885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Experimental Analysis</a:t>
            </a:r>
          </a:p>
        </p:txBody>
      </p:sp>
      <p:sp>
        <p:nvSpPr>
          <p:cNvPr id="3075" name="Content Placeholder 1"/>
          <p:cNvSpPr>
            <a:spLocks noGrp="1"/>
          </p:cNvSpPr>
          <p:nvPr>
            <p:ph/>
          </p:nvPr>
        </p:nvSpPr>
        <p:spPr>
          <a:xfrm>
            <a:off x="533400" y="1447800"/>
            <a:ext cx="8229600" cy="4419600"/>
          </a:xfrm>
        </p:spPr>
        <p:txBody>
          <a:bodyPr/>
          <a:lstStyle/>
          <a:p>
            <a:pPr eaLnBrk="1" hangingPunct="1">
              <a:buFont typeface="Wingdings" charset="0"/>
              <a:buChar char="•"/>
              <a:defRPr/>
            </a:pPr>
            <a:r>
              <a:rPr lang="en-US" sz="2000">
                <a:solidFill>
                  <a:srgbClr val="4D4D4D"/>
                </a:solidFill>
                <a:ea typeface="+mn-lt"/>
                <a:cs typeface="+mn-lt"/>
              </a:rPr>
              <a:t>In general, our results show that our approach consistently outperforms the strong baseline of direct training on private data (ε = ∞, non syn) across all tasks under ε = 4, 8. Notably, even with only 5K public prompts, it exceeds the ε = ∞ (non syn) baseline on both the </a:t>
            </a:r>
            <a:r>
              <a:rPr lang="en-US" sz="2000" err="1">
                <a:solidFill>
                  <a:srgbClr val="4D4D4D"/>
                </a:solidFill>
                <a:ea typeface="+mn-lt"/>
                <a:cs typeface="+mn-lt"/>
              </a:rPr>
              <a:t>OpenAssistant</a:t>
            </a:r>
            <a:r>
              <a:rPr lang="en-US" sz="2000">
                <a:solidFill>
                  <a:srgbClr val="4D4D4D"/>
                </a:solidFill>
                <a:ea typeface="+mn-lt"/>
                <a:cs typeface="+mn-lt"/>
              </a:rPr>
              <a:t> and Anthropic-HH QA tasks. Our approach also achieves performance close to the non-private synthetic baseline ε = ∞ (syn) with ε = 4, 8.</a:t>
            </a:r>
            <a:endParaRPr lang="en-US">
              <a:cs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12</a:t>
            </a:fld>
            <a:endParaRPr lang="en-US" altLang="zh-TW"/>
          </a:p>
        </p:txBody>
      </p:sp>
      <p:pic>
        <p:nvPicPr>
          <p:cNvPr id="3" name="Picture 2" descr="A table of numbers and equations&#10;&#10;AI-generated content may be incorrect.">
            <a:extLst>
              <a:ext uri="{FF2B5EF4-FFF2-40B4-BE49-F238E27FC236}">
                <a16:creationId xmlns:a16="http://schemas.microsoft.com/office/drawing/2014/main" id="{AC8CCE03-3224-4520-58B6-D5EE4B3B5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651" y="3662983"/>
            <a:ext cx="7210698" cy="266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849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altLang="zh-TW" sz="36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Conclusion and Future Work</a:t>
            </a:r>
          </a:p>
        </p:txBody>
      </p:sp>
      <p:sp>
        <p:nvSpPr>
          <p:cNvPr id="53250" name="Content Placeholder 2"/>
          <p:cNvSpPr txBox="1">
            <a:spLocks/>
          </p:cNvSpPr>
          <p:nvPr/>
        </p:nvSpPr>
        <p:spPr bwMode="auto">
          <a:xfrm>
            <a:off x="9525" y="1752600"/>
            <a:ext cx="90678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en-US" altLang="en-US" sz="2000">
              <a:solidFill>
                <a:srgbClr val="4D4D4D"/>
              </a:solidFill>
              <a:latin typeface="Georgia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13</a:t>
            </a:fld>
            <a:endParaRPr lang="en-US" altLang="zh-TW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76E0A0-C2B7-A93C-28CF-17D7A977BB77}"/>
              </a:ext>
            </a:extLst>
          </p:cNvPr>
          <p:cNvSpPr txBox="1"/>
          <p:nvPr/>
        </p:nvSpPr>
        <p:spPr>
          <a:xfrm>
            <a:off x="551318" y="1824680"/>
            <a:ext cx="8340532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ea typeface="ＭＳ Ｐゴシック"/>
                <a:cs typeface="Arial"/>
              </a:rPr>
              <a:t>We introduced a two-phase framework for privacy-preserving preference learning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ＭＳ Ｐゴシック"/>
                <a:cs typeface="Arial"/>
              </a:rPr>
              <a:t>Phase 1: We generate DP synthetic preference data from private dataset using </a:t>
            </a:r>
            <a:r>
              <a:rPr lang="en-US" err="1">
                <a:latin typeface="Arial"/>
                <a:ea typeface="ＭＳ Ｐゴシック"/>
                <a:cs typeface="Arial"/>
              </a:rPr>
              <a:t>DPPrefSyn</a:t>
            </a:r>
            <a:r>
              <a:rPr lang="en-US">
                <a:latin typeface="Arial"/>
                <a:ea typeface="ＭＳ Ｐゴシック"/>
                <a:cs typeface="Arial"/>
              </a:rPr>
              <a:t> algorithm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ＭＳ Ｐゴシック"/>
                <a:cs typeface="Arial"/>
              </a:rPr>
              <a:t>Phase 2: We use this data to fine-tune LLMs</a:t>
            </a:r>
          </a:p>
          <a:p>
            <a:endParaRPr lang="en-US">
              <a:latin typeface="Arial"/>
              <a:ea typeface="ＭＳ Ｐゴシック"/>
              <a:cs typeface="Arial"/>
            </a:endParaRPr>
          </a:p>
          <a:p>
            <a:r>
              <a:rPr lang="en-US">
                <a:latin typeface="Arial"/>
                <a:ea typeface="ＭＳ Ｐゴシック"/>
                <a:cs typeface="Arial"/>
              </a:rPr>
              <a:t>Our experimental results show that our framework achieves strong privacy guarantees while outperforming direct fine-tuning on private data, and remains effective even with limited public data</a:t>
            </a:r>
            <a:endParaRPr lang="en-US">
              <a:cs typeface="Arial" pitchFamily="34" charset="0"/>
            </a:endParaRPr>
          </a:p>
          <a:p>
            <a:endParaRPr lang="en-US">
              <a:latin typeface="Arial"/>
              <a:ea typeface="ＭＳ Ｐゴシック"/>
              <a:cs typeface="Arial"/>
            </a:endParaRPr>
          </a:p>
          <a:p>
            <a:r>
              <a:rPr lang="en-US">
                <a:latin typeface="Arial"/>
                <a:ea typeface="ＭＳ Ｐゴシック"/>
                <a:cs typeface="Arial"/>
              </a:rPr>
              <a:t>Potential future direction: extending our framework to support private learning in multimodal settings, including image and speech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altLang="zh-TW" sz="36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References</a:t>
            </a:r>
          </a:p>
        </p:txBody>
      </p:sp>
      <p:sp>
        <p:nvSpPr>
          <p:cNvPr id="53250" name="Content Placeholder 2"/>
          <p:cNvSpPr txBox="1">
            <a:spLocks/>
          </p:cNvSpPr>
          <p:nvPr/>
        </p:nvSpPr>
        <p:spPr bwMode="auto">
          <a:xfrm>
            <a:off x="9525" y="1752600"/>
            <a:ext cx="90678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en-US" altLang="en-US" sz="2000">
              <a:solidFill>
                <a:srgbClr val="4D4D4D"/>
              </a:solidFill>
              <a:latin typeface="Georgia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14</a:t>
            </a:fld>
            <a:endParaRPr lang="en-US" altLang="zh-TW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8A28AD-21D9-BA3B-2578-5889638F840B}"/>
              </a:ext>
            </a:extLst>
          </p:cNvPr>
          <p:cNvSpPr txBox="1"/>
          <p:nvPr/>
        </p:nvSpPr>
        <p:spPr>
          <a:xfrm>
            <a:off x="410227" y="1752600"/>
            <a:ext cx="8323545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200"/>
              </a:spcAft>
            </a:pP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Wu</a:t>
            </a:r>
            <a:r>
              <a:rPr lang="en-US" b="0" i="0">
                <a:solidFill>
                  <a:srgbClr val="222222"/>
                </a:solidFill>
                <a:effectLst/>
                <a:latin typeface="Arial"/>
                <a:ea typeface="ＭＳ Ｐゴシック"/>
                <a:cs typeface="Arial"/>
              </a:rPr>
              <a:t>, Fan, et al. "Privately Aligning Language Models with Reinforcement Learning." </a:t>
            </a:r>
            <a:r>
              <a:rPr lang="en-US" b="0" i="1">
                <a:solidFill>
                  <a:srgbClr val="222222"/>
                </a:solidFill>
                <a:effectLst/>
                <a:latin typeface="Arial"/>
                <a:ea typeface="ＭＳ Ｐゴシック"/>
                <a:cs typeface="Arial"/>
              </a:rPr>
              <a:t>The Twelfth International Conference on Learning Representations</a:t>
            </a:r>
            <a:r>
              <a:rPr lang="en-US" b="0" i="0">
                <a:solidFill>
                  <a:srgbClr val="222222"/>
                </a:solidFill>
                <a:effectLst/>
                <a:latin typeface="Arial"/>
                <a:ea typeface="ＭＳ Ｐゴシック"/>
                <a:cs typeface="Arial"/>
              </a:rPr>
              <a:t>.</a:t>
            </a:r>
            <a:endParaRPr lang="en-US">
              <a:latin typeface="Arial"/>
              <a:ea typeface="ＭＳ Ｐゴシック"/>
              <a:cs typeface="Arial"/>
            </a:endParaRPr>
          </a:p>
          <a:p>
            <a:pPr>
              <a:spcAft>
                <a:spcPts val="1200"/>
              </a:spcAft>
            </a:pPr>
            <a:r>
              <a:rPr lang="en-US" b="0" i="0">
                <a:solidFill>
                  <a:srgbClr val="222222"/>
                </a:solidFill>
                <a:effectLst/>
                <a:latin typeface="Arial"/>
                <a:ea typeface="ＭＳ Ｐゴシック"/>
                <a:cs typeface="Arial"/>
              </a:rPr>
              <a:t>Yu, Da, et al. "Privacy-Preserving Instructions for Aligning Large Language Models." </a:t>
            </a:r>
            <a:r>
              <a:rPr lang="en-US" b="0" i="1">
                <a:solidFill>
                  <a:srgbClr val="222222"/>
                </a:solidFill>
                <a:effectLst/>
                <a:latin typeface="Arial"/>
                <a:ea typeface="ＭＳ Ｐゴシック"/>
                <a:cs typeface="Arial"/>
              </a:rPr>
              <a:t>Forty-first International Conference on Machine Learning</a:t>
            </a:r>
            <a:r>
              <a:rPr lang="en-US" b="0" i="0">
                <a:solidFill>
                  <a:srgbClr val="222222"/>
                </a:solidFill>
                <a:effectLst/>
                <a:latin typeface="Arial"/>
                <a:ea typeface="ＭＳ Ｐゴシック"/>
                <a:cs typeface="Arial"/>
              </a:rPr>
              <a:t>.</a:t>
            </a:r>
          </a:p>
          <a:p>
            <a:pPr>
              <a:spcAft>
                <a:spcPts val="1200"/>
              </a:spcAft>
            </a:pPr>
            <a:r>
              <a:rPr lang="en-US" b="0" i="0">
                <a:solidFill>
                  <a:srgbClr val="222222"/>
                </a:solidFill>
                <a:effectLst/>
                <a:latin typeface="Arial"/>
                <a:ea typeface="ＭＳ Ｐゴシック"/>
                <a:cs typeface="Arial"/>
              </a:rPr>
              <a:t>Chowdhury, Sayak Ray, et al. "Differentially private reward estimation with preference feedback." </a:t>
            </a:r>
            <a:r>
              <a:rPr lang="en-US" b="0" i="1">
                <a:solidFill>
                  <a:srgbClr val="222222"/>
                </a:solidFill>
                <a:effectLst/>
                <a:latin typeface="Arial"/>
                <a:ea typeface="ＭＳ Ｐゴシック"/>
                <a:cs typeface="Arial"/>
              </a:rPr>
              <a:t>International Conference on Artificial Intelligence and Statistics</a:t>
            </a:r>
            <a:r>
              <a:rPr lang="en-US" b="0" i="0">
                <a:solidFill>
                  <a:srgbClr val="222222"/>
                </a:solidFill>
                <a:effectLst/>
                <a:latin typeface="Arial"/>
                <a:ea typeface="ＭＳ Ｐゴシック"/>
                <a:cs typeface="Arial"/>
              </a:rPr>
              <a:t>. PMLR, 2024.</a:t>
            </a:r>
          </a:p>
          <a:p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Xiao, S., Liu, Z., Zhang, P., and </a:t>
            </a:r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Muennighoff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, N. (2023). C-pack: Packaged resources to advance general </a:t>
            </a:r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chinese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 embedding.</a:t>
            </a:r>
          </a:p>
          <a:p>
            <a:endParaRPr lang="en-US">
              <a:solidFill>
                <a:srgbClr val="222222"/>
              </a:solidFill>
              <a:latin typeface="Arial"/>
              <a:ea typeface="ＭＳ Ｐゴシック"/>
              <a:cs typeface="Arial"/>
            </a:endParaRPr>
          </a:p>
          <a:p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Touvron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, H., </a:t>
            </a:r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Lavril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, T., </a:t>
            </a:r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Izacard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, G., Martinet, X., </a:t>
            </a:r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Lachaux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, M.-A., Lacroix, T., </a:t>
            </a:r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Rozière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, B., </a:t>
            </a:r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Goyal,N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., Hambro, E., Azhar, F., et al. (2023). Llama: Open and efficient foundation language models. </a:t>
            </a:r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arXiv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 preprint arXiv:2302.13971.</a:t>
            </a:r>
          </a:p>
          <a:p>
            <a:endParaRPr lang="en-US">
              <a:solidFill>
                <a:srgbClr val="222222"/>
              </a:solidFill>
              <a:latin typeface="Arial"/>
              <a:cs typeface="Arial"/>
            </a:endParaRPr>
          </a:p>
          <a:p>
            <a:endParaRPr lang="en-US">
              <a:solidFill>
                <a:srgbClr val="22222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8056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68DA6-22CE-C2A7-68B4-D68164BF3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5">
            <a:extLst>
              <a:ext uri="{FF2B5EF4-FFF2-40B4-BE49-F238E27FC236}">
                <a16:creationId xmlns:a16="http://schemas.microsoft.com/office/drawing/2014/main" id="{4A99FD2B-CB0E-2389-EE0F-6C7AF7106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altLang="zh-TW" sz="36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References</a:t>
            </a:r>
          </a:p>
        </p:txBody>
      </p:sp>
      <p:sp>
        <p:nvSpPr>
          <p:cNvPr id="53250" name="Content Placeholder 2">
            <a:extLst>
              <a:ext uri="{FF2B5EF4-FFF2-40B4-BE49-F238E27FC236}">
                <a16:creationId xmlns:a16="http://schemas.microsoft.com/office/drawing/2014/main" id="{78E9C138-62B5-0C52-DB88-E8BAEA1B1B39}"/>
              </a:ext>
            </a:extLst>
          </p:cNvPr>
          <p:cNvSpPr txBox="1">
            <a:spLocks/>
          </p:cNvSpPr>
          <p:nvPr/>
        </p:nvSpPr>
        <p:spPr bwMode="auto">
          <a:xfrm>
            <a:off x="9525" y="1752600"/>
            <a:ext cx="90678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en-US" altLang="en-US" sz="2000">
              <a:solidFill>
                <a:srgbClr val="4D4D4D"/>
              </a:solidFill>
              <a:latin typeface="Georgia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192D50-402E-20F3-DB10-33DD5044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15</a:t>
            </a:fld>
            <a:endParaRPr lang="en-US" altLang="zh-TW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AD2CCF-04C1-E1F5-DE5E-DE6806326F95}"/>
              </a:ext>
            </a:extLst>
          </p:cNvPr>
          <p:cNvSpPr txBox="1"/>
          <p:nvPr/>
        </p:nvSpPr>
        <p:spPr>
          <a:xfrm>
            <a:off x="410227" y="1574074"/>
            <a:ext cx="8323545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Biderman, S., Schoelkopf, H., Anthony, Q. G., Bradley, H., O’Brien, K., Hallahan, E., Khan, M. </a:t>
            </a:r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A.,Purohit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, S., Prashanth, U. S., Raff, E., et al. (2023). Pythia: A suite for analyzing large language models across training and scaling. In International Conference on Machine Learning, pages 2397–2430. PMLR.</a:t>
            </a:r>
            <a:endParaRPr lang="en-US">
              <a:cs typeface="Arial"/>
            </a:endParaRPr>
          </a:p>
          <a:p>
            <a:endParaRPr lang="en-US">
              <a:solidFill>
                <a:srgbClr val="222222"/>
              </a:solidFill>
              <a:latin typeface="Arial"/>
              <a:ea typeface="ＭＳ Ｐゴシック"/>
              <a:cs typeface="Arial"/>
            </a:endParaRPr>
          </a:p>
          <a:p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Köpf, A., Kilcher, Y., Von </a:t>
            </a:r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Rütte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, D., Anagnostidis, S., Tam, Z. R., Stevens, K., Barhoum, A., Nguyen, D., Stanley, O., </a:t>
            </a:r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Nagyfi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, R., et al. (2023). </a:t>
            </a:r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Openassistant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 conversations-democratizing large language model alignment. Advances in Neural Information Processing Systems, 36:47669–47681.</a:t>
            </a:r>
            <a:endParaRPr lang="en-US">
              <a:ea typeface="ＭＳ Ｐゴシック"/>
            </a:endParaRPr>
          </a:p>
          <a:p>
            <a:endParaRPr lang="en-US">
              <a:solidFill>
                <a:srgbClr val="222222"/>
              </a:solidFill>
              <a:latin typeface="Arial"/>
              <a:cs typeface="Arial"/>
            </a:endParaRPr>
          </a:p>
          <a:p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Bai, Y., Jones, A., </a:t>
            </a:r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Ndousse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, K., Askell, A., Chen, A., DasSarma, N., Drain, D., Fort, S., Ganguli, </a:t>
            </a:r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D.,Henighan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, T., et al. (2022). Training a helpful and harmless assistant with reinforcement learning from human feedback. </a:t>
            </a:r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arXiv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 preprint arXiv:2204.05862.</a:t>
            </a:r>
            <a:endParaRPr lang="en-US">
              <a:ea typeface="ＭＳ Ｐゴシック"/>
              <a:cs typeface="Arial"/>
            </a:endParaRPr>
          </a:p>
          <a:p>
            <a:endParaRPr lang="en-US">
              <a:solidFill>
                <a:srgbClr val="222222"/>
              </a:solidFill>
              <a:latin typeface="Arial"/>
              <a:cs typeface="Arial"/>
            </a:endParaRPr>
          </a:p>
          <a:p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Stiennon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, N., Ouyang, L., Wu, J., Ziegler, D., Lowe, R., Voss, C., Radford, A., Amodei, D., and Christiano, P. F. (2020). Learning to summarize with human feedback. Advances in neural information processing systems, 33:3008–3021.</a:t>
            </a:r>
            <a:endParaRPr lang="en-US">
              <a:ea typeface="ＭＳ Ｐゴシック"/>
            </a:endParaRPr>
          </a:p>
          <a:p>
            <a:endParaRPr lang="en-US">
              <a:solidFill>
                <a:srgbClr val="222222"/>
              </a:solidFill>
              <a:latin typeface="Arial"/>
              <a:cs typeface="Arial"/>
            </a:endParaRPr>
          </a:p>
          <a:p>
            <a:endParaRPr lang="en-US">
              <a:solidFill>
                <a:srgbClr val="22222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9137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BC549-DC0A-7F78-8D05-1E74EA218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5">
            <a:extLst>
              <a:ext uri="{FF2B5EF4-FFF2-40B4-BE49-F238E27FC236}">
                <a16:creationId xmlns:a16="http://schemas.microsoft.com/office/drawing/2014/main" id="{361FD382-9421-834C-9174-A29D378BC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altLang="zh-TW" sz="36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References</a:t>
            </a:r>
          </a:p>
        </p:txBody>
      </p:sp>
      <p:sp>
        <p:nvSpPr>
          <p:cNvPr id="53250" name="Content Placeholder 2">
            <a:extLst>
              <a:ext uri="{FF2B5EF4-FFF2-40B4-BE49-F238E27FC236}">
                <a16:creationId xmlns:a16="http://schemas.microsoft.com/office/drawing/2014/main" id="{BE5E00D4-A7B9-9F87-BE58-0ED5976B804F}"/>
              </a:ext>
            </a:extLst>
          </p:cNvPr>
          <p:cNvSpPr txBox="1">
            <a:spLocks/>
          </p:cNvSpPr>
          <p:nvPr/>
        </p:nvSpPr>
        <p:spPr bwMode="auto">
          <a:xfrm>
            <a:off x="9525" y="1752600"/>
            <a:ext cx="90678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en-US" altLang="en-US" sz="2000">
              <a:solidFill>
                <a:srgbClr val="4D4D4D"/>
              </a:solidFill>
              <a:latin typeface="Georgia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C40958-72E4-10BB-6237-7CBF46290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16</a:t>
            </a:fld>
            <a:endParaRPr lang="en-US" altLang="zh-TW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3A423E-5B20-62A2-43BE-53F53F04E938}"/>
              </a:ext>
            </a:extLst>
          </p:cNvPr>
          <p:cNvSpPr txBox="1"/>
          <p:nvPr/>
        </p:nvSpPr>
        <p:spPr>
          <a:xfrm>
            <a:off x="410227" y="1574074"/>
            <a:ext cx="8323545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Taori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, R., Gulrajani, I., Zhang, T., Dubois, Y., Li, X., </a:t>
            </a:r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Guestrin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, C., Liang, P., and Hashimoto, T. B. (2023). Alpaca: A strong, replicable instruction-following model. Stanford Center for Research on Foundation Models. https://crfm. </a:t>
            </a:r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stanford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. </a:t>
            </a:r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edu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/2023/03/13/alpaca. html, 3(6):7.</a:t>
            </a:r>
            <a:endParaRPr lang="en-US">
              <a:latin typeface="Arial"/>
              <a:cs typeface="Arial"/>
            </a:endParaRPr>
          </a:p>
          <a:p>
            <a:endParaRPr lang="en-US">
              <a:solidFill>
                <a:srgbClr val="222222"/>
              </a:solidFill>
              <a:latin typeface="Arial"/>
              <a:cs typeface="Arial"/>
            </a:endParaRPr>
          </a:p>
          <a:p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Ji, J., Hong, D., Zhang, B., Chen, B., Dai, J., Zheng, B., Qiu, T., Li, B., and Yang, Y. (2024). </a:t>
            </a:r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Pku-saferlhf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: Towards multi-level safety alignment for </a:t>
            </a:r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llms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 with human preference. </a:t>
            </a:r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arXiv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 preprint arXiv:2406.15513.</a:t>
            </a:r>
            <a:endParaRPr lang="en-US">
              <a:ea typeface="ＭＳ Ｐゴシック"/>
              <a:cs typeface="Arial"/>
            </a:endParaRPr>
          </a:p>
          <a:p>
            <a:endParaRPr lang="en-US">
              <a:solidFill>
                <a:srgbClr val="222222"/>
              </a:solidFill>
              <a:latin typeface="Arial"/>
              <a:cs typeface="Arial"/>
            </a:endParaRPr>
          </a:p>
          <a:p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Narayan, S., Cohen, S. B., and Lapata, M. (2018). Don’t give me the details, just the summary! topic-aware convolutional neural networks for extreme summarization. </a:t>
            </a:r>
            <a:r>
              <a:rPr lang="en-US" err="1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arXiv</a:t>
            </a:r>
            <a:r>
              <a:rPr lang="en-US">
                <a:solidFill>
                  <a:srgbClr val="222222"/>
                </a:solidFill>
                <a:latin typeface="Arial"/>
                <a:ea typeface="ＭＳ Ｐゴシック"/>
                <a:cs typeface="Arial"/>
              </a:rPr>
              <a:t> preprint arXiv:1808.08745.</a:t>
            </a:r>
            <a:endParaRPr lang="en-US"/>
          </a:p>
          <a:p>
            <a:endParaRPr lang="en-US">
              <a:solidFill>
                <a:srgbClr val="222222"/>
              </a:solidFill>
              <a:latin typeface="Arial"/>
              <a:cs typeface="Arial"/>
            </a:endParaRPr>
          </a:p>
          <a:p>
            <a:endParaRPr lang="en-US">
              <a:solidFill>
                <a:srgbClr val="22222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9712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altLang="zh-TW" sz="36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Appendix - Samples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17</a:t>
            </a:fld>
            <a:endParaRPr lang="en-US" altLang="zh-TW"/>
          </a:p>
        </p:txBody>
      </p:sp>
      <p:pic>
        <p:nvPicPr>
          <p:cNvPr id="7" name="Picture 6" descr="A screenshot of a document&#10;&#10;Description automatically generated">
            <a:extLst>
              <a:ext uri="{FF2B5EF4-FFF2-40B4-BE49-F238E27FC236}">
                <a16:creationId xmlns:a16="http://schemas.microsoft.com/office/drawing/2014/main" id="{68C62A5C-6193-ED9E-B6E9-72C1B359CCE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32"/>
          <a:stretch/>
        </p:blipFill>
        <p:spPr>
          <a:xfrm>
            <a:off x="1111250" y="1651726"/>
            <a:ext cx="6921500" cy="483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14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EAF152-CC59-A800-7B29-F6692E94496D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>
                <a:latin typeface="Georgia"/>
                <a:ea typeface="ＭＳ Ｐゴシック"/>
                <a:cs typeface="+mn-lt"/>
              </a:rPr>
              <a:t>Work Allocation</a:t>
            </a:r>
          </a:p>
          <a:p>
            <a:pPr marL="0" indent="0">
              <a:buNone/>
            </a:pPr>
            <a:endParaRPr lang="en-US">
              <a:cs typeface="Arial"/>
            </a:endParaRPr>
          </a:p>
          <a:p>
            <a:pPr marL="0" indent="0">
              <a:buNone/>
            </a:pPr>
            <a:endParaRPr lang="en-US">
              <a:cs typeface="Arial"/>
            </a:endParaRPr>
          </a:p>
          <a:p>
            <a:pPr marL="0" indent="0">
              <a:buNone/>
            </a:pPr>
            <a:r>
              <a:rPr lang="en-US" err="1">
                <a:ea typeface="ＭＳ Ｐゴシック"/>
                <a:cs typeface="Arial"/>
              </a:rPr>
              <a:t>Fengyu</a:t>
            </a:r>
            <a:r>
              <a:rPr lang="en-US">
                <a:ea typeface="ＭＳ Ｐゴシック"/>
                <a:cs typeface="Arial"/>
              </a:rPr>
              <a:t> Gao: proposed idea, </a:t>
            </a:r>
            <a:r>
              <a:rPr lang="en-US">
                <a:ea typeface="ＭＳ Ｐゴシック"/>
                <a:cs typeface="+mn-lt"/>
              </a:rPr>
              <a:t>designed</a:t>
            </a:r>
            <a:r>
              <a:rPr lang="en-US">
                <a:ea typeface="ＭＳ Ｐゴシック"/>
                <a:cs typeface="Arial"/>
              </a:rPr>
              <a:t> the framework, conducted experiments, made part of the final presentation slides</a:t>
            </a:r>
            <a:endParaRPr lang="en-US">
              <a:cs typeface="Arial"/>
            </a:endParaRPr>
          </a:p>
          <a:p>
            <a:pPr marL="0" indent="0">
              <a:buNone/>
            </a:pPr>
            <a:endParaRPr lang="en-US">
              <a:ea typeface="ＭＳ Ｐゴシック"/>
              <a:cs typeface="Arial"/>
            </a:endParaRPr>
          </a:p>
          <a:p>
            <a:pPr marL="0" indent="0">
              <a:buNone/>
            </a:pPr>
            <a:r>
              <a:rPr lang="en-US">
                <a:ea typeface="ＭＳ Ｐゴシック"/>
                <a:cs typeface="Arial"/>
              </a:rPr>
              <a:t>Wei Shen: conducted experiments, made part of the final</a:t>
            </a:r>
            <a:r>
              <a:rPr lang="en-US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 presentation slides</a:t>
            </a:r>
            <a:endParaRPr lang="en-US" err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C1F98-1949-8E4C-3994-9FF8C80C0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/>
              <a:pPr/>
              <a:t>18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5350424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18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revision>2</cp:revision>
  <cp:lastPrinted>2014-10-01T00:28:47Z</cp:lastPrinted>
  <dcterms:created xsi:type="dcterms:W3CDTF">2009-01-05T15:07:26Z</dcterms:created>
  <dcterms:modified xsi:type="dcterms:W3CDTF">2025-05-10T04:35:52Z</dcterms:modified>
</cp:coreProperties>
</file>