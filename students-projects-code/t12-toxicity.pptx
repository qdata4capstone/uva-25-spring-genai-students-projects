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7010400" cy="9296400"/>
  <p:embeddedFontLs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662BB4-9728-4DC0-A305-048B2ABE9F1F}">
  <a:tblStyle styleId="{B3662BB4-9728-4DC0-A305-048B2ABE9F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a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motivation of this project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b34a5b4b3_0_0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" name="Google Shape;124;g34b34a5b4b3_0_0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4b34a5b4b3_0_0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is our proposed solution. </a:t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Balanced Dataset: Ensure a comparable number of implicit bias and hate examples. Prompt Design: Carefully craft prompts to help the model learn subtle distinctions between implicit bias and hate speech.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50fb43563_1_20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050fb43563_1_20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050fb43563_1_20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50fb43563_1_13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050fb43563_1_13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050fb43563_1_13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50fb43563_1_42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050fb43563_1_42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3050fb43563_1_42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50fb43563_1_6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050fb43563_1_6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050fb43563_1_6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50fb43563_1_77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50fb43563_1_77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050fb43563_1_77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67c11c37a_1_11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67c11c37a_1_11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567c11c37a_1_11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" type="body"/>
          </p:nvPr>
        </p:nvSpPr>
        <p:spPr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EvGJ8hodSyjB-9hCKfYep-1vT2k_MoGq/view" TargetMode="External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rxiv.org/abs/2109.05322" TargetMode="External"/><Relationship Id="rId4" Type="http://schemas.openxmlformats.org/officeDocument/2006/relationships/hyperlink" Target="https://arxiv.org/pdf/1911.0389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152400" y="2590800"/>
            <a:ext cx="883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Toxicity Guard: Implicit Words Bias Detection of LLM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52400" y="3962400"/>
            <a:ext cx="883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Zeqiang Ning, Aaditya Ghosalkar</a:t>
            </a:r>
            <a:r>
              <a:rPr b="0" i="0" lang="en-US" sz="22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	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" y="4419600"/>
            <a:ext cx="883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May 9</a:t>
            </a:r>
            <a:endParaRPr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Background</a:t>
            </a:r>
            <a:endParaRPr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313050" y="1624000"/>
            <a:ext cx="7885200" cy="44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Implicit hate speech refers to harmful language that conveys prejudice or hatred towards an individual or group through indirect expressions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reinforcement of hateful ideologies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psychological harm 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affecting mental health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Implicit language is often culturally supported and understood, and can be exploited to promote harmful ideologies towards minority groups.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subtle language makes it 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difficult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for traditional keyword-based detection methods to identify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ex. I love this country. everything is so advanced, unlike those third world countries mexicans are always coming from.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Motivation</a:t>
            </a:r>
            <a:endParaRPr b="0"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440250" y="1672925"/>
            <a:ext cx="74841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Traditional methods, such as keyword detection, often fail to understand context, target audience, and the author’s intent.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Implicit toxicity is expressed through indirect language, making its meaning inherently difficult to identify. Our interest lies in training open-source models, such as LLaMA2-7B, to enhance their ability to detect this subtle language.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Our project aims to improve detection in two key areas: first, accurately identifying toxicity related to minority groups; and second, overcoming the limitations of current toxicity detection methods by leveraging LLaMA2-7B.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Related Works</a:t>
            </a:r>
            <a:endParaRPr/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81375" y="1607775"/>
            <a:ext cx="85053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Latent Hatred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Identification of language that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implies hateful 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language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instead 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of 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explicitly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throwing it out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1" name="Google Shape;121;p17" title="Screenshot 2025-04-11 at 11.42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425" y="1768425"/>
            <a:ext cx="4301374" cy="31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373063" y="152400"/>
            <a:ext cx="68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Related Works</a:t>
            </a:r>
            <a:endParaRPr/>
          </a:p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181375" y="1607775"/>
            <a:ext cx="85053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Social Bias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Breaking down Toxicity to 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negative Social Bias’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Similar to latent hatred but 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focuses more on bias’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0" name="Google Shape;130;p18" title="Screenshot 2025-04-11 at 11.50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550" y="1528433"/>
            <a:ext cx="4183425" cy="4999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Proposed Solution</a:t>
            </a:r>
            <a:endParaRPr b="0"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descr="Inline image 1" id="137" name="Google Shape;137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ttps://www.uni-marburg.de/sprachenzentrum/sprachen-tandem/icons/classic-timer-icon" id="138" name="Google Shape;138;p19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546975" y="1548400"/>
            <a:ext cx="7484100" cy="46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1: Data Preparation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Preprocess the ToxiGen dataset</a:t>
            </a:r>
            <a:b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Clean and convert data into LLaMA Guard-compatible format</a:t>
            </a:r>
            <a:b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2: Model Fine-tuning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Fine-tune a pre-trained language model using the processed data</a:t>
            </a:r>
            <a:b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Focus on implicit bias detection and safety category classification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3: Performance Evaluation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Evaluate both binary (safe/unsafe) and multi-class (category-level) performance</a:t>
            </a:r>
            <a:b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</a:t>
            </a:r>
            <a:r>
              <a:rPr lang="en-US" sz="1700">
                <a:solidFill>
                  <a:schemeClr val="dk1"/>
                </a:solidFill>
              </a:rPr>
              <a:t>mpare with base model to assess improvements and limitations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Llama Guard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533400" y="14478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575" y="1724350"/>
            <a:ext cx="5708026" cy="43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52675" y="2145575"/>
            <a:ext cx="301440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Introduce a new safety category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Implicit bias can be easily confused with explicit hate.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-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Balanced Dataset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-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Prompt Design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/>
          <p:nvPr/>
        </p:nvSpPr>
        <p:spPr>
          <a:xfrm>
            <a:off x="373063" y="152400"/>
            <a:ext cx="68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Data </a:t>
            </a: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Preprocessing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373075" y="1724225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3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TOXIGEN-DATA</a:t>
            </a:r>
            <a:endParaRPr sz="23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Design and collect prompts with implicit bias, then use various generation strategies to paraphrase them into semantically similar hate speech sentences, constructing a high-quality toxic language corpus.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we selectively extract the following fields from the ToxiGen dataset: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800"/>
              <a:buFont typeface="Lato"/>
              <a:buChar char="○"/>
            </a:pPr>
            <a:r>
              <a:rPr lang="en-US" sz="18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Input_prompt</a:t>
            </a:r>
            <a:endParaRPr sz="18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800"/>
              <a:buFont typeface="Lato"/>
              <a:buChar char="○"/>
            </a:pPr>
            <a:r>
              <a:rPr lang="en-US" sz="18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Input_text</a:t>
            </a:r>
            <a:endParaRPr sz="18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800"/>
              <a:buFont typeface="Lato"/>
              <a:buChar char="○"/>
            </a:pPr>
            <a:r>
              <a:rPr lang="en-US" sz="18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Input_prompt_label</a:t>
            </a:r>
            <a:endParaRPr sz="18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800"/>
              <a:buFont typeface="Lato"/>
              <a:buChar char="○"/>
            </a:pPr>
            <a:r>
              <a:rPr lang="en-US" sz="18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Answer.intent</a:t>
            </a:r>
            <a:endParaRPr sz="18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800"/>
              <a:buFont typeface="Lato"/>
              <a:buChar char="○"/>
            </a:pPr>
            <a:r>
              <a:rPr lang="en-US" sz="18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Answer.refTarget</a:t>
            </a:r>
            <a:endParaRPr sz="18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>
            <a:off x="373063" y="152400"/>
            <a:ext cx="68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Data Summary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533400" y="1737375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3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Step 1:  Filtering the ToxiGen Dataset</a:t>
            </a:r>
            <a:endParaRPr sz="23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We apply the following criteria for labeling: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i="1" lang="en-US" sz="2000">
                <a:latin typeface="Lato"/>
                <a:ea typeface="Lato"/>
                <a:cs typeface="Lato"/>
                <a:sym typeface="Lato"/>
              </a:rPr>
              <a:t>Prompt Safety Labeling: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 If Input_prompt_label == 1, the Input_prompt is labeled as unsafe. Otherwise, it is labeled as safe.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i="1" lang="en-US" sz="2000">
                <a:latin typeface="Lato"/>
                <a:ea typeface="Lato"/>
                <a:cs typeface="Lato"/>
                <a:sym typeface="Lato"/>
              </a:rPr>
              <a:t>Text Safety Labeling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: If Answer.intent &gt; 3, the Input_text is labeled as unsafe. Otherwise, it is labeled as safe.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i="1" lang="en-US" sz="2000">
                <a:latin typeface="Lato"/>
                <a:ea typeface="Lato"/>
                <a:cs typeface="Lato"/>
                <a:sym typeface="Lato"/>
              </a:rPr>
              <a:t>Type of Unsafe Content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:  If Answer.refTarget == "direct", the unsafe Input_text is categorized as hate. If Answer.refTarget == "indirect", it is categorized as implicit bias.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6" name="Google Shape;166;p22"/>
          <p:cNvGraphicFramePr/>
          <p:nvPr/>
        </p:nvGraphicFramePr>
        <p:xfrm>
          <a:off x="4662950" y="571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{B3662BB4-9728-4DC0-A305-048B2ABE9F1F}</a:tableStyleId>
              </a:tblPr>
              <a:tblGrid>
                <a:gridCol w="1085875"/>
                <a:gridCol w="1085875"/>
                <a:gridCol w="1085875"/>
              </a:tblGrid>
              <a:tr h="31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label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xxxxx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implicit</a:t>
                      </a:r>
                      <a:r>
                        <a:rPr lang="en-US"/>
                        <a:t> bias/hate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/>
          <p:nvPr/>
        </p:nvSpPr>
        <p:spPr>
          <a:xfrm>
            <a:off x="373063" y="152400"/>
            <a:ext cx="68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Data Summary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457200" y="1737375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3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lang="en-US" sz="23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Generating more hate text</a:t>
            </a:r>
            <a:endParaRPr sz="23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Hate statements are less than </a:t>
            </a: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implicit</a:t>
            </a: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 bias statements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Balance the dataset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Demonstration-based prompting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We provide some example statements to LLM, encouraging it to produce a similar, but distinct, statement</a:t>
            </a: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 Including mentions of minority groups by name and contain   mainly explicit bad language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Lato"/>
              <a:buChar char="-"/>
            </a:pPr>
            <a:r>
              <a:rPr lang="en-US" sz="2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Convert data to formal format (conversation)</a:t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127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Experimental </a:t>
            </a: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Setup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457200" y="139515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Base_Model:  meta-llama/Llama-Guard-3-1B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Method：LoRA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Hyperparameters: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Comparative Evaluation: 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700"/>
              <a:buFont typeface="Georgia"/>
              <a:buChar char="-"/>
            </a:pPr>
            <a:r>
              <a:rPr lang="en-US" sz="17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We compare the base model and the fine-tuned model on the same test set. Improvements in implicit bias detection indicate enhanced sensitivity and classification performance after fine-tuning.</a:t>
            </a:r>
            <a:endParaRPr sz="17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3" name="Google Shape;183;p24"/>
          <p:cNvGraphicFramePr/>
          <p:nvPr/>
        </p:nvGraphicFramePr>
        <p:xfrm>
          <a:off x="741900" y="329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{B3662BB4-9728-4DC0-A305-048B2ABE9F1F}</a:tableStyleId>
              </a:tblPr>
              <a:tblGrid>
                <a:gridCol w="2413000"/>
                <a:gridCol w="2413000"/>
                <a:gridCol w="2413000"/>
              </a:tblGrid>
              <a:tr h="1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Epoch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Batch_size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Learnig_rate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2e-5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3e-5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Experimental </a:t>
            </a: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533400" y="1447800"/>
            <a:ext cx="82296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For safe/unsafe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Why accuracy is so low?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not a classification task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implicit bias lie near semantic boundaries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2" name="Google Shape;192;p25"/>
          <p:cNvGraphicFramePr/>
          <p:nvPr/>
        </p:nvGraphicFramePr>
        <p:xfrm>
          <a:off x="873525" y="194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{B3662BB4-9728-4DC0-A305-048B2ABE9F1F}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Metrics/Model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Fine-tuned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Fine-tuned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Base Model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0.5965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0.4879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</a:t>
                      </a:r>
                      <a:r>
                        <a:rPr lang="en-US"/>
                        <a:t>recision(safe)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0.4075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0.4161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0.3995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Recall(safe)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0.9642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0.9705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0.7326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F1(safe)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0.5729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0.5171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Precision(unsafe)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0.9669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0.9736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0.8344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Recall(unsafe)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0.4273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0.4437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0.3225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F1(unsafe)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0.5927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0.6096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0.4326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373063" y="152400"/>
            <a:ext cx="68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Experimental Analysis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533400" y="14478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For safety categories(S1-&gt;implicit bias,S3-&gt;hate)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High recall of S1 : remember certain category code(S1) rather than understanding statements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1" name="Google Shape;201;p26"/>
          <p:cNvGraphicFramePr/>
          <p:nvPr/>
        </p:nvGraphicFramePr>
        <p:xfrm>
          <a:off x="952500" y="218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{B3662BB4-9728-4DC0-A305-048B2ABE9F1F}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Metrics/Model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Fine-tuned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Fine-tune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Base model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accuracy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0.726526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0.83914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0.42374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Precision(S3)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0.9674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0.9875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0.9972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Recall(S3)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0.4972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0.6611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0.2808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Precision(S1)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0.6998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0.5606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Recall(S1)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0.9947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0.9928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0.6872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457200" y="274638"/>
            <a:ext cx="8229600" cy="585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27" title="demo_vide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6050"/>
            <a:ext cx="8362100" cy="62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Conclusion and Future Work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Convert TOXIGEN to llama guard data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Improve the capability of large language models to detect implicit bias in text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Outperforms the base model across various classification metrics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To ensure the model truly understands the semantics of conversations rather than memorizing category codes 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replaced and altered the implicit bias category code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the model’s performance on safety category </a:t>
            </a: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recognition</a:t>
            </a: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 dropped, suggesting it relies heavily on label memorization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000"/>
              <a:buFont typeface="Georgia"/>
              <a:buChar char="-"/>
            </a:pPr>
            <a:r>
              <a:rPr lang="en-US" sz="20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focus on improving the model’s generalization and robustness </a:t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idx="1" type="body"/>
          </p:nvPr>
        </p:nvSpPr>
        <p:spPr>
          <a:xfrm>
            <a:off x="2036800" y="3052095"/>
            <a:ext cx="6096000" cy="331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6500"/>
              <a:t>Question?</a:t>
            </a:r>
            <a:endParaRPr sz="6500"/>
          </a:p>
        </p:txBody>
      </p:sp>
      <p:sp>
        <p:nvSpPr>
          <p:cNvPr id="223" name="Google Shape;223;p29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https://arxiv.org/abs/2109.05322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https://arxiv.org/pdf/1911.03891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