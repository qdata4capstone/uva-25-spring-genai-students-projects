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262" r:id="rId4"/>
    <p:sldId id="260" r:id="rId5"/>
    <p:sldId id="268" r:id="rId6"/>
    <p:sldId id="309" r:id="rId7"/>
    <p:sldId id="304" r:id="rId8"/>
    <p:sldId id="290" r:id="rId9"/>
    <p:sldId id="307" r:id="rId10"/>
    <p:sldId id="310" r:id="rId11"/>
    <p:sldId id="314" r:id="rId12"/>
    <p:sldId id="313" r:id="rId13"/>
    <p:sldId id="312" r:id="rId14"/>
    <p:sldId id="315" r:id="rId15"/>
    <p:sldId id="286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003366"/>
    <a:srgbClr val="300448"/>
    <a:srgbClr val="000066"/>
    <a:srgbClr val="333399"/>
    <a:srgbClr val="6600CC"/>
    <a:srgbClr val="3366FF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011A13-95E0-D676-F6DB-AF4EF0A98EC6}" v="38" dt="2025-05-09T16:00:44.154"/>
    <p1510:client id="{8D10B789-FB14-689B-5854-DE39FC7E4074}" v="1" dt="2025-05-09T15:13:56.764"/>
    <p1510:client id="{BD94EB4C-EF42-4E22-95BF-112A426BABA8}" v="29" dt="2025-05-09T15:48:18.255"/>
    <p1510:client id="{F9B4F393-DF77-C70C-0BD7-1915AC07EAC0}" v="92" dt="2025-05-09T09:14:03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4F014-9A02-4370-98AF-8A4593A02C6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40A1D-0B06-4C79-9F26-2E2FB119E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9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PMingLiU" pitchFamily="18" charset="-120"/>
              </a:defRPr>
            </a:lvl1pPr>
          </a:lstStyle>
          <a:p>
            <a:fld id="{5D7F18D2-2977-429E-8B6D-22778A44E64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72029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EEB0713-4CCC-4E3E-846C-FACD634EFBA6}" type="slidenum">
              <a:rPr lang="zh-TW" altLang="en-US" sz="1200">
                <a:ea typeface="PMingLiU" pitchFamily="18" charset="-120"/>
              </a:rPr>
              <a:pPr eaLnBrk="1" hangingPunct="1"/>
              <a:t>1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1220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DF503E9-4B1D-4341-B837-151F396BAC41}" type="slidenum">
              <a:rPr lang="zh-TW" altLang="en-US" sz="1200">
                <a:ea typeface="PMingLiU" pitchFamily="18" charset="-120"/>
              </a:rPr>
              <a:pPr eaLnBrk="1" hangingPunct="1"/>
              <a:t>2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noProof="0">
                <a:latin typeface="Arial" pitchFamily="34" charset="0"/>
                <a:ea typeface="PMingLiU" pitchFamily="18" charset="-120"/>
              </a:rPr>
              <a:t>The motivation of this</a:t>
            </a:r>
            <a:r>
              <a:rPr lang="en-US" altLang="zh-CN" baseline="0" noProof="0">
                <a:latin typeface="Arial" pitchFamily="34" charset="0"/>
                <a:ea typeface="PMingLiU" pitchFamily="18" charset="-120"/>
              </a:rPr>
              <a:t> project</a:t>
            </a:r>
            <a:endParaRPr lang="zh-CN" altLang="en-US" noProof="0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6358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4056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927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7E23D78-CF54-4D4E-9A10-679B9CD3C531}" type="slidenum">
              <a:rPr lang="zh-TW" altLang="en-US" sz="1200">
                <a:ea typeface="PMingLiU" pitchFamily="18" charset="-120"/>
              </a:rPr>
              <a:pPr eaLnBrk="1" hangingPunct="1"/>
              <a:t>5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>
                <a:latin typeface="Arial" pitchFamily="34" charset="0"/>
                <a:ea typeface="PMingLiU" pitchFamily="18" charset="-120"/>
              </a:rPr>
              <a:t>Here, we make the claim of this project.</a:t>
            </a:r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1335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7E23D78-CF54-4D4E-9A10-679B9CD3C531}" type="slidenum">
              <a:rPr lang="zh-TW" altLang="en-US" sz="1200">
                <a:ea typeface="PMingLiU" pitchFamily="18" charset="-120"/>
              </a:rPr>
              <a:pPr eaLnBrk="1" hangingPunct="1"/>
              <a:t>6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>
                <a:latin typeface="Arial" pitchFamily="34" charset="0"/>
                <a:ea typeface="PMingLiU" pitchFamily="18" charset="-120"/>
              </a:rPr>
              <a:t>Here, we make the claim of this project.</a:t>
            </a:r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4447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/>
              <a:t>Here</a:t>
            </a:r>
            <a:r>
              <a:rPr lang="en-US" baseline="0"/>
              <a:t> is our proposed solution.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3623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8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946370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9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63925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48BAE-C886-2770-E3C9-98CD7CFA7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35305542-4565-C7D2-0BC1-D422BB8B16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10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776DF72-1821-5050-A7C0-EF501B699F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54F4D743-1B04-3372-C84A-6E3B72285F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398813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00EB6-3E8F-9338-D7EF-F013B25C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E81C6DA-B745-E763-0E7B-975F84CA9A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11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0C9214E-FA11-F092-6985-7D3DA89064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F23B167B-387B-AD0D-4641-2D6881F13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3633207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C561B-5A5A-FEFD-0844-77B98A9D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D10906C0-E408-1EA2-4921-CCABA73DF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12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630AE3C-566F-EBB1-A8B9-9D0971A508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4A8DE6C8-92D6-C31B-D690-A09712203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2535743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63811-F245-52D9-F7C8-42D600ED5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1F2DB31C-CCB4-D709-509C-B96F1197A9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13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A042E66-F0C8-9E1A-48BA-1554F75C8D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02EAA8E4-E41A-1B69-A326-7EE9A07CC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759437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2B145-FC24-FA2B-2E5C-D76BF238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A85CA3C-21E9-76F8-9F12-3390753546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14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E80FF37-E9BC-678E-67DE-2AD7817B4B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16F1A0A0-D1D5-A5BB-197E-6424A9FD8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3810772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0BA4C9-2F9F-4941-AE8E-AC62D4D218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895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714D2E-7875-44F7-AD06-272F94F3FDC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056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5E09B8-D849-4C92-A970-16FA4838A42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2218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9270A9-8D84-49FD-B2CD-C3D2813EE56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227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497711-EAFB-4E5A-A951-28BB7421965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738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B9F96C-5FBF-454D-AED9-6FBC07E2617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499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836DE4-103E-47E4-9B1A-63D8DBEAA21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515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B7166F-8A7E-4E15-882C-A9C18C7F8E9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3268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641FC1-14D6-4CDA-B301-C72ECEE19E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9288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410D2D-20AB-4FDA-A7D1-25C10B534DA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763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BEF21-3D8E-49E2-8FE9-D5A02E038BC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5077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5760C2-38E4-496F-933D-2305F303D3F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972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PMingLiU" pitchFamily="18" charset="-120"/>
              </a:defRPr>
            </a:lvl1pPr>
          </a:lstStyle>
          <a:p>
            <a:fld id="{533C024B-1461-4457-9A28-300117C30C91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8"/>
          <p:cNvSpPr txBox="1">
            <a:spLocks noChangeArrowheads="1"/>
          </p:cNvSpPr>
          <p:nvPr/>
        </p:nvSpPr>
        <p:spPr bwMode="auto">
          <a:xfrm>
            <a:off x="152400" y="2590800"/>
            <a:ext cx="8839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3600">
                <a:solidFill>
                  <a:srgbClr val="4D4D4D"/>
                </a:solidFill>
                <a:latin typeface="Arial"/>
                <a:ea typeface="新細明體"/>
                <a:cs typeface="Arial"/>
              </a:rPr>
              <a:t>Blogpost Creation</a:t>
            </a:r>
            <a:endParaRPr lang="zh-CN"/>
          </a:p>
        </p:txBody>
      </p:sp>
      <p:sp>
        <p:nvSpPr>
          <p:cNvPr id="2051" name="Text Box 9"/>
          <p:cNvSpPr txBox="1">
            <a:spLocks noChangeArrowheads="1"/>
          </p:cNvSpPr>
          <p:nvPr/>
        </p:nvSpPr>
        <p:spPr bwMode="auto">
          <a:xfrm>
            <a:off x="152400" y="3962400"/>
            <a:ext cx="8839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sz="22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Wenhao Xu, </a:t>
            </a:r>
            <a:r>
              <a:rPr lang="en-US" altLang="zh-TW" sz="2200" err="1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Chenxu</a:t>
            </a:r>
            <a:r>
              <a:rPr lang="en-US" altLang="zh-TW" sz="22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 Li</a:t>
            </a:r>
            <a:endParaRPr lang="en-US" altLang="zh-TW" sz="22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2052" name="Text Box 9"/>
          <p:cNvSpPr txBox="1">
            <a:spLocks noChangeArrowheads="1"/>
          </p:cNvSpPr>
          <p:nvPr/>
        </p:nvSpPr>
        <p:spPr bwMode="auto">
          <a:xfrm>
            <a:off x="76200" y="4419600"/>
            <a:ext cx="8839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en-US" altLang="zh-TW" sz="22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A4C9-2F9F-4941-AE8E-AC62D4D21837}" type="slidenum">
              <a:rPr lang="zh-TW" altLang="en-US" smtClean="0"/>
              <a:pPr/>
              <a:t>1</a:t>
            </a:fld>
            <a:endParaRPr lang="en-US" alt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zh-CN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Motivation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2</a:t>
            </a:fld>
            <a:endParaRPr lang="en-US" altLang="zh-TW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81E68C-0534-40CF-F8B8-6F6E2B632180}"/>
              </a:ext>
            </a:extLst>
          </p:cNvPr>
          <p:cNvSpPr txBox="1"/>
          <p:nvPr/>
        </p:nvSpPr>
        <p:spPr>
          <a:xfrm>
            <a:off x="786942" y="1836197"/>
            <a:ext cx="6941233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Large Language Models (LLMs) like GPT-4 have shown strong capabilities in generating high-quality, human-like text.</a:t>
            </a:r>
            <a:endParaRPr lang="en-US">
              <a:latin typeface="Arial"/>
              <a:ea typeface="ＭＳ Ｐゴシック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These models can turn short prompts into coherent, structured content, making them ideal for blogpost generation.</a:t>
            </a:r>
            <a:endParaRPr lang="en-US">
              <a:latin typeface="Arial"/>
              <a:ea typeface="ＭＳ Ｐゴシック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Automated content creation is increasingly relevant in industries like marketing, journalism, and education.</a:t>
            </a:r>
            <a:endParaRPr lang="en-US">
              <a:latin typeface="Arial"/>
              <a:ea typeface="ＭＳ Ｐゴシック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Prompt-to-blog applications can significantly reduce the time and effort needed to brainstorm and draft posts.</a:t>
            </a:r>
            <a:endParaRPr lang="en-US">
              <a:latin typeface="Arial"/>
              <a:ea typeface="ＭＳ Ｐゴシック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Despite their strengths, LLMs still face challenges with factual accuracy, coherence across sections, and tone control.</a:t>
            </a:r>
            <a:endParaRPr lang="en-US">
              <a:latin typeface="Arial"/>
              <a:ea typeface="ＭＳ Ｐゴシック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This project explores building a </a:t>
            </a:r>
            <a:r>
              <a:rPr lang="en-US" err="1">
                <a:latin typeface="Arial"/>
                <a:ea typeface="ＭＳ Ｐゴシック"/>
                <a:cs typeface="Arial"/>
              </a:rPr>
              <a:t>GenAI</a:t>
            </a:r>
            <a:r>
              <a:rPr lang="en-US">
                <a:latin typeface="Arial"/>
                <a:ea typeface="ＭＳ Ｐゴシック"/>
                <a:cs typeface="Arial"/>
              </a:rPr>
              <a:t> tool that creates full blogposts from user prompts, with emphasis on usability and customization.</a:t>
            </a:r>
            <a:endParaRPr lang="en-US">
              <a:latin typeface="Arial"/>
              <a:ea typeface="ＭＳ Ｐゴシック"/>
            </a:endParaRPr>
          </a:p>
          <a:p>
            <a:pPr algn="l"/>
            <a:endParaRPr lang="en-US"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Background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CA756D-6077-DE02-358A-205F6108E8C5}"/>
              </a:ext>
            </a:extLst>
          </p:cNvPr>
          <p:cNvSpPr txBox="1"/>
          <p:nvPr/>
        </p:nvSpPr>
        <p:spPr>
          <a:xfrm>
            <a:off x="557980" y="1995949"/>
            <a:ext cx="802803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altLang="zh-CN">
                <a:latin typeface="Arial"/>
                <a:ea typeface="ＭＳ Ｐゴシック"/>
                <a:cs typeface="Arial"/>
              </a:rPr>
              <a:t>The rise of digital marketing and self-media drives content demand </a:t>
            </a:r>
            <a:endParaRPr lang="zh-CN" altLang="en-US">
              <a:latin typeface="Arial"/>
              <a:ea typeface="ＭＳ Ｐゴシック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altLang="zh-CN">
              <a:latin typeface="Arial"/>
              <a:ea typeface="ＭＳ Ｐゴシック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CN">
                <a:latin typeface="Arial"/>
                <a:ea typeface="ＭＳ Ｐゴシック"/>
                <a:cs typeface="Arial"/>
              </a:rPr>
              <a:t>Users’ expectations for high-quality, personalized content continue to rise</a:t>
            </a:r>
          </a:p>
          <a:p>
            <a:pPr marL="285750" indent="-285750">
              <a:buFont typeface="Arial"/>
              <a:buChar char="•"/>
            </a:pPr>
            <a:endParaRPr lang="en-US" altLang="zh-CN">
              <a:latin typeface="Arial"/>
              <a:ea typeface="ＭＳ Ｐゴシック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The transformation trend from traditional editing to intelligent creation</a:t>
            </a:r>
          </a:p>
          <a:p>
            <a:pPr marL="285750" indent="-285750">
              <a:buFont typeface="Arial"/>
              <a:buChar char="•"/>
            </a:pPr>
            <a:endParaRPr lang="en-US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Development of LLM technology</a:t>
            </a:r>
            <a:endParaRPr lang="en-US"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Related Work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4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4BAB4-2BDB-AE34-DD59-EAF4A678AF7A}"/>
              </a:ext>
            </a:extLst>
          </p:cNvPr>
          <p:cNvSpPr txBox="1"/>
          <p:nvPr/>
        </p:nvSpPr>
        <p:spPr>
          <a:xfrm>
            <a:off x="807120" y="2128779"/>
            <a:ext cx="7486039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ea typeface="ＭＳ Ｐゴシック"/>
                <a:cs typeface="Arial"/>
              </a:rPr>
              <a:t>Navigating the Path of Writing: Outline-guided Text Generation with Large Language Models</a:t>
            </a:r>
            <a:endParaRPr lang="en-US">
              <a:latin typeface="Arial"/>
              <a:ea typeface="ＭＳ Ｐゴシック"/>
            </a:endParaRPr>
          </a:p>
          <a:p>
            <a:r>
              <a:rPr lang="en-US" sz="1400" err="1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Yukyung</a:t>
            </a:r>
            <a:r>
              <a:rPr lang="en-US" sz="1400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 Lee, </a:t>
            </a:r>
            <a:r>
              <a:rPr lang="en-US" sz="1400" err="1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Soonwon</a:t>
            </a:r>
            <a:r>
              <a:rPr lang="en-US" sz="1400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 Ka, Bokyung Son, </a:t>
            </a:r>
            <a:r>
              <a:rPr lang="en-US" sz="1400" err="1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Pilsung</a:t>
            </a:r>
            <a:r>
              <a:rPr lang="en-US" sz="1400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 Kang, </a:t>
            </a:r>
            <a:r>
              <a:rPr lang="en-US" sz="1400" err="1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Jaewook</a:t>
            </a:r>
            <a:r>
              <a:rPr lang="en-US" sz="1400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 Kang</a:t>
            </a:r>
          </a:p>
          <a:p>
            <a:r>
              <a:rPr lang="en-US">
                <a:latin typeface="Arial"/>
                <a:ea typeface="ＭＳ Ｐゴシック"/>
                <a:cs typeface="Arial"/>
              </a:rPr>
              <a:t>Let's Get to the Point: LLM-Supported Planning, Drafting, and Revising of Research-Paper Blog Posts</a:t>
            </a:r>
            <a:endParaRPr lang="en-US">
              <a:latin typeface="Arial"/>
              <a:ea typeface="ＭＳ Ｐゴシック"/>
            </a:endParaRPr>
          </a:p>
          <a:p>
            <a:r>
              <a:rPr lang="en-US" sz="1400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Marissa </a:t>
            </a:r>
            <a:r>
              <a:rPr lang="en-US" sz="1400" err="1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Radensky</a:t>
            </a:r>
            <a:r>
              <a:rPr lang="en-US" sz="1400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, Daniel S. Weld, Joseph Chee Chang, Pao </a:t>
            </a:r>
            <a:r>
              <a:rPr lang="en-US" sz="1400" err="1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Siangliulue</a:t>
            </a:r>
            <a:r>
              <a:rPr lang="en-US" sz="1400">
                <a:solidFill>
                  <a:srgbClr val="4D4D4D"/>
                </a:solidFill>
                <a:latin typeface="Arial"/>
                <a:ea typeface="ＭＳ Ｐゴシック"/>
                <a:cs typeface="Arial"/>
              </a:rPr>
              <a:t>, Jonathan Bragg</a:t>
            </a:r>
          </a:p>
          <a:p>
            <a:endParaRPr lang="en-US" sz="1400">
              <a:solidFill>
                <a:srgbClr val="4D4D4D"/>
              </a:solidFill>
              <a:latin typeface="Arial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Claim / Target Task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5</a:t>
            </a:fld>
            <a:endParaRPr lang="en-US" altLang="zh-TW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F9D637-F866-B0F9-9428-16F384679081}"/>
              </a:ext>
            </a:extLst>
          </p:cNvPr>
          <p:cNvSpPr txBox="1"/>
          <p:nvPr/>
        </p:nvSpPr>
        <p:spPr>
          <a:xfrm>
            <a:off x="699319" y="1866900"/>
            <a:ext cx="7604021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b="1">
                <a:latin typeface="Arial"/>
                <a:ea typeface="ＭＳ Ｐゴシック"/>
                <a:cs typeface="Arial"/>
              </a:rPr>
              <a:t>Target task </a:t>
            </a:r>
            <a:endParaRPr lang="zh-CN" altLang="en-US" b="1">
              <a:latin typeface="Arial"/>
              <a:ea typeface="ＭＳ Ｐゴシック"/>
              <a:cs typeface="Arial"/>
            </a:endParaRPr>
          </a:p>
          <a:p>
            <a:endParaRPr lang="en-US" altLang="zh-CN">
              <a:latin typeface="Arial"/>
              <a:ea typeface="ＭＳ Ｐゴシック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CN">
                <a:latin typeface="Arial"/>
                <a:ea typeface="ＭＳ Ｐゴシック"/>
                <a:cs typeface="Arial"/>
              </a:rPr>
              <a:t>Automatic generation: Automatically generate a draft based on user input prompt </a:t>
            </a:r>
            <a:endParaRPr lang="en-US">
              <a:latin typeface="Arial"/>
              <a:ea typeface="ＭＳ Ｐゴシック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altLang="zh-CN">
              <a:latin typeface="Arial"/>
              <a:ea typeface="ＭＳ Ｐゴシック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CN">
                <a:latin typeface="Arial"/>
                <a:ea typeface="ＭＳ Ｐゴシック"/>
                <a:cs typeface="Arial"/>
              </a:rPr>
              <a:t>Style and theme customization: Support customized generation of multiple article styles and specific themes</a:t>
            </a:r>
            <a:endParaRPr lang="en-US">
              <a:latin typeface="Arial"/>
              <a:ea typeface="ＭＳ Ｐゴシック"/>
              <a:cs typeface="Arial"/>
            </a:endParaRPr>
          </a:p>
          <a:p>
            <a:endParaRPr lang="en-US" altLang="zh-CN">
              <a:latin typeface="Arial"/>
              <a:ea typeface="ＭＳ Ｐゴシック"/>
              <a:cs typeface="Arial"/>
            </a:endParaRPr>
          </a:p>
          <a:p>
            <a:r>
              <a:rPr lang="en-US" b="1">
                <a:latin typeface="Arial"/>
                <a:ea typeface="ＭＳ Ｐゴシック"/>
                <a:cs typeface="Arial"/>
              </a:rPr>
              <a:t>Expected results</a:t>
            </a:r>
            <a:endParaRPr lang="en-US" b="1"/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Reduce content production time and cost</a:t>
            </a:r>
            <a:endParaRPr lang="en-US">
              <a:cs typeface="Arial" pitchFamily="34" charset="0"/>
            </a:endParaRPr>
          </a:p>
          <a:p>
            <a:pPr marL="285750" indent="-285750">
              <a:buFont typeface="Arial"/>
              <a:buChar char="•"/>
            </a:pPr>
            <a:endParaRPr lang="en-US">
              <a:cs typeface="Arial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Improve creation efficiency and article quality</a:t>
            </a:r>
            <a:endParaRPr lang="en-US"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5"/>
          <p:cNvSpPr>
            <a:spLocks noChangeArrowheads="1"/>
          </p:cNvSpPr>
          <p:nvPr/>
        </p:nvSpPr>
        <p:spPr bwMode="auto">
          <a:xfrm>
            <a:off x="373063" y="152400"/>
            <a:ext cx="8526522" cy="618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An Intuitive Figure Showing WHY Claim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6</a:t>
            </a:fld>
            <a:endParaRPr lang="en-US" altLang="zh-TW"/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CB450F1F-9359-7D4F-4BB0-8C437D24D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4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Proposed Solution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AutoShape 2" descr="Inline image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10" descr="https://www.uni-marburg.de/sprachenzentrum/sprachen-tandem/icons/classic-timer-ic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92C47B-7CFE-D081-89CC-AA8AD6878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1800">
                <a:ea typeface="+mn-lt"/>
                <a:cs typeface="+mn-lt"/>
              </a:rPr>
              <a:t>Prompt Input Interface: Users provide a short prompt (e.g., “How </a:t>
            </a:r>
            <a:r>
              <a:rPr lang="en-US" sz="1800" err="1">
                <a:ea typeface="+mn-lt"/>
                <a:cs typeface="+mn-lt"/>
              </a:rPr>
              <a:t>GenAI</a:t>
            </a:r>
            <a:r>
              <a:rPr lang="en-US" sz="1800">
                <a:ea typeface="+mn-lt"/>
                <a:cs typeface="+mn-lt"/>
              </a:rPr>
              <a:t> is changing education”)</a:t>
            </a:r>
            <a:endParaRPr lang="en-US" sz="1800">
              <a:cs typeface="Arial"/>
            </a:endParaRPr>
          </a:p>
          <a:p>
            <a:r>
              <a:rPr lang="en-US" sz="1800">
                <a:ea typeface="+mn-lt"/>
                <a:cs typeface="+mn-lt"/>
              </a:rPr>
              <a:t>Planning Module:</a:t>
            </a:r>
            <a:endParaRPr lang="en-US" sz="180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sz="1400">
                <a:ea typeface="+mn-lt"/>
                <a:cs typeface="+mn-lt"/>
              </a:rPr>
              <a:t>LLM generates an initial outline</a:t>
            </a:r>
            <a:endParaRPr lang="en-US" sz="140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sz="1400">
                <a:ea typeface="+mn-lt"/>
                <a:cs typeface="+mn-lt"/>
              </a:rPr>
              <a:t>Users can adjust structure, key points</a:t>
            </a:r>
            <a:endParaRPr lang="en-US" sz="1400">
              <a:cs typeface="Arial"/>
            </a:endParaRPr>
          </a:p>
          <a:p>
            <a:r>
              <a:rPr lang="en-US" sz="1800">
                <a:ea typeface="+mn-lt"/>
                <a:cs typeface="+mn-lt"/>
              </a:rPr>
              <a:t>Drafting Module:</a:t>
            </a:r>
            <a:endParaRPr lang="en-US" sz="1800">
              <a:cs typeface="Arial"/>
            </a:endParaRPr>
          </a:p>
          <a:p>
            <a:pPr lvl="1">
              <a:buFont typeface="Courier New"/>
              <a:buChar char="–"/>
            </a:pPr>
            <a:r>
              <a:rPr lang="en-US" sz="1400">
                <a:ea typeface="+mn-lt"/>
                <a:cs typeface="+mn-lt"/>
              </a:rPr>
              <a:t>Section-by-section generation using user-edited outlines</a:t>
            </a:r>
            <a:endParaRPr lang="en-US" sz="1400">
              <a:cs typeface="Arial"/>
            </a:endParaRPr>
          </a:p>
          <a:p>
            <a:pPr lvl="1">
              <a:buFont typeface="Courier New"/>
              <a:buChar char="–"/>
            </a:pPr>
            <a:r>
              <a:rPr lang="en-US" sz="1400">
                <a:ea typeface="+mn-lt"/>
                <a:cs typeface="+mn-lt"/>
              </a:rPr>
              <a:t>Allows tone and style customization</a:t>
            </a:r>
          </a:p>
          <a:p>
            <a:pPr>
              <a:buFont typeface="Courier New"/>
              <a:buChar char="•"/>
            </a:pPr>
            <a:r>
              <a:rPr lang="en-US" sz="1800">
                <a:ea typeface="+mn-lt"/>
                <a:cs typeface="+mn-lt"/>
              </a:rPr>
              <a:t>Architecture Stack</a:t>
            </a:r>
            <a:endParaRPr lang="en-US" sz="1800">
              <a:cs typeface="+mn-lt"/>
            </a:endParaRPr>
          </a:p>
          <a:p>
            <a:pPr lvl="1">
              <a:buFont typeface="Courier New"/>
              <a:buChar char="–"/>
            </a:pPr>
            <a:r>
              <a:rPr lang="en-US" sz="1400">
                <a:ea typeface="+mn-lt"/>
                <a:cs typeface="+mn-lt"/>
              </a:rPr>
              <a:t>Frontend: React </a:t>
            </a:r>
            <a:endParaRPr lang="en-US">
              <a:cs typeface="Arial"/>
            </a:endParaRPr>
          </a:p>
          <a:p>
            <a:pPr lvl="1">
              <a:buFont typeface="Courier New"/>
              <a:buChar char="–"/>
            </a:pPr>
            <a:r>
              <a:rPr lang="en-US" sz="1400">
                <a:ea typeface="+mn-lt"/>
                <a:cs typeface="+mn-lt"/>
              </a:rPr>
              <a:t>Backend: Node.js </a:t>
            </a:r>
            <a:endParaRPr lang="en-US">
              <a:cs typeface="Arial"/>
            </a:endParaRPr>
          </a:p>
          <a:p>
            <a:pPr lvl="1">
              <a:buFont typeface="Courier New"/>
              <a:buChar char="–"/>
            </a:pPr>
            <a:r>
              <a:rPr lang="en-US" sz="1400">
                <a:ea typeface="+mn-lt"/>
                <a:cs typeface="+mn-lt"/>
              </a:rPr>
              <a:t>LLM API: OpenAI GPT-4.1</a:t>
            </a:r>
            <a:endParaRPr lang="en-US" sz="1400">
              <a:cs typeface="Arial"/>
            </a:endParaRPr>
          </a:p>
          <a:p>
            <a:pPr lvl="1">
              <a:buFont typeface="Courier New"/>
              <a:buChar char="–"/>
            </a:pPr>
            <a:r>
              <a:rPr lang="en-US" sz="1400">
                <a:ea typeface="+mn-lt"/>
                <a:cs typeface="+mn-lt"/>
              </a:rPr>
              <a:t>Storage: </a:t>
            </a:r>
            <a:r>
              <a:rPr lang="en-US" sz="1400" err="1">
                <a:ea typeface="+mn-lt"/>
                <a:cs typeface="+mn-lt"/>
              </a:rPr>
              <a:t>ocal</a:t>
            </a:r>
            <a:r>
              <a:rPr lang="en-US" sz="1400">
                <a:ea typeface="+mn-lt"/>
                <a:cs typeface="+mn-lt"/>
              </a:rPr>
              <a:t> JSON for prototypes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577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Implementation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458783" y="1712352"/>
            <a:ext cx="8229600" cy="4419600"/>
          </a:xfrm>
        </p:spPr>
        <p:txBody>
          <a:bodyPr/>
          <a:lstStyle/>
          <a:p>
            <a:pPr eaLnBrk="1" hangingPunct="1">
              <a:buFont typeface="Wingdings" charset="0"/>
              <a:buChar char="•"/>
              <a:defRPr/>
            </a:pP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User Input Interface</a:t>
            </a:r>
            <a:endParaRPr lang="en-US" altLang="zh-TW" sz="2000">
              <a:solidFill>
                <a:srgbClr val="4D4D4D"/>
              </a:solidFill>
              <a:latin typeface="Georgia" charset="0"/>
              <a:ea typeface="新細明體" charset="0"/>
              <a:cs typeface="+mn-lt"/>
            </a:endParaRPr>
          </a:p>
          <a:p>
            <a:pPr lvl="1">
              <a:buFont typeface="Courier New" charset="0"/>
              <a:buChar char="o"/>
              <a:defRPr/>
            </a:pPr>
            <a:r>
              <a:rPr lang="en-US" sz="1600">
                <a:solidFill>
                  <a:srgbClr val="4D4D4D"/>
                </a:solidFill>
                <a:ea typeface="+mn-lt"/>
                <a:cs typeface="+mn-lt"/>
              </a:rPr>
              <a:t>Topic: Free text input (e.g., "Best AI Tools for Blogging")</a:t>
            </a:r>
            <a:endParaRPr lang="en-US">
              <a:cs typeface="Arial"/>
            </a:endParaRPr>
          </a:p>
          <a:p>
            <a:pPr lvl="1">
              <a:buFont typeface="Courier New" charset="0"/>
              <a:buChar char="o"/>
              <a:defRPr/>
            </a:pPr>
            <a:r>
              <a:rPr lang="en-US" sz="1600">
                <a:solidFill>
                  <a:srgbClr val="4D4D4D"/>
                </a:solidFill>
                <a:ea typeface="+mn-lt"/>
                <a:cs typeface="+mn-lt"/>
              </a:rPr>
              <a:t>Keywords: Optional list (e.g., "SEO-optimized", "ai blog writers")</a:t>
            </a:r>
            <a:endParaRPr lang="en-US">
              <a:cs typeface="Arial"/>
            </a:endParaRPr>
          </a:p>
          <a:p>
            <a:pPr lvl="1">
              <a:buFont typeface="Courier New" charset="0"/>
              <a:buChar char="o"/>
              <a:defRPr/>
            </a:pPr>
            <a:r>
              <a:rPr lang="en-US" sz="1600">
                <a:solidFill>
                  <a:srgbClr val="4D4D4D"/>
                </a:solidFill>
                <a:ea typeface="+mn-lt"/>
                <a:cs typeface="+mn-lt"/>
              </a:rPr>
              <a:t>Background Info: Optional facts (e.g., technology, pricing, stats)</a:t>
            </a:r>
            <a:endParaRPr lang="en-US">
              <a:cs typeface="Arial"/>
            </a:endParaRPr>
          </a:p>
          <a:p>
            <a:pPr lvl="1">
              <a:buFont typeface="Courier New" charset="0"/>
              <a:buChar char="o"/>
              <a:defRPr/>
            </a:pPr>
            <a:r>
              <a:rPr lang="en-US" sz="1600">
                <a:solidFill>
                  <a:srgbClr val="4D4D4D"/>
                </a:solidFill>
                <a:ea typeface="+mn-lt"/>
                <a:cs typeface="+mn-lt"/>
              </a:rPr>
              <a:t>Writing Style: Freeform tone input (e.g., "News/information review type")</a:t>
            </a:r>
            <a:endParaRPr lang="en-US">
              <a:cs typeface="Arial"/>
            </a:endParaRPr>
          </a:p>
          <a:p>
            <a:pPr lvl="1">
              <a:lnSpc>
                <a:spcPct val="150000"/>
              </a:lnSpc>
              <a:buFont typeface="Courier New" charset="0"/>
              <a:buChar char="o"/>
              <a:defRPr/>
            </a:pPr>
            <a:r>
              <a:rPr lang="en-US" sz="1600">
                <a:solidFill>
                  <a:srgbClr val="4D4D4D"/>
                </a:solidFill>
                <a:ea typeface="+mn-lt"/>
                <a:cs typeface="+mn-lt"/>
              </a:rPr>
              <a:t>Word Count: Slider to select target length (e.g., 3000 words)</a:t>
            </a:r>
          </a:p>
          <a:p>
            <a:pPr>
              <a:buFont typeface="Wingdings" charset="0"/>
              <a:buChar char="•"/>
              <a:defRPr/>
            </a:pP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Frontend (React)</a:t>
            </a:r>
            <a:endParaRPr lang="en-US" sz="2000">
              <a:solidFill>
                <a:srgbClr val="4D4D4D"/>
              </a:solidFill>
              <a:cs typeface="Arial"/>
            </a:endParaRPr>
          </a:p>
          <a:p>
            <a:pPr>
              <a:buFont typeface="Wingdings" charset="0"/>
              <a:buChar char="•"/>
              <a:defRPr/>
            </a:pP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Form collects structured input</a:t>
            </a:r>
            <a:endParaRPr lang="en-US"/>
          </a:p>
          <a:p>
            <a:pPr>
              <a:buFont typeface="Wingdings" charset="0"/>
              <a:buChar char="•"/>
              <a:defRPr/>
            </a:pP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Sends input as a JSON object to backend via API</a:t>
            </a:r>
            <a:endParaRPr lang="en-US"/>
          </a:p>
          <a:p>
            <a:pPr>
              <a:buFont typeface="Wingdings" charset="0"/>
              <a:buChar char="•"/>
              <a:defRPr/>
            </a:pP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Backend (Node.js)</a:t>
            </a:r>
            <a:endParaRPr lang="en-US"/>
          </a:p>
          <a:p>
            <a:pPr marL="0" indent="0">
              <a:buNone/>
              <a:defRPr/>
            </a:pPr>
            <a:endParaRPr lang="en-US" sz="2000">
              <a:solidFill>
                <a:srgbClr val="4D4D4D"/>
              </a:solidFill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8</a:t>
            </a:fld>
            <a:endParaRPr lang="en-US" altLang="zh-TW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Results</a:t>
            </a:r>
          </a:p>
        </p:txBody>
      </p:sp>
      <p:pic>
        <p:nvPicPr>
          <p:cNvPr id="3" name="内容占位符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D4524E1D-DA26-CDB4-3D49-FDEAC239D23C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36716" y="1716108"/>
            <a:ext cx="8155133" cy="4433166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9885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FB68F-61EA-EDDD-83DD-172FF7727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>
            <a:extLst>
              <a:ext uri="{FF2B5EF4-FFF2-40B4-BE49-F238E27FC236}">
                <a16:creationId xmlns:a16="http://schemas.microsoft.com/office/drawing/2014/main" id="{2512A1CB-C9EF-90EB-71FB-43F2C8EC3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B3C258-60BC-729B-187B-D7221DE9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10</a:t>
            </a:fld>
            <a:endParaRPr lang="en-US" altLang="zh-TW"/>
          </a:p>
        </p:txBody>
      </p:sp>
      <p:pic>
        <p:nvPicPr>
          <p:cNvPr id="6" name="内容占位符 5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AC666D06-1D89-67F0-ADBB-1D80C3CAB549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12506" y="1714456"/>
            <a:ext cx="8229600" cy="4495889"/>
          </a:xfrm>
        </p:spPr>
      </p:pic>
    </p:spTree>
    <p:extLst>
      <p:ext uri="{BB962C8B-B14F-4D97-AF65-F5344CB8AC3E}">
        <p14:creationId xmlns:p14="http://schemas.microsoft.com/office/powerpoint/2010/main" val="3389211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5C659-4A25-6177-B644-25857423A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>
            <a:extLst>
              <a:ext uri="{FF2B5EF4-FFF2-40B4-BE49-F238E27FC236}">
                <a16:creationId xmlns:a16="http://schemas.microsoft.com/office/drawing/2014/main" id="{2364A692-D13F-C3B1-24D2-F156C5D06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D44A1-0095-A878-C9E5-A7DD0BAC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11</a:t>
            </a:fld>
            <a:endParaRPr lang="en-US" altLang="zh-TW"/>
          </a:p>
        </p:txBody>
      </p:sp>
      <p:pic>
        <p:nvPicPr>
          <p:cNvPr id="6" name="内容占位符 5" descr="文本&#10;&#10;AI 生成的内容可能不正确。">
            <a:extLst>
              <a:ext uri="{FF2B5EF4-FFF2-40B4-BE49-F238E27FC236}">
                <a16:creationId xmlns:a16="http://schemas.microsoft.com/office/drawing/2014/main" id="{CB284BF4-3167-F2AE-D439-F0767A5CDABC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713726"/>
            <a:ext cx="8229600" cy="4497348"/>
          </a:xfrm>
        </p:spPr>
      </p:pic>
    </p:spTree>
    <p:extLst>
      <p:ext uri="{BB962C8B-B14F-4D97-AF65-F5344CB8AC3E}">
        <p14:creationId xmlns:p14="http://schemas.microsoft.com/office/powerpoint/2010/main" val="1621908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25D2C-DD61-2A91-2260-B8146AE8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>
            <a:extLst>
              <a:ext uri="{FF2B5EF4-FFF2-40B4-BE49-F238E27FC236}">
                <a16:creationId xmlns:a16="http://schemas.microsoft.com/office/drawing/2014/main" id="{5BDAA65B-8958-30E2-16E9-8866D55D0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0FDACB-E786-04D7-94C7-783CCF0F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12</a:t>
            </a:fld>
            <a:endParaRPr lang="en-US" altLang="zh-TW"/>
          </a:p>
        </p:txBody>
      </p:sp>
      <p:pic>
        <p:nvPicPr>
          <p:cNvPr id="3" name="内容占位符 2" descr="图形用户界面&#10;&#10;AI 生成的内容可能不正确。">
            <a:extLst>
              <a:ext uri="{FF2B5EF4-FFF2-40B4-BE49-F238E27FC236}">
                <a16:creationId xmlns:a16="http://schemas.microsoft.com/office/drawing/2014/main" id="{A713B600-8A57-817B-13F7-82F16471FB9C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713803"/>
            <a:ext cx="8229600" cy="4492673"/>
          </a:xfrm>
        </p:spPr>
      </p:pic>
    </p:spTree>
    <p:extLst>
      <p:ext uri="{BB962C8B-B14F-4D97-AF65-F5344CB8AC3E}">
        <p14:creationId xmlns:p14="http://schemas.microsoft.com/office/powerpoint/2010/main" val="3239765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A936F-05A0-63C3-0EB8-ADA2E7F3D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>
            <a:extLst>
              <a:ext uri="{FF2B5EF4-FFF2-40B4-BE49-F238E27FC236}">
                <a16:creationId xmlns:a16="http://schemas.microsoft.com/office/drawing/2014/main" id="{6B573A8F-E7FA-43A8-A023-5F8A8CD41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251F2B-7281-9ADE-BA1D-E2C0FE49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13</a:t>
            </a:fld>
            <a:endParaRPr lang="en-US" altLang="zh-TW"/>
          </a:p>
        </p:txBody>
      </p:sp>
      <p:pic>
        <p:nvPicPr>
          <p:cNvPr id="3" name="内容占位符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8E08922-1CE1-E907-743C-986A18897A57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715334"/>
            <a:ext cx="8229600" cy="4494133"/>
          </a:xfrm>
        </p:spPr>
      </p:pic>
    </p:spTree>
    <p:extLst>
      <p:ext uri="{BB962C8B-B14F-4D97-AF65-F5344CB8AC3E}">
        <p14:creationId xmlns:p14="http://schemas.microsoft.com/office/powerpoint/2010/main" val="151995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5E3F-5997-01C4-6686-7DFBAEC9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>
            <a:extLst>
              <a:ext uri="{FF2B5EF4-FFF2-40B4-BE49-F238E27FC236}">
                <a16:creationId xmlns:a16="http://schemas.microsoft.com/office/drawing/2014/main" id="{D01E2D40-E288-09A6-9125-FCD9AD853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D10FE6-E217-B9D9-CBB5-5CDEBEC2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14</a:t>
            </a:fld>
            <a:endParaRPr lang="en-US" altLang="zh-TW"/>
          </a:p>
        </p:txBody>
      </p:sp>
      <p:pic>
        <p:nvPicPr>
          <p:cNvPr id="9" name="Content Placeholder 8" descr="A graph of a number of green bars&#10;&#10;AI-generated content may be incorrect.">
            <a:extLst>
              <a:ext uri="{FF2B5EF4-FFF2-40B4-BE49-F238E27FC236}">
                <a16:creationId xmlns:a16="http://schemas.microsoft.com/office/drawing/2014/main" id="{B5BF7553-6EC6-3E5D-CA40-04D0F4AC8660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912962" y="1588407"/>
            <a:ext cx="7318075" cy="4539513"/>
          </a:xfrm>
        </p:spPr>
      </p:pic>
    </p:spTree>
    <p:extLst>
      <p:ext uri="{BB962C8B-B14F-4D97-AF65-F5344CB8AC3E}">
        <p14:creationId xmlns:p14="http://schemas.microsoft.com/office/powerpoint/2010/main" val="3532008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Future Work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B218F6-E854-7800-0798-9F17ECD4F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14603-33E6-AEE7-70C5-F48038A0F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>
                <a:ea typeface="+mn-lt"/>
                <a:cs typeface="+mn-lt"/>
              </a:rPr>
              <a:t>Outline Preview Feature: Allow users to view and adjust an auto-generated outline before full blog generation.</a:t>
            </a:r>
            <a:endParaRPr lang="en-US" sz="1800">
              <a:cs typeface="Arial"/>
            </a:endParaRPr>
          </a:p>
          <a:p>
            <a:r>
              <a:rPr lang="en-US" sz="1800">
                <a:ea typeface="+mn-lt"/>
                <a:cs typeface="+mn-lt"/>
              </a:rPr>
              <a:t>Tone Calibration Tool: Let users fine-tune tone dynamically (e.g., slider for formal vs. casual).</a:t>
            </a:r>
            <a:endParaRPr lang="en-US" sz="1800">
              <a:cs typeface="Arial"/>
            </a:endParaRPr>
          </a:p>
          <a:p>
            <a:r>
              <a:rPr lang="en-US" sz="1800">
                <a:ea typeface="+mn-lt"/>
                <a:cs typeface="+mn-lt"/>
              </a:rPr>
              <a:t>Multi-language Support: Expand to support non-English blog generation using multilingual LLMs.</a:t>
            </a:r>
            <a:endParaRPr lang="en-US" sz="1800">
              <a:cs typeface="Arial"/>
            </a:endParaRPr>
          </a:p>
          <a:p>
            <a:r>
              <a:rPr lang="en-US" sz="1800">
                <a:ea typeface="+mn-lt"/>
                <a:cs typeface="+mn-lt"/>
              </a:rPr>
              <a:t>Factual Consistency Checks: Integrate RAG (retrieval-augmented generation) to reduce hallucination in factual topics.</a:t>
            </a:r>
            <a:endParaRPr lang="en-US" sz="1800">
              <a:cs typeface="Arial"/>
            </a:endParaRPr>
          </a:p>
          <a:p>
            <a:r>
              <a:rPr lang="en-US" sz="1800">
                <a:ea typeface="+mn-lt"/>
                <a:cs typeface="+mn-lt"/>
              </a:rPr>
              <a:t>SEO Enhancements: Automatically embed meta descriptions, headings, and keywords for better discoverability.</a:t>
            </a:r>
            <a:endParaRPr lang="en-US" sz="1800">
              <a:cs typeface="Arial"/>
            </a:endParaRPr>
          </a:p>
          <a:p>
            <a:r>
              <a:rPr lang="en-US" sz="1800">
                <a:ea typeface="+mn-lt"/>
                <a:cs typeface="+mn-lt"/>
              </a:rPr>
              <a:t>User Feedback Loop: Collect post-generation feedback to fine-tune prompt templates and improve personalization.</a:t>
            </a:r>
            <a:endParaRPr lang="en-US" sz="1800"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15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15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revision>2</cp:revision>
  <cp:lastPrinted>2014-10-01T00:28:47Z</cp:lastPrinted>
  <dcterms:created xsi:type="dcterms:W3CDTF">2009-01-05T15:07:26Z</dcterms:created>
  <dcterms:modified xsi:type="dcterms:W3CDTF">2025-05-09T19:53:53Z</dcterms:modified>
</cp:coreProperties>
</file>