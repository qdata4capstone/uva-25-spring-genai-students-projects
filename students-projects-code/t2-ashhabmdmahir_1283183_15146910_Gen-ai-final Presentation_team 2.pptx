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9" r:id="rId3"/>
    <p:sldId id="262" r:id="rId4"/>
    <p:sldId id="260" r:id="rId5"/>
    <p:sldId id="268" r:id="rId6"/>
    <p:sldId id="304" r:id="rId7"/>
    <p:sldId id="290" r:id="rId8"/>
    <p:sldId id="306" r:id="rId9"/>
    <p:sldId id="310" r:id="rId10"/>
    <p:sldId id="311" r:id="rId11"/>
    <p:sldId id="307" r:id="rId12"/>
    <p:sldId id="308" r:id="rId13"/>
    <p:sldId id="314" r:id="rId14"/>
    <p:sldId id="286" r:id="rId15"/>
    <p:sldId id="305" r:id="rId16"/>
    <p:sldId id="312" r:id="rId17"/>
    <p:sldId id="309" r:id="rId18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003366"/>
    <a:srgbClr val="300448"/>
    <a:srgbClr val="000066"/>
    <a:srgbClr val="333399"/>
    <a:srgbClr val="6600CC"/>
    <a:srgbClr val="3366FF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B10171-761B-104A-8E89-E387266CE05D}" v="233" dt="2025-05-10T01:43:25.8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4F014-9A02-4370-98AF-8A4593A02C6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140A1D-0B06-4C79-9F26-2E2FB119E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195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PMingLiU" pitchFamily="18" charset="-120"/>
              </a:defRPr>
            </a:lvl1pPr>
          </a:lstStyle>
          <a:p>
            <a:fld id="{5D7F18D2-2977-429E-8B6D-22778A44E64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720294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3EEB0713-4CCC-4E3E-846C-FACD634EFBA6}" type="slidenum">
              <a:rPr lang="zh-TW" altLang="en-US" sz="1200">
                <a:ea typeface="PMingLiU" pitchFamily="18" charset="-120"/>
              </a:rPr>
              <a:pPr eaLnBrk="1" hangingPunct="1"/>
              <a:t>1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1220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2DF503E9-4B1D-4341-B837-151F396BAC41}" type="slidenum">
              <a:rPr lang="zh-TW" altLang="en-US" sz="1200">
                <a:ea typeface="PMingLiU" pitchFamily="18" charset="-120"/>
              </a:rPr>
              <a:pPr eaLnBrk="1" hangingPunct="1"/>
              <a:t>2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noProof="0">
                <a:latin typeface="Arial" pitchFamily="34" charset="0"/>
                <a:ea typeface="PMingLiU" pitchFamily="18" charset="-120"/>
              </a:rPr>
              <a:t>The motivation of this</a:t>
            </a:r>
            <a:r>
              <a:rPr lang="en-US" altLang="zh-CN" baseline="0" noProof="0">
                <a:latin typeface="Arial" pitchFamily="34" charset="0"/>
                <a:ea typeface="PMingLiU" pitchFamily="18" charset="-120"/>
              </a:rPr>
              <a:t> project</a:t>
            </a:r>
            <a:endParaRPr lang="zh-CN" altLang="en-US" noProof="0">
              <a:latin typeface="Arial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16358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7F18D2-2977-429E-8B6D-22778A44E64D}" type="slidenum">
              <a:rPr lang="zh-TW" altLang="en-US" smtClean="0"/>
              <a:pPr/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44056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7F18D2-2977-429E-8B6D-22778A44E64D}" type="slidenum">
              <a:rPr lang="zh-TW" altLang="en-US" smtClean="0"/>
              <a:pPr/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69274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07E23D78-CF54-4D4E-9A10-679B9CD3C531}" type="slidenum">
              <a:rPr lang="zh-TW" altLang="en-US" sz="1200">
                <a:ea typeface="PMingLiU" pitchFamily="18" charset="-120"/>
              </a:rPr>
              <a:pPr eaLnBrk="1" hangingPunct="1"/>
              <a:t>5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>
                <a:latin typeface="Arial" pitchFamily="34" charset="0"/>
                <a:ea typeface="PMingLiU" pitchFamily="18" charset="-120"/>
              </a:rPr>
              <a:t>Here, we make the claim of this project.</a:t>
            </a:r>
            <a:endParaRPr lang="zh-TW" altLang="en-US">
              <a:latin typeface="Arial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11335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US"/>
              <a:t>Here</a:t>
            </a:r>
            <a:r>
              <a:rPr lang="en-US" baseline="0"/>
              <a:t> is our proposed solution.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7F18D2-2977-429E-8B6D-22778A44E64D}" type="slidenum">
              <a:rPr lang="zh-TW" altLang="en-US" smtClean="0"/>
              <a:pPr/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13623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7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1946370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8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1947272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3371B-E201-2BB0-738C-B9B95C439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FBFD41BE-6EC3-ED05-2F69-D15F974749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9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C73D8552-BDCC-2A95-643E-E056CB0BE2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4A3B6D84-CA30-6EF9-7873-86208B87D9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632649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11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1639256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12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537301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777D2-D5A6-9960-E795-600B37932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A1167950-50FE-4101-7E49-AC7DF5313E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13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6B223249-0BAB-86CB-057E-C6D6893EC2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2DF296E7-1DB1-7B7E-7170-033A29A41C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29726557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07E23D78-CF54-4D4E-9A10-679B9CD3C531}" type="slidenum">
              <a:rPr lang="zh-TW" altLang="en-US" sz="1200">
                <a:ea typeface="PMingLiU" pitchFamily="18" charset="-120"/>
              </a:rPr>
              <a:pPr eaLnBrk="1" hangingPunct="1"/>
              <a:t>17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>
                <a:latin typeface="Arial" pitchFamily="34" charset="0"/>
                <a:ea typeface="PMingLiU" pitchFamily="18" charset="-120"/>
              </a:rPr>
              <a:t>Here, we make the claim of this project.</a:t>
            </a:r>
            <a:endParaRPr lang="zh-TW" altLang="en-US">
              <a:latin typeface="Arial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4447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0BA4C9-2F9F-4941-AE8E-AC62D4D2183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18953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714D2E-7875-44F7-AD06-272F94F3FDC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70567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5E09B8-D849-4C92-A970-16FA4838A42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22180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9270A9-8D84-49FD-B2CD-C3D2813EE56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92272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497711-EAFB-4E5A-A951-28BB7421965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67382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B9F96C-5FBF-454D-AED9-6FBC07E2617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14993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836DE4-103E-47E4-9B1A-63D8DBEAA21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05156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B7166F-8A7E-4E15-882C-A9C18C7F8E9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3268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641FC1-14D6-4CDA-B301-C72ECEE19E8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92883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410D2D-20AB-4FDA-A7D1-25C10B534DA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37638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8BEF21-3D8E-49E2-8FE9-D5A02E038BC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95077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5760C2-38E4-496F-933D-2305F303D3F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9726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PMingLiU" pitchFamily="18" charset="-120"/>
              </a:defRPr>
            </a:lvl1pPr>
          </a:lstStyle>
          <a:p>
            <a:fld id="{533C024B-1461-4457-9A28-300117C30C91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402.13457" TargetMode="Externa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8"/>
          <p:cNvSpPr txBox="1">
            <a:spLocks noChangeArrowheads="1"/>
          </p:cNvSpPr>
          <p:nvPr/>
        </p:nvSpPr>
        <p:spPr bwMode="auto">
          <a:xfrm>
            <a:off x="152400" y="2590800"/>
            <a:ext cx="88392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3600">
                <a:solidFill>
                  <a:srgbClr val="1D1C1D"/>
                </a:solidFill>
                <a:latin typeface="Georgia"/>
                <a:ea typeface="新細明體"/>
              </a:rPr>
              <a:t>Social Media Guidance with </a:t>
            </a:r>
            <a:r>
              <a:rPr lang="en-US" sz="3600" err="1">
                <a:solidFill>
                  <a:srgbClr val="1D1C1D"/>
                </a:solidFill>
                <a:latin typeface="Georgia"/>
                <a:ea typeface="新細明體"/>
              </a:rPr>
              <a:t>GenAI</a:t>
            </a:r>
            <a:r>
              <a:rPr lang="en-US" sz="3600">
                <a:solidFill>
                  <a:srgbClr val="1D1C1D"/>
                </a:solidFill>
                <a:latin typeface="Georgia"/>
                <a:ea typeface="新細明體"/>
              </a:rPr>
              <a:t> Utilizing Jailbreaking Techniques</a:t>
            </a:r>
            <a:endParaRPr lang="en-US" sz="3600">
              <a:solidFill>
                <a:srgbClr val="000000"/>
              </a:solidFill>
              <a:latin typeface="Georgia"/>
              <a:ea typeface="新細明體"/>
            </a:endParaRPr>
          </a:p>
          <a:p>
            <a:pPr algn="ctr">
              <a:spcBef>
                <a:spcPct val="50000"/>
              </a:spcBef>
              <a:defRPr/>
            </a:pPr>
            <a:endParaRPr lang="en-US" altLang="zh-TW" sz="3600">
              <a:solidFill>
                <a:srgbClr val="4D4D4D"/>
              </a:solidFill>
              <a:latin typeface="Georgia"/>
              <a:ea typeface="新細明體"/>
            </a:endParaRPr>
          </a:p>
        </p:txBody>
      </p:sp>
      <p:sp>
        <p:nvSpPr>
          <p:cNvPr id="2051" name="Text Box 9"/>
          <p:cNvSpPr txBox="1">
            <a:spLocks noChangeArrowheads="1"/>
          </p:cNvSpPr>
          <p:nvPr/>
        </p:nvSpPr>
        <p:spPr bwMode="auto">
          <a:xfrm>
            <a:off x="152400" y="3962400"/>
            <a:ext cx="8839200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200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Radowan Mahmud Redoy (snf4za)</a:t>
            </a:r>
            <a:br>
              <a:rPr lang="en-US" sz="2200">
                <a:latin typeface="Georgia"/>
                <a:ea typeface="新細明體" charset="0"/>
                <a:cs typeface="新細明體" charset="0"/>
              </a:rPr>
            </a:br>
            <a:r>
              <a:rPr lang="en-US" sz="2200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Md Mahir Ashab (ftm2nu)</a:t>
            </a:r>
            <a:endParaRPr lang="en-US" sz="2200">
              <a:solidFill>
                <a:srgbClr val="000000"/>
              </a:solidFill>
              <a:latin typeface="Georgia"/>
              <a:ea typeface="新細明體"/>
              <a:cs typeface="新細明體" charset="0"/>
            </a:endParaRPr>
          </a:p>
          <a:p>
            <a:pPr algn="ctr">
              <a:spcBef>
                <a:spcPct val="50000"/>
              </a:spcBef>
              <a:defRPr/>
            </a:pPr>
            <a:endParaRPr lang="en-US" altLang="zh-TW" sz="2200">
              <a:solidFill>
                <a:srgbClr val="4D4D4D"/>
              </a:solidFill>
              <a:latin typeface="Georgia" charset="0"/>
              <a:ea typeface="新細明體" charset="0"/>
              <a:cs typeface="新細明體" charset="0"/>
            </a:endParaRPr>
          </a:p>
        </p:txBody>
      </p:sp>
      <p:sp>
        <p:nvSpPr>
          <p:cNvPr id="2052" name="Text Box 9"/>
          <p:cNvSpPr txBox="1">
            <a:spLocks noChangeArrowheads="1"/>
          </p:cNvSpPr>
          <p:nvPr/>
        </p:nvSpPr>
        <p:spPr bwMode="auto">
          <a:xfrm>
            <a:off x="151941" y="4894702"/>
            <a:ext cx="8839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TW" sz="2200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4/28/2025</a:t>
            </a:r>
            <a:endParaRPr lang="en-US" altLang="zh-TW" sz="2200">
              <a:solidFill>
                <a:srgbClr val="4D4D4D"/>
              </a:solidFill>
              <a:latin typeface="Georgia" charset="0"/>
              <a:ea typeface="新細明體" charset="0"/>
              <a:cs typeface="新細明體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A4C9-2F9F-4941-AE8E-AC62D4D21837}" type="slidenum">
              <a:rPr lang="zh-TW" altLang="en-US" smtClean="0"/>
              <a:pPr/>
              <a:t>1</a:t>
            </a:fld>
            <a:endParaRPr lang="en-US" altLang="zh-TW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zh-CN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Motivation</a:t>
            </a:r>
            <a:endParaRPr lang="en-US" altLang="zh-TW" sz="360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2</a:t>
            </a:fld>
            <a:endParaRPr lang="en-US" altLang="zh-TW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BC92BC-1835-543A-190D-9CB98C2935A8}"/>
              </a:ext>
            </a:extLst>
          </p:cNvPr>
          <p:cNvSpPr txBox="1"/>
          <p:nvPr/>
        </p:nvSpPr>
        <p:spPr>
          <a:xfrm>
            <a:off x="530186" y="1804012"/>
            <a:ext cx="7883945" cy="39518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r>
              <a:rPr lang="en-US" sz="2400">
                <a:latin typeface="Arial"/>
                <a:ea typeface="ＭＳ Ｐゴシック"/>
                <a:cs typeface="Arial"/>
              </a:rPr>
              <a:t>Problem Definition:</a:t>
            </a:r>
          </a:p>
          <a:p>
            <a:pPr marL="742950" lvl="1" indent="-285750">
              <a:spcBef>
                <a:spcPct val="20000"/>
              </a:spcBef>
              <a:buFont typeface="Arial,Sans-Serif"/>
              <a:buChar char="•"/>
            </a:pPr>
            <a:r>
              <a:rPr lang="en-US" sz="2000">
                <a:latin typeface="Arial"/>
                <a:ea typeface="ＭＳ Ｐゴシック"/>
                <a:cs typeface="Arial"/>
              </a:rPr>
              <a:t>Social media posts often misunderstood or flagged due to toxicity and guideline violations</a:t>
            </a:r>
            <a:r>
              <a:rPr lang="en-US" sz="1600">
                <a:latin typeface="Arial"/>
                <a:ea typeface="ＭＳ Ｐゴシック"/>
                <a:cs typeface="Arial"/>
              </a:rPr>
              <a:t>.</a:t>
            </a:r>
          </a:p>
          <a:p>
            <a:pPr marL="742950" lvl="1" indent="-285750">
              <a:spcBef>
                <a:spcPct val="20000"/>
              </a:spcBef>
              <a:buFont typeface="Arial,Sans-Serif"/>
              <a:buChar char="•"/>
            </a:pPr>
            <a:r>
              <a:rPr lang="en-US" sz="2000">
                <a:cs typeface="Arial"/>
              </a:rPr>
              <a:t>Challenges: Rural users face difficulties in adapting their content.</a:t>
            </a:r>
          </a:p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endParaRPr lang="en-US" sz="2000">
              <a:cs typeface="Arial"/>
            </a:endParaRPr>
          </a:p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r>
              <a:rPr lang="en-US" sz="2400">
                <a:latin typeface="Arial"/>
                <a:ea typeface="ＭＳ Ｐゴシック"/>
                <a:cs typeface="Arial"/>
              </a:rPr>
              <a:t>Motivation:</a:t>
            </a:r>
          </a:p>
          <a:p>
            <a:pPr marL="742950" lvl="1" indent="-285750">
              <a:spcBef>
                <a:spcPct val="20000"/>
              </a:spcBef>
              <a:buFont typeface="Arial,Sans-Serif"/>
              <a:buChar char="•"/>
            </a:pPr>
            <a:r>
              <a:rPr lang="en-US" sz="2000">
                <a:latin typeface="Arial"/>
                <a:ea typeface="ＭＳ Ｐゴシック"/>
                <a:cs typeface="Arial"/>
              </a:rPr>
              <a:t>Real-life examples from political instability and flood relief in Bangladesh.</a:t>
            </a:r>
          </a:p>
          <a:p>
            <a:pPr marL="742950" lvl="1" indent="-285750">
              <a:spcBef>
                <a:spcPct val="20000"/>
              </a:spcBef>
              <a:buFont typeface="Arial,Sans-Serif"/>
              <a:buChar char="•"/>
            </a:pPr>
            <a:r>
              <a:rPr lang="en-US" sz="2000">
                <a:cs typeface="Arial"/>
              </a:rPr>
              <a:t>Importance of enabling users to better navigate social media.</a:t>
            </a:r>
          </a:p>
          <a:p>
            <a:pPr algn="l"/>
            <a:endParaRPr lang="en-US"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altLang="ja-JP" sz="3600">
                <a:solidFill>
                  <a:srgbClr val="4D4D4D"/>
                </a:solidFill>
                <a:latin typeface="Georgia"/>
                <a:ea typeface="PMingLiU"/>
              </a:rPr>
              <a:t>Background</a:t>
            </a:r>
            <a:endParaRPr lang="en-US"/>
          </a:p>
        </p:txBody>
      </p:sp>
      <p:pic>
        <p:nvPicPr>
          <p:cNvPr id="2" name="Picture 1" descr="A screenshot of a phone&#10;&#10;Description automatically generated">
            <a:extLst>
              <a:ext uri="{FF2B5EF4-FFF2-40B4-BE49-F238E27FC236}">
                <a16:creationId xmlns:a16="http://schemas.microsoft.com/office/drawing/2014/main" id="{F495AC67-FB8D-0F4C-3345-DE4CFA673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092" y="1488597"/>
            <a:ext cx="4800600" cy="5133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altLang="zh-TW" sz="36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Related Work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4</a:t>
            </a:fld>
            <a:endParaRPr lang="en-US" altLang="zh-TW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6C0910-1B63-098E-DDD5-690CD41BCEF6}"/>
              </a:ext>
            </a:extLst>
          </p:cNvPr>
          <p:cNvSpPr txBox="1"/>
          <p:nvPr/>
        </p:nvSpPr>
        <p:spPr>
          <a:xfrm>
            <a:off x="801604" y="1711363"/>
            <a:ext cx="7545721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3200">
                <a:latin typeface="Aptos Display"/>
                <a:ea typeface="ＭＳ Ｐゴシック"/>
              </a:rPr>
              <a:t>A Comprehensive Study of Jailbreak Attack versus Defense for Large Language Models[1]</a:t>
            </a:r>
            <a:endParaRPr lang="en-US"/>
          </a:p>
          <a:p>
            <a:pPr marL="457200" indent="-457200">
              <a:buFont typeface="Arial"/>
              <a:buChar char="•"/>
            </a:pPr>
            <a:endParaRPr lang="en-US" sz="3200">
              <a:latin typeface="Aptos Display"/>
            </a:endParaRPr>
          </a:p>
          <a:p>
            <a:pPr marL="457200" indent="-457200">
              <a:buFont typeface="Arial"/>
              <a:buChar char="•"/>
            </a:pPr>
            <a:r>
              <a:rPr lang="en-US" sz="3200">
                <a:latin typeface="Arial"/>
                <a:ea typeface="ＭＳ Ｐゴシック"/>
                <a:cs typeface="Arial"/>
              </a:rPr>
              <a:t>Constitutional Classifiers: Defending against Universal Jailbreaks across Thousands of Hours of Red Teaming[2]</a:t>
            </a:r>
            <a:endParaRPr lang="en-US"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ja-JP" sz="3600">
                <a:solidFill>
                  <a:srgbClr val="4D4D4D"/>
                </a:solidFill>
                <a:latin typeface="Georgia"/>
                <a:ea typeface="PMingLiU"/>
              </a:rPr>
              <a:t>Claim / Target Task</a:t>
            </a:r>
            <a:endParaRPr lang="en-US" altLang="zh-TW" sz="3600">
              <a:solidFill>
                <a:srgbClr val="4D4D4D"/>
              </a:solidFill>
              <a:latin typeface="Georgia"/>
              <a:ea typeface="PMingLiU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5</a:t>
            </a:fld>
            <a:endParaRPr lang="en-US" altLang="zh-TW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6CD0D7-E1B7-A6A3-D44D-9004FF8B3BD2}"/>
              </a:ext>
            </a:extLst>
          </p:cNvPr>
          <p:cNvSpPr txBox="1"/>
          <p:nvPr/>
        </p:nvSpPr>
        <p:spPr>
          <a:xfrm>
            <a:off x="530186" y="1804012"/>
            <a:ext cx="7883945" cy="33978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r>
              <a:rPr lang="en-US" sz="2400">
                <a:latin typeface="Arial"/>
                <a:ea typeface="ＭＳ Ｐゴシック"/>
                <a:cs typeface="Arial"/>
              </a:rPr>
              <a:t>Shortage of existing dataset</a:t>
            </a:r>
            <a:endParaRPr lang="en-US" sz="2400">
              <a:cs typeface="Arial"/>
            </a:endParaRPr>
          </a:p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r>
              <a:rPr lang="en-US" sz="2400">
                <a:latin typeface="Arial"/>
                <a:ea typeface="ＭＳ Ｐゴシック"/>
                <a:cs typeface="Arial"/>
              </a:rPr>
              <a:t>Use LLM to generate synthetic rule violations</a:t>
            </a:r>
            <a:endParaRPr lang="en-US" sz="2400">
              <a:cs typeface="Arial"/>
            </a:endParaRPr>
          </a:p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r>
              <a:rPr lang="en-US" sz="2400">
                <a:latin typeface="Arial"/>
                <a:ea typeface="ＭＳ Ｐゴシック"/>
                <a:cs typeface="Arial"/>
              </a:rPr>
              <a:t>Train Small LLM on social media task</a:t>
            </a:r>
            <a:endParaRPr lang="en-US" sz="2400">
              <a:cs typeface="Arial"/>
            </a:endParaRPr>
          </a:p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r>
              <a:rPr lang="en-US" sz="2400">
                <a:latin typeface="Arial"/>
                <a:ea typeface="ＭＳ Ｐゴシック"/>
                <a:cs typeface="Arial"/>
              </a:rPr>
              <a:t>Generate usable demo module</a:t>
            </a:r>
            <a:endParaRPr lang="en-US" sz="2400">
              <a:cs typeface="Arial"/>
            </a:endParaRPr>
          </a:p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r>
              <a:rPr lang="en-US" sz="2400">
                <a:latin typeface="Arial"/>
                <a:ea typeface="ＭＳ Ｐゴシック"/>
                <a:cs typeface="Arial"/>
              </a:rPr>
              <a:t>Run human based evaluation</a:t>
            </a:r>
            <a:endParaRPr lang="en-US" sz="2400">
              <a:cs typeface="Arial"/>
            </a:endParaRPr>
          </a:p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r>
              <a:rPr lang="en-US" sz="2400">
                <a:latin typeface="Arial"/>
                <a:ea typeface="ＭＳ Ｐゴシック"/>
                <a:cs typeface="Arial"/>
              </a:rPr>
              <a:t>Metric based evaluation (F1 score, precision)</a:t>
            </a:r>
            <a:endParaRPr lang="en-US" sz="2400">
              <a:cs typeface="Arial"/>
            </a:endParaRPr>
          </a:p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endParaRPr lang="en-US" sz="2400">
              <a:cs typeface="Arial"/>
            </a:endParaRPr>
          </a:p>
          <a:p>
            <a:endParaRPr lang="en-US"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ja-JP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Proposed Solution</a:t>
            </a:r>
            <a:endParaRPr lang="en-US" altLang="zh-TW" sz="360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p:sp>
        <p:nvSpPr>
          <p:cNvPr id="2" name="AutoShape 2" descr="Inline image 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10" descr="https://www.uni-marburg.de/sprachenzentrum/sprachen-tandem/icons/classic-timer-ico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 descr="A diagram of a data flow&#10;&#10;AI-generated content may be incorrect.">
            <a:extLst>
              <a:ext uri="{FF2B5EF4-FFF2-40B4-BE49-F238E27FC236}">
                <a16:creationId xmlns:a16="http://schemas.microsoft.com/office/drawing/2014/main" id="{EC7DCBAD-79F8-42B6-68F7-1D04F894E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698" y="2170897"/>
            <a:ext cx="611505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773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Implementation</a:t>
            </a:r>
          </a:p>
        </p:txBody>
      </p:sp>
      <p:sp>
        <p:nvSpPr>
          <p:cNvPr id="3075" name="Content Placeholder 1"/>
          <p:cNvSpPr>
            <a:spLocks noGrp="1"/>
          </p:cNvSpPr>
          <p:nvPr>
            <p:ph/>
          </p:nvPr>
        </p:nvSpPr>
        <p:spPr>
          <a:xfrm>
            <a:off x="533400" y="1447800"/>
            <a:ext cx="8229600" cy="4419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2000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Manual Data collection of Facebook Community Guidelines</a:t>
            </a:r>
          </a:p>
          <a:p>
            <a:pPr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2000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Filtering and Verification</a:t>
            </a:r>
          </a:p>
          <a:p>
            <a:pPr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2000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Training with </a:t>
            </a:r>
            <a:r>
              <a:rPr lang="en-US" sz="2000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synthesized data</a:t>
            </a:r>
          </a:p>
          <a:p>
            <a:pPr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2000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Testing with synthesized data</a:t>
            </a:r>
          </a:p>
          <a:p>
            <a:pPr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2000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Working Demo</a:t>
            </a:r>
            <a:endParaRPr lang="en-US" altLang="zh-TW" sz="2000">
              <a:solidFill>
                <a:srgbClr val="4D4D4D"/>
              </a:solidFill>
              <a:latin typeface="Georgia" charset="0"/>
              <a:ea typeface="新細明體" charset="0"/>
              <a:cs typeface="新細明體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7</a:t>
            </a:fld>
            <a:endParaRPr lang="en-US" altLang="zh-TW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Data Summary</a:t>
            </a:r>
          </a:p>
        </p:txBody>
      </p:sp>
      <p:sp>
        <p:nvSpPr>
          <p:cNvPr id="3075" name="Content Placeholder 1"/>
          <p:cNvSpPr>
            <a:spLocks noGrp="1"/>
          </p:cNvSpPr>
          <p:nvPr>
            <p:ph/>
          </p:nvPr>
        </p:nvSpPr>
        <p:spPr>
          <a:xfrm>
            <a:off x="533400" y="1447800"/>
            <a:ext cx="8229600" cy="4419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,Sans-Serif" charset="0"/>
              <a:buChar char="§"/>
              <a:defRPr/>
            </a:pPr>
            <a:r>
              <a:rPr lang="en-US" sz="2000">
                <a:solidFill>
                  <a:srgbClr val="4D4D4D"/>
                </a:solidFill>
                <a:latin typeface="Georgia" charset="0"/>
                <a:ea typeface="新細明體" charset="0"/>
                <a:cs typeface="Arial"/>
              </a:rPr>
              <a:t>Social media guidelines from Facebook community service rules</a:t>
            </a:r>
            <a:endParaRPr lang="en-US" sz="2000">
              <a:solidFill>
                <a:srgbClr val="000000"/>
              </a:solidFill>
              <a:latin typeface="Georgia" charset="0"/>
              <a:ea typeface="新細明體" charset="0"/>
              <a:cs typeface="Arial"/>
            </a:endParaRPr>
          </a:p>
          <a:p>
            <a:pPr>
              <a:lnSpc>
                <a:spcPct val="150000"/>
              </a:lnSpc>
              <a:buFont typeface="Wingdings,Sans-Serif" charset="0"/>
              <a:buChar char="§"/>
              <a:defRPr/>
            </a:pPr>
            <a:r>
              <a:rPr lang="en-US" sz="2000">
                <a:solidFill>
                  <a:srgbClr val="4D4D4D"/>
                </a:solidFill>
                <a:latin typeface="Georgia" charset="0"/>
                <a:ea typeface="新細明體" charset="0"/>
                <a:cs typeface="Arial"/>
              </a:rPr>
              <a:t>Curated text that violate the community service rules </a:t>
            </a:r>
            <a:endParaRPr lang="en-US" sz="2000">
              <a:solidFill>
                <a:srgbClr val="000000"/>
              </a:solidFill>
              <a:latin typeface="Georgia" charset="0"/>
              <a:ea typeface="新細明體" charset="0"/>
              <a:cs typeface="Arial"/>
            </a:endParaRPr>
          </a:p>
          <a:p>
            <a:pPr>
              <a:lnSpc>
                <a:spcPct val="150000"/>
              </a:lnSpc>
              <a:buFont typeface="Wingdings,Sans-Serif" charset="0"/>
              <a:buChar char="§"/>
              <a:defRPr/>
            </a:pPr>
            <a:r>
              <a:rPr lang="en-US" sz="2000">
                <a:solidFill>
                  <a:srgbClr val="4D4D4D"/>
                </a:solidFill>
                <a:latin typeface="Georgia" charset="0"/>
                <a:ea typeface="新細明體" charset="0"/>
                <a:cs typeface="Arial"/>
              </a:rPr>
              <a:t>Example:</a:t>
            </a:r>
            <a:endParaRPr lang="en-US" sz="2000">
              <a:solidFill>
                <a:srgbClr val="000000"/>
              </a:solidFill>
              <a:latin typeface="Georgia" charset="0"/>
              <a:ea typeface="新細明體" charset="0"/>
              <a:cs typeface="Arial"/>
            </a:endParaRPr>
          </a:p>
          <a:p>
            <a:pPr lvl="1">
              <a:lnSpc>
                <a:spcPct val="150000"/>
              </a:lnSpc>
              <a:buFont typeface="Courier New,monospace" charset="0"/>
              <a:buChar char="–"/>
              <a:defRPr/>
            </a:pPr>
            <a:r>
              <a:rPr lang="en-US" sz="1600">
                <a:solidFill>
                  <a:srgbClr val="4D4D4D"/>
                </a:solidFill>
                <a:latin typeface="Arial"/>
                <a:ea typeface="新細明體" charset="0"/>
                <a:cs typeface="Arial"/>
              </a:rPr>
              <a:t>{"input": </a:t>
            </a:r>
            <a:endParaRPr lang="en-US" sz="1600">
              <a:solidFill>
                <a:srgbClr val="000000"/>
              </a:solidFill>
              <a:latin typeface="Arial"/>
              <a:ea typeface="新細明體" charset="0"/>
              <a:cs typeface="Arial"/>
            </a:endParaRPr>
          </a:p>
          <a:p>
            <a:pPr lvl="2">
              <a:lnSpc>
                <a:spcPct val="150000"/>
              </a:lnSpc>
              <a:buFont typeface="Wingdings,Sans-Serif" charset="0"/>
              <a:buChar char="§"/>
              <a:defRPr/>
            </a:pPr>
            <a:r>
              <a:rPr lang="en-US" sz="1200">
                <a:solidFill>
                  <a:srgbClr val="4D4D4D"/>
                </a:solidFill>
                <a:latin typeface="Arial"/>
                <a:ea typeface="新細明體" charset="0"/>
                <a:cs typeface="Arial"/>
              </a:rPr>
              <a:t>"Get instant approval on your $5000 loan! Just pay a $200 processing fee upfront to get started.", </a:t>
            </a:r>
            <a:endParaRPr lang="en-US" sz="1200">
              <a:solidFill>
                <a:srgbClr val="000000"/>
              </a:solidFill>
              <a:latin typeface="Arial"/>
              <a:ea typeface="新細明體" charset="0"/>
              <a:cs typeface="Arial"/>
            </a:endParaRPr>
          </a:p>
          <a:p>
            <a:pPr lvl="1">
              <a:lnSpc>
                <a:spcPct val="150000"/>
              </a:lnSpc>
              <a:buFont typeface="Courier New,monospace" charset="0"/>
              <a:buChar char="–"/>
              <a:defRPr/>
            </a:pPr>
            <a:r>
              <a:rPr lang="en-US" sz="1600">
                <a:solidFill>
                  <a:srgbClr val="4D4D4D"/>
                </a:solidFill>
                <a:latin typeface="Arial"/>
                <a:ea typeface="新細明體" charset="0"/>
                <a:cs typeface="Arial"/>
              </a:rPr>
              <a:t>"output": </a:t>
            </a:r>
            <a:endParaRPr lang="en-US" sz="1600">
              <a:solidFill>
                <a:srgbClr val="000000"/>
              </a:solidFill>
              <a:latin typeface="Arial"/>
              <a:ea typeface="新細明體" charset="0"/>
              <a:cs typeface="Arial"/>
            </a:endParaRPr>
          </a:p>
          <a:p>
            <a:pPr lvl="2">
              <a:lnSpc>
                <a:spcPct val="150000"/>
              </a:lnSpc>
              <a:buFont typeface="Wingdings,Sans-Serif" charset="0"/>
              <a:buChar char="§"/>
              <a:defRPr/>
            </a:pPr>
            <a:r>
              <a:rPr lang="en-US" sz="1200">
                <a:solidFill>
                  <a:srgbClr val="4D4D4D"/>
                </a:solidFill>
                <a:latin typeface="Arial"/>
                <a:ea typeface="新細明體" charset="0"/>
                <a:cs typeface="Arial"/>
              </a:rPr>
              <a:t>{"violation": true, </a:t>
            </a:r>
            <a:endParaRPr lang="en-US" sz="1200">
              <a:solidFill>
                <a:srgbClr val="000000"/>
              </a:solidFill>
              <a:latin typeface="Arial"/>
              <a:ea typeface="新細明體" charset="0"/>
              <a:cs typeface="Arial"/>
            </a:endParaRPr>
          </a:p>
          <a:p>
            <a:pPr lvl="2">
              <a:lnSpc>
                <a:spcPct val="150000"/>
              </a:lnSpc>
              <a:buFont typeface="Wingdings,Sans-Serif" charset="0"/>
              <a:buChar char="§"/>
              <a:defRPr/>
            </a:pPr>
            <a:r>
              <a:rPr lang="en-US" sz="1200">
                <a:solidFill>
                  <a:srgbClr val="4D4D4D"/>
                </a:solidFill>
                <a:latin typeface="Arial"/>
                <a:ea typeface="新細明體" charset="0"/>
                <a:cs typeface="Arial"/>
              </a:rPr>
              <a:t>"rule": "Offers loans requiring the user to pay an advance fee to obtain a loan.", </a:t>
            </a:r>
            <a:endParaRPr lang="en-US" sz="1200">
              <a:solidFill>
                <a:srgbClr val="000000"/>
              </a:solidFill>
              <a:latin typeface="Arial"/>
              <a:ea typeface="新細明體" charset="0"/>
              <a:cs typeface="Arial"/>
            </a:endParaRPr>
          </a:p>
          <a:p>
            <a:pPr lvl="2">
              <a:lnSpc>
                <a:spcPct val="150000"/>
              </a:lnSpc>
              <a:buFont typeface="Wingdings,Sans-Serif" charset="0"/>
              <a:buChar char="§"/>
              <a:defRPr/>
            </a:pPr>
            <a:r>
              <a:rPr lang="en-US" sz="1200">
                <a:solidFill>
                  <a:srgbClr val="4D4D4D"/>
                </a:solidFill>
                <a:latin typeface="Arial"/>
                <a:ea typeface="新細明體"/>
                <a:cs typeface="Arial"/>
              </a:rPr>
              <a:t>"explanation": "The example violates the rule because it explicitly requires a $200 processing fee to be paid upfront in order to obtain a $5000 loan, which constitutes an advance fee loan scheme."},</a:t>
            </a:r>
            <a:endParaRPr lang="en-US" sz="1200">
              <a:solidFill>
                <a:srgbClr val="000000"/>
              </a:solidFill>
              <a:latin typeface="Arial"/>
              <a:ea typeface="新細明體"/>
              <a:cs typeface="Arial"/>
            </a:endParaRPr>
          </a:p>
          <a:p>
            <a:pPr lvl="2">
              <a:lnSpc>
                <a:spcPct val="150000"/>
              </a:lnSpc>
              <a:buFont typeface="Wingdings,Sans-Serif" charset="0"/>
              <a:buChar char="§"/>
              <a:defRPr/>
            </a:pPr>
            <a:r>
              <a:rPr lang="en-US" sz="1200">
                <a:solidFill>
                  <a:srgbClr val="4D4D4D"/>
                </a:solidFill>
                <a:latin typeface="Arial"/>
                <a:ea typeface="新細明體"/>
                <a:cs typeface="Arial"/>
              </a:rPr>
              <a:t>"id": 0}</a:t>
            </a:r>
            <a:endParaRPr lang="en-US" sz="1200">
              <a:solidFill>
                <a:srgbClr val="000000"/>
              </a:solidFill>
              <a:latin typeface="Arial"/>
              <a:ea typeface="新細明體"/>
              <a:cs typeface="Arial"/>
            </a:endParaRPr>
          </a:p>
          <a:p>
            <a:pPr lvl="1">
              <a:lnSpc>
                <a:spcPct val="150000"/>
              </a:lnSpc>
              <a:buFont typeface="Courier New,monospace" charset="0"/>
              <a:buChar char="o"/>
              <a:defRPr/>
            </a:pPr>
            <a:endParaRPr lang="en-US" sz="1600">
              <a:solidFill>
                <a:srgbClr val="000000"/>
              </a:solidFill>
              <a:latin typeface="Georgia" charset="0"/>
              <a:ea typeface="新細明體" charset="0"/>
              <a:cs typeface="新細明體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zh-TW" sz="2000">
              <a:solidFill>
                <a:srgbClr val="4D4D4D"/>
              </a:solidFill>
              <a:latin typeface="Georgia" charset="0"/>
              <a:ea typeface="新細明體" charset="0"/>
              <a:cs typeface="新細明體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8</a:t>
            </a:fld>
            <a:endParaRPr lang="en-US" altLang="zh-TW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D9B2A30-7E02-ED3A-B505-7606BBBE3835}"/>
              </a:ext>
            </a:extLst>
          </p:cNvPr>
          <p:cNvSpPr>
            <a:spLocks noGrp="1"/>
          </p:cNvSpPr>
          <p:nvPr/>
        </p:nvSpPr>
        <p:spPr bwMode="auto">
          <a:xfrm>
            <a:off x="533400" y="1447800"/>
            <a:ext cx="8229600" cy="44196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lc="http://schemas.openxmlformats.org/drawingml/2006/lockedCanvas" xmlns:ma14="http://schemas.microsoft.com/office/mac/drawingml/2011/main" val="1"/>
            </a:ext>
            <a:ext uri="{909E8E84-426E-40dd-AFC4-6F175D3DCCD1}">
              <a14:hiddenFill xmlns="" xmlns:lc="http://schemas.openxmlformats.org/drawingml/2006/lockedCanvas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lc="http://schemas.openxmlformats.org/drawingml/2006/lockedCanvas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lc="http://schemas.openxmlformats.org/drawingml/2006/lockedCanvas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2000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Social media guidelines from Facebook community service rules</a:t>
            </a:r>
          </a:p>
          <a:p>
            <a:pPr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2000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Curated text that violate the community service rules </a:t>
            </a:r>
          </a:p>
          <a:p>
            <a:pPr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2000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Example:</a:t>
            </a:r>
          </a:p>
          <a:p>
            <a:pPr lvl="1">
              <a:lnSpc>
                <a:spcPct val="150000"/>
              </a:lnSpc>
              <a:buFont typeface="Courier New" charset="0"/>
              <a:buChar char="–"/>
              <a:defRPr/>
            </a:pPr>
            <a:r>
              <a:rPr lang="en-US" sz="1600">
                <a:solidFill>
                  <a:srgbClr val="4D4D4D"/>
                </a:solidFill>
                <a:ea typeface="+mn-lt"/>
                <a:cs typeface="+mn-lt"/>
              </a:rPr>
              <a:t>{"input": </a:t>
            </a:r>
            <a:endParaRPr lang="en-US" altLang="zh-TW" sz="1600">
              <a:solidFill>
                <a:srgbClr val="4D4D4D"/>
              </a:solidFill>
              <a:latin typeface="Georgia"/>
              <a:ea typeface="新細明體"/>
              <a:cs typeface="+mn-lt"/>
            </a:endParaRPr>
          </a:p>
          <a:p>
            <a:pPr lvl="2"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sz="1200">
                <a:solidFill>
                  <a:srgbClr val="4D4D4D"/>
                </a:solidFill>
                <a:ea typeface="+mn-lt"/>
                <a:cs typeface="+mn-lt"/>
              </a:rPr>
              <a:t>"Get instant approval on your $5000 loan! Just pay a $200 processing fee upfront to get started.", </a:t>
            </a:r>
            <a:endParaRPr lang="en-US" altLang="zh-TW" sz="1200">
              <a:solidFill>
                <a:srgbClr val="4D4D4D"/>
              </a:solidFill>
              <a:latin typeface="Georgia"/>
              <a:ea typeface="新細明體"/>
              <a:cs typeface="+mn-lt"/>
            </a:endParaRPr>
          </a:p>
          <a:p>
            <a:pPr lvl="1">
              <a:lnSpc>
                <a:spcPct val="150000"/>
              </a:lnSpc>
              <a:buFont typeface="Courier New" charset="0"/>
              <a:buChar char="–"/>
              <a:defRPr/>
            </a:pPr>
            <a:r>
              <a:rPr lang="en-US" sz="1600">
                <a:solidFill>
                  <a:srgbClr val="4D4D4D"/>
                </a:solidFill>
                <a:ea typeface="+mn-lt"/>
                <a:cs typeface="+mn-lt"/>
              </a:rPr>
              <a:t>"output": </a:t>
            </a:r>
            <a:endParaRPr lang="en-US" altLang="zh-TW" sz="1600">
              <a:solidFill>
                <a:srgbClr val="4D4D4D"/>
              </a:solidFill>
              <a:latin typeface="Georgia"/>
              <a:ea typeface="新細明體"/>
              <a:cs typeface="+mn-lt"/>
            </a:endParaRPr>
          </a:p>
          <a:p>
            <a:pPr lvl="2"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sz="1200">
                <a:solidFill>
                  <a:srgbClr val="4D4D4D"/>
                </a:solidFill>
                <a:ea typeface="+mn-lt"/>
                <a:cs typeface="+mn-lt"/>
              </a:rPr>
              <a:t>{"violation": true, </a:t>
            </a:r>
            <a:endParaRPr lang="en-US" altLang="zh-TW" sz="1200">
              <a:solidFill>
                <a:srgbClr val="4D4D4D"/>
              </a:solidFill>
              <a:latin typeface="Georgia"/>
              <a:ea typeface="新細明體"/>
              <a:cs typeface="+mn-lt"/>
            </a:endParaRPr>
          </a:p>
          <a:p>
            <a:pPr lvl="2"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sz="1200">
                <a:solidFill>
                  <a:srgbClr val="4D4D4D"/>
                </a:solidFill>
                <a:ea typeface="+mn-lt"/>
                <a:cs typeface="+mn-lt"/>
              </a:rPr>
              <a:t>"rule": "Offers loans requiring the user to pay an advance fee to obtain a loan.", </a:t>
            </a:r>
            <a:endParaRPr lang="en-US" altLang="zh-TW" sz="1200">
              <a:solidFill>
                <a:srgbClr val="4D4D4D"/>
              </a:solidFill>
              <a:latin typeface="Georgia"/>
              <a:ea typeface="新細明體"/>
              <a:cs typeface="+mn-lt"/>
            </a:endParaRPr>
          </a:p>
          <a:p>
            <a:pPr lvl="2"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sz="1200">
                <a:solidFill>
                  <a:srgbClr val="4D4D4D"/>
                </a:solidFill>
                <a:ea typeface="+mn-lt"/>
                <a:cs typeface="+mn-lt"/>
              </a:rPr>
              <a:t>"explanation": "The example violates the rule because it explicitly requires a $200 processing fee to be paid upfront in order to obtain a $5000 loan, which constitutes an advance fee loan scheme."},</a:t>
            </a:r>
            <a:endParaRPr lang="en-US" altLang="zh-TW" sz="1200">
              <a:solidFill>
                <a:srgbClr val="4D4D4D"/>
              </a:solidFill>
              <a:latin typeface="Georgia"/>
              <a:ea typeface="新細明體"/>
              <a:cs typeface="+mn-lt"/>
            </a:endParaRPr>
          </a:p>
          <a:p>
            <a:pPr lvl="2"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sz="1200">
                <a:solidFill>
                  <a:srgbClr val="4D4D4D"/>
                </a:solidFill>
                <a:ea typeface="+mn-lt"/>
                <a:cs typeface="+mn-lt"/>
              </a:rPr>
              <a:t>"id": 0}</a:t>
            </a:r>
            <a:endParaRPr lang="en-US" altLang="zh-TW" sz="1200">
              <a:solidFill>
                <a:srgbClr val="4D4D4D"/>
              </a:solidFill>
              <a:latin typeface="Georgia"/>
              <a:ea typeface="新細明體"/>
              <a:cs typeface="新細明體" charset="0"/>
            </a:endParaRPr>
          </a:p>
          <a:p>
            <a:pPr lvl="1">
              <a:lnSpc>
                <a:spcPct val="150000"/>
              </a:lnSpc>
              <a:buFont typeface="Courier New" charset="0"/>
              <a:buChar char="o"/>
              <a:defRPr/>
            </a:pPr>
            <a:endParaRPr lang="en-US" altLang="zh-TW" sz="1600">
              <a:solidFill>
                <a:srgbClr val="4D4D4D"/>
              </a:solidFill>
              <a:latin typeface="Georgia"/>
              <a:ea typeface="新細明體"/>
              <a:cs typeface="新細明體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079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C1980-C4FA-1819-3E09-2B96C4901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>
            <a:extLst>
              <a:ext uri="{FF2B5EF4-FFF2-40B4-BE49-F238E27FC236}">
                <a16:creationId xmlns:a16="http://schemas.microsoft.com/office/drawing/2014/main" id="{49F134E2-E66B-25C5-5D6E-283979CAA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>
                <a:solidFill>
                  <a:srgbClr val="4D4D4D"/>
                </a:solidFill>
                <a:latin typeface="Georgia"/>
                <a:ea typeface="PMingLiU"/>
              </a:rPr>
              <a:t>Prompt Examples</a:t>
            </a:r>
            <a:endParaRPr lang="en-US" altLang="zh-TW" sz="360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p:pic>
        <p:nvPicPr>
          <p:cNvPr id="4" name="Content Placeholder 3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9D7DD0F7-8275-34E6-7D32-7C14D1036C0A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1710222" y="1462835"/>
            <a:ext cx="5726879" cy="525780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CFBEBE-CA02-8F1D-3C9E-45ED86A08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9</a:t>
            </a:fld>
            <a:endParaRPr lang="en-US" altLang="zh-TW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0F3861B-68A7-381F-A7DA-04C2E1CD2006}"/>
              </a:ext>
            </a:extLst>
          </p:cNvPr>
          <p:cNvSpPr>
            <a:spLocks noGrp="1"/>
          </p:cNvSpPr>
          <p:nvPr/>
        </p:nvSpPr>
        <p:spPr bwMode="auto">
          <a:xfrm>
            <a:off x="533400" y="1447800"/>
            <a:ext cx="8229600" cy="44196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xmlns:lc="http://schemas.openxmlformats.org/drawingml/2006/lockedCanvas" val="1"/>
            </a:ext>
            <a:ext uri="{909E8E84-426E-40dd-AFC4-6F175D3DCCD1}">
              <a14:hiddenFill xmlns="" xmlns:a14="http://schemas.microsoft.com/office/drawing/2010/main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xmlns:lc="http://schemas.openxmlformats.org/drawingml/2006/lockedCanvas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 xmlns:lc="http://schemas.openxmlformats.org/drawingml/2006/lockedCanvas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150000"/>
              </a:lnSpc>
              <a:buFont typeface="Wingdings" charset="0"/>
              <a:buChar char="§"/>
              <a:defRPr/>
            </a:pPr>
            <a:endParaRPr lang="en-US" altLang="zh-TW" sz="2000">
              <a:solidFill>
                <a:srgbClr val="4D4D4D"/>
              </a:solidFill>
              <a:latin typeface="Georgia"/>
              <a:ea typeface="新細明體"/>
              <a:cs typeface="新細明體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59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8319AD-EB2B-1F21-7A68-F9872B0F86B1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>
                <a:solidFill>
                  <a:srgbClr val="4D4D4D"/>
                </a:solidFill>
                <a:latin typeface="Georgia"/>
              </a:rPr>
              <a:t>Prompt Examples</a:t>
            </a:r>
            <a:endParaRPr lang="en-US" sz="3600">
              <a:latin typeface="Georgia"/>
            </a:endParaRPr>
          </a:p>
          <a:p>
            <a:pPr marL="0" indent="0">
              <a:buNone/>
            </a:pPr>
            <a:endParaRPr lang="en-US"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486ACE-6DB2-723E-9540-FEB3D0E36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/>
              <a:pPr/>
              <a:t>10</a:t>
            </a:fld>
            <a:endParaRPr lang="en-US" altLang="zh-TW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FA099F-04AE-12FF-0389-19B810139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773" y="1471809"/>
            <a:ext cx="5414019" cy="525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17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Experimental Results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11</a:t>
            </a:fld>
            <a:endParaRPr lang="en-US" altLang="zh-TW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BBD4E-3697-AECC-A309-91B20DD8221F}"/>
              </a:ext>
            </a:extLst>
          </p:cNvPr>
          <p:cNvSpPr txBox="1"/>
          <p:nvPr/>
        </p:nvSpPr>
        <p:spPr>
          <a:xfrm>
            <a:off x="432456" y="4182451"/>
            <a:ext cx="8489873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Consolas"/>
                <a:ea typeface="ＭＳ Ｐゴシック"/>
                <a:cs typeface="Arial"/>
              </a:rPr>
              <a:t>=== Sample 2 ===</a:t>
            </a:r>
          </a:p>
          <a:p>
            <a:r>
              <a:rPr lang="en-US" sz="1600" b="1" u="sng">
                <a:latin typeface="Consolas"/>
                <a:ea typeface="ＭＳ Ｐゴシック"/>
                <a:cs typeface="Arial"/>
              </a:rPr>
              <a:t>Original Text:</a:t>
            </a:r>
            <a:r>
              <a:rPr lang="en-US" sz="1600">
                <a:latin typeface="Consolas"/>
                <a:ea typeface="ＭＳ Ｐゴシック"/>
                <a:cs typeface="Arial"/>
              </a:rPr>
              <a:t> </a:t>
            </a:r>
            <a:r>
              <a:rPr lang="en-US" sz="1600" i="1">
                <a:solidFill>
                  <a:schemeClr val="bg2"/>
                </a:solidFill>
                <a:latin typeface="Consolas"/>
                <a:ea typeface="ＭＳ Ｐゴシック"/>
                <a:cs typeface="Arial"/>
              </a:rPr>
              <a:t>You must use this bribe or otherwise you are done.</a:t>
            </a:r>
            <a:endParaRPr lang="en-US" sz="1600" i="1">
              <a:solidFill>
                <a:schemeClr val="bg2"/>
              </a:solidFill>
              <a:latin typeface="Consolas"/>
              <a:cs typeface="Arial" pitchFamily="34" charset="0"/>
            </a:endParaRPr>
          </a:p>
          <a:p>
            <a:r>
              <a:rPr lang="en-US" sz="1600" b="1" i="1" u="sng">
                <a:latin typeface="Consolas"/>
                <a:ea typeface="ＭＳ Ｐゴシック"/>
                <a:cs typeface="Arial"/>
              </a:rPr>
              <a:t>Model Response:</a:t>
            </a:r>
            <a:endParaRPr lang="en-US" sz="1600" b="1" i="1" u="sng">
              <a:latin typeface="Consolas"/>
              <a:cs typeface="Arial" pitchFamily="34" charset="0"/>
            </a:endParaRPr>
          </a:p>
          <a:p>
            <a:r>
              <a:rPr lang="en-US" sz="1600" b="1" i="1">
                <a:solidFill>
                  <a:schemeClr val="accent2"/>
                </a:solidFill>
                <a:latin typeface="Consolas"/>
                <a:ea typeface="ＭＳ Ｐゴシック"/>
                <a:cs typeface="Arial"/>
              </a:rPr>
              <a:t>True.</a:t>
            </a:r>
            <a:endParaRPr lang="en-US" sz="1600" b="1" i="1">
              <a:solidFill>
                <a:schemeClr val="accent2"/>
              </a:solidFill>
              <a:latin typeface="Consolas"/>
              <a:cs typeface="Arial"/>
            </a:endParaRPr>
          </a:p>
          <a:p>
            <a:r>
              <a:rPr lang="en-US" sz="1600" b="1" i="1">
                <a:solidFill>
                  <a:schemeClr val="accent2"/>
                </a:solidFill>
                <a:latin typeface="Consolas"/>
                <a:ea typeface="ＭＳ Ｐゴシック"/>
                <a:cs typeface="Arial"/>
              </a:rPr>
              <a:t>Violation: The sentence threatens or implies a bribe or blackmail.</a:t>
            </a:r>
            <a:endParaRPr lang="en-US" sz="1600" b="1" i="1">
              <a:solidFill>
                <a:schemeClr val="accent2"/>
              </a:solidFill>
              <a:latin typeface="Consolas"/>
              <a:cs typeface="Arial" pitchFamily="34" charset="0"/>
            </a:endParaRPr>
          </a:p>
          <a:p>
            <a:r>
              <a:rPr lang="en-US" sz="1600" b="1" i="1">
                <a:solidFill>
                  <a:schemeClr val="accent2"/>
                </a:solidFill>
                <a:latin typeface="Consolas"/>
                <a:ea typeface="ＭＳ Ｐゴシック"/>
                <a:cs typeface="Arial"/>
              </a:rPr>
              <a:t>Explanation: The sentence explicitly states that a bribe must be used, which is a threat to blackmail or extort money, violating the rule against bribery or blackmail threats.&lt;/s&gt;</a:t>
            </a:r>
            <a:endParaRPr lang="en-US" sz="1600" b="1" i="1">
              <a:solidFill>
                <a:schemeClr val="accent2"/>
              </a:solidFill>
              <a:latin typeface="Consolas"/>
              <a:cs typeface="Arial" pitchFamily="34" charset="0"/>
            </a:endParaRPr>
          </a:p>
          <a:p>
            <a:pPr algn="l"/>
            <a:r>
              <a:rPr lang="en-US" sz="1600">
                <a:latin typeface="Arial"/>
                <a:ea typeface="ＭＳ Ｐゴシック"/>
                <a:cs typeface="Arial"/>
              </a:rPr>
              <a:t>--------------------------------------------------</a:t>
            </a:r>
          </a:p>
          <a:p>
            <a:endParaRPr lang="en-US" sz="1600">
              <a:latin typeface="Consolas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75FF9-6A91-9570-247D-FC3708CAE626}"/>
              </a:ext>
            </a:extLst>
          </p:cNvPr>
          <p:cNvSpPr txBox="1"/>
          <p:nvPr/>
        </p:nvSpPr>
        <p:spPr>
          <a:xfrm>
            <a:off x="432456" y="1871535"/>
            <a:ext cx="848987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Consolas"/>
                <a:ea typeface="ＭＳ Ｐゴシック"/>
                <a:cs typeface="Arial"/>
              </a:rPr>
              <a:t>=== Sample 1 ===</a:t>
            </a:r>
          </a:p>
          <a:p>
            <a:r>
              <a:rPr lang="en-US" sz="1600" b="1" u="sng">
                <a:latin typeface="Consolas"/>
                <a:ea typeface="ＭＳ Ｐゴシック"/>
                <a:cs typeface="Arial"/>
              </a:rPr>
              <a:t>Original Text:</a:t>
            </a:r>
            <a:r>
              <a:rPr lang="en-US" sz="1600">
                <a:latin typeface="Consolas"/>
                <a:ea typeface="ＭＳ Ｐゴシック"/>
                <a:cs typeface="Arial"/>
              </a:rPr>
              <a:t> </a:t>
            </a:r>
            <a:r>
              <a:rPr lang="en-US" sz="1600" i="1">
                <a:solidFill>
                  <a:schemeClr val="bg2"/>
                </a:solidFill>
                <a:latin typeface="Consolas"/>
                <a:ea typeface="ＭＳ Ｐゴシック"/>
                <a:cs typeface="Arial"/>
              </a:rPr>
              <a:t>I will see how far you can go.</a:t>
            </a:r>
          </a:p>
          <a:p>
            <a:r>
              <a:rPr lang="en-US" sz="1600" b="1" u="sng">
                <a:latin typeface="Consolas"/>
                <a:ea typeface="ＭＳ Ｐゴシック"/>
                <a:cs typeface="Arial"/>
              </a:rPr>
              <a:t>Model Response:</a:t>
            </a:r>
          </a:p>
          <a:p>
            <a:r>
              <a:rPr lang="en-US" sz="1600" b="1" i="1">
                <a:solidFill>
                  <a:schemeClr val="accent2"/>
                </a:solidFill>
                <a:latin typeface="Consolas"/>
                <a:ea typeface="ＭＳ Ｐゴシック"/>
                <a:cs typeface="Arial"/>
              </a:rPr>
              <a:t>True: Violation: Threat</a:t>
            </a:r>
          </a:p>
          <a:p>
            <a:r>
              <a:rPr lang="en-US" sz="1600" b="1" i="1">
                <a:solidFill>
                  <a:schemeClr val="accent2"/>
                </a:solidFill>
                <a:latin typeface="Consolas"/>
                <a:ea typeface="ＭＳ Ｐゴシック"/>
                <a:cs typeface="Arial"/>
              </a:rPr>
              <a:t>Explanation: The statement is a direct threat, implying that the poster will assess the victim’s limits and ability, which is a violent and threatening tone. This violates the rule against threatening or advocating for violence.&lt;/s&gt;</a:t>
            </a:r>
          </a:p>
          <a:p>
            <a:pPr algn="l"/>
            <a:r>
              <a:rPr lang="en-US" sz="1600">
                <a:latin typeface="Arial"/>
                <a:ea typeface="ＭＳ Ｐゴシック"/>
                <a:cs typeface="Arial"/>
              </a:rPr>
              <a:t>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649885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Experimental Analysis</a:t>
            </a:r>
          </a:p>
        </p:txBody>
      </p:sp>
      <p:sp>
        <p:nvSpPr>
          <p:cNvPr id="3075" name="Content Placeholder 1"/>
          <p:cNvSpPr>
            <a:spLocks noGrp="1"/>
          </p:cNvSpPr>
          <p:nvPr>
            <p:ph/>
          </p:nvPr>
        </p:nvSpPr>
        <p:spPr>
          <a:xfrm>
            <a:off x="533400" y="1447800"/>
            <a:ext cx="8229600" cy="1642998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sz="1800" b="1">
                <a:latin typeface="Times New Roman"/>
                <a:ea typeface="新細明體"/>
                <a:cs typeface="Times New Roman"/>
              </a:rPr>
              <a:t>Prompt</a:t>
            </a:r>
            <a:r>
              <a:rPr lang="en-US" sz="1800">
                <a:latin typeface="Times New Roman"/>
                <a:ea typeface="新細明體"/>
                <a:cs typeface="Times New Roman"/>
              </a:rPr>
              <a:t> </a:t>
            </a:r>
            <a:endParaRPr lang="en-US" altLang="zh-TW" sz="1800">
              <a:latin typeface="Times New Roman"/>
              <a:ea typeface="新細明體"/>
              <a:cs typeface="Times New Roman"/>
            </a:endParaRPr>
          </a:p>
          <a:p>
            <a:pPr marL="0" indent="0" algn="just">
              <a:buNone/>
              <a:defRPr/>
            </a:pPr>
            <a:r>
              <a:rPr lang="en-US" sz="1800" i="1">
                <a:solidFill>
                  <a:schemeClr val="tx1">
                    <a:lumMod val="49000"/>
                    <a:lumOff val="51000"/>
                  </a:schemeClr>
                </a:solidFill>
                <a:latin typeface="Times New Roman"/>
                <a:ea typeface="新細明體"/>
                <a:cs typeface="Times New Roman"/>
              </a:rPr>
              <a:t>(</a:t>
            </a:r>
            <a:r>
              <a:rPr lang="en-US" sz="1800" i="1" err="1">
                <a:solidFill>
                  <a:schemeClr val="tx1">
                    <a:lumMod val="49000"/>
                    <a:lumOff val="51000"/>
                  </a:schemeClr>
                </a:solidFill>
                <a:latin typeface="Times New Roman"/>
                <a:ea typeface="新細明體"/>
                <a:cs typeface="Times New Roman"/>
              </a:rPr>
              <a:t>f"If</a:t>
            </a:r>
            <a:r>
              <a:rPr lang="en-US" sz="1800" i="1">
                <a:solidFill>
                  <a:schemeClr val="tx1">
                    <a:lumMod val="49000"/>
                    <a:lumOff val="51000"/>
                  </a:schemeClr>
                </a:solidFill>
                <a:latin typeface="Times New Roman"/>
                <a:ea typeface="新細明體"/>
                <a:cs typeface="Times New Roman"/>
              </a:rPr>
              <a:t> the given sentence ```{sentence}``` is posted in any social media, "</a:t>
            </a:r>
            <a:endParaRPr lang="en-US" altLang="zh-TW" sz="1800" i="1">
              <a:solidFill>
                <a:schemeClr val="tx1">
                  <a:lumMod val="49000"/>
                  <a:lumOff val="51000"/>
                </a:schemeClr>
              </a:solidFill>
              <a:latin typeface="Times New Roman"/>
              <a:ea typeface="新細明體"/>
              <a:cs typeface="Times New Roman"/>
            </a:endParaRPr>
          </a:p>
          <a:p>
            <a:pPr marL="0" indent="0" algn="just">
              <a:buNone/>
              <a:defRPr/>
            </a:pPr>
            <a:r>
              <a:rPr lang="en-US" sz="1800" i="1">
                <a:solidFill>
                  <a:schemeClr val="tx1">
                    <a:lumMod val="49000"/>
                    <a:lumOff val="51000"/>
                  </a:schemeClr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en-US" sz="1800" i="1" err="1">
                <a:solidFill>
                  <a:schemeClr val="tx1">
                    <a:lumMod val="49000"/>
                    <a:lumOff val="51000"/>
                  </a:schemeClr>
                </a:solidFill>
                <a:latin typeface="Times New Roman"/>
                <a:ea typeface="新細明體"/>
                <a:cs typeface="Times New Roman"/>
              </a:rPr>
              <a:t>f"will</a:t>
            </a:r>
            <a:r>
              <a:rPr lang="en-US" sz="1800" i="1">
                <a:solidFill>
                  <a:schemeClr val="tx1">
                    <a:lumMod val="49000"/>
                    <a:lumOff val="51000"/>
                  </a:schemeClr>
                </a:solidFill>
                <a:latin typeface="Times New Roman"/>
                <a:ea typeface="新細明體"/>
                <a:cs typeface="Times New Roman"/>
              </a:rPr>
              <a:t> it violate any rule? If violation is true then which rule is violated "</a:t>
            </a:r>
          </a:p>
          <a:p>
            <a:pPr marL="0" indent="0" algn="just">
              <a:buNone/>
              <a:defRPr/>
            </a:pPr>
            <a:r>
              <a:rPr lang="en-US" sz="1800" i="1">
                <a:solidFill>
                  <a:schemeClr val="tx1">
                    <a:lumMod val="49000"/>
                    <a:lumOff val="51000"/>
                  </a:schemeClr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en-US" sz="1800" i="1" err="1">
                <a:solidFill>
                  <a:schemeClr val="tx1">
                    <a:lumMod val="49000"/>
                    <a:lumOff val="51000"/>
                  </a:schemeClr>
                </a:solidFill>
                <a:latin typeface="Times New Roman"/>
                <a:ea typeface="新細明體"/>
                <a:cs typeface="Times New Roman"/>
              </a:rPr>
              <a:t>f"and</a:t>
            </a:r>
            <a:r>
              <a:rPr lang="en-US" sz="1800" i="1">
                <a:solidFill>
                  <a:schemeClr val="tx1">
                    <a:lumMod val="49000"/>
                    <a:lumOff val="51000"/>
                  </a:schemeClr>
                </a:solidFill>
                <a:latin typeface="Times New Roman"/>
                <a:ea typeface="新細明體"/>
                <a:cs typeface="Times New Roman"/>
              </a:rPr>
              <a:t> what is the explanation. Your answer must strictly include if violation is true or false.")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zh-TW" sz="1800">
              <a:latin typeface="Times New Roman"/>
              <a:ea typeface="新細明體" charset="0"/>
              <a:cs typeface="新細明體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12</a:t>
            </a:fld>
            <a:endParaRPr lang="en-US" altLang="zh-TW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3198E7-FE79-D2B9-D3B3-876E7806A7B9}"/>
              </a:ext>
            </a:extLst>
          </p:cNvPr>
          <p:cNvSpPr txBox="1"/>
          <p:nvPr/>
        </p:nvSpPr>
        <p:spPr>
          <a:xfrm>
            <a:off x="4592877" y="3642986"/>
            <a:ext cx="408974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spcBef>
                <a:spcPts val="20"/>
              </a:spcBef>
            </a:pPr>
            <a:r>
              <a:rPr lang="en-US" b="1">
                <a:latin typeface="Times New Roman"/>
                <a:ea typeface="ＭＳ Ｐゴシック"/>
                <a:cs typeface="Times New Roman"/>
              </a:rPr>
              <a:t>Optimization Hyperparameters</a:t>
            </a:r>
            <a:endParaRPr lang="en-US">
              <a:ea typeface="ＭＳ Ｐゴシック"/>
              <a:cs typeface="Arial" pitchFamily="34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>
                <a:latin typeface="Times New Roman"/>
                <a:cs typeface="Times New Roman"/>
              </a:rPr>
              <a:t>•Learning Rate: 2e-4</a:t>
            </a:r>
          </a:p>
          <a:p>
            <a:pPr marL="342900" indent="-342900">
              <a:spcBef>
                <a:spcPct val="20000"/>
              </a:spcBef>
            </a:pPr>
            <a:r>
              <a:rPr lang="en-US">
                <a:latin typeface="Times New Roman"/>
                <a:cs typeface="Times New Roman"/>
              </a:rPr>
              <a:t>•Weight Decay: 0.001</a:t>
            </a:r>
          </a:p>
          <a:p>
            <a:pPr marL="342900" indent="-342900">
              <a:spcBef>
                <a:spcPct val="20000"/>
              </a:spcBef>
            </a:pPr>
            <a:r>
              <a:rPr lang="en-US">
                <a:latin typeface="Times New Roman"/>
                <a:cs typeface="Times New Roman"/>
              </a:rPr>
              <a:t>•Gradient Accumulation Steps: 1</a:t>
            </a:r>
          </a:p>
          <a:p>
            <a:pPr marL="342900" indent="-342900">
              <a:spcBef>
                <a:spcPct val="20000"/>
              </a:spcBef>
            </a:pPr>
            <a:r>
              <a:rPr lang="en-US">
                <a:latin typeface="Times New Roman"/>
                <a:cs typeface="Times New Roman"/>
              </a:rPr>
              <a:t>•Warmup Ratio: 0.03</a:t>
            </a:r>
          </a:p>
          <a:p>
            <a:pPr marL="342900" indent="-342900">
              <a:spcBef>
                <a:spcPct val="20000"/>
              </a:spcBef>
            </a:pPr>
            <a:r>
              <a:rPr lang="en-US">
                <a:latin typeface="Times New Roman"/>
                <a:cs typeface="Times New Roman"/>
              </a:rPr>
              <a:t>•Max Gradient Norm: 0.3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AF13C3-FB26-0BD6-12D6-455602590B6B}"/>
              </a:ext>
            </a:extLst>
          </p:cNvPr>
          <p:cNvSpPr txBox="1"/>
          <p:nvPr/>
        </p:nvSpPr>
        <p:spPr>
          <a:xfrm>
            <a:off x="636739" y="3642984"/>
            <a:ext cx="3954048" cy="21975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spcBef>
                <a:spcPts val="20"/>
              </a:spcBef>
            </a:pPr>
            <a:r>
              <a:rPr lang="en-US" b="1">
                <a:latin typeface="Times New Roman"/>
                <a:cs typeface="Times New Roman"/>
              </a:rPr>
              <a:t>Training Strategy</a:t>
            </a:r>
          </a:p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r>
              <a:rPr lang="en-US">
                <a:latin typeface="Times New Roman"/>
                <a:cs typeface="Times New Roman"/>
              </a:rPr>
              <a:t>Fine-tuning Technique: Supervised Fine-Tuning (SFT)</a:t>
            </a:r>
          </a:p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r>
              <a:rPr lang="en-US">
                <a:latin typeface="Times New Roman"/>
                <a:cs typeface="Times New Roman"/>
              </a:rPr>
              <a:t>Training Epochs: 1</a:t>
            </a:r>
          </a:p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r>
              <a:rPr lang="en-US">
                <a:latin typeface="Times New Roman"/>
                <a:cs typeface="Times New Roman"/>
              </a:rPr>
              <a:t>Dataset Loading: Custom text file processing</a:t>
            </a:r>
          </a:p>
          <a:p>
            <a:pPr marL="342900" indent="-342900">
              <a:spcBef>
                <a:spcPts val="20"/>
              </a:spcBef>
            </a:pPr>
            <a:endParaRPr lang="en-US">
              <a:latin typeface="Times New Roman"/>
              <a:ea typeface="ＭＳ Ｐゴシック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79849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04D70-9CD6-6187-21B9-330ADAE11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>
            <a:extLst>
              <a:ext uri="{FF2B5EF4-FFF2-40B4-BE49-F238E27FC236}">
                <a16:creationId xmlns:a16="http://schemas.microsoft.com/office/drawing/2014/main" id="{28EDEF85-5C3B-129E-E3D8-E3BE16F82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 dirty="0">
                <a:solidFill>
                  <a:srgbClr val="4D4D4D"/>
                </a:solidFill>
                <a:latin typeface="Georgia"/>
                <a:ea typeface="PMingLiU"/>
              </a:rPr>
              <a:t>Experimental Analysis(Llama-2-7B-Chat)</a:t>
            </a:r>
            <a:endParaRPr lang="en-US" altLang="zh-TW" sz="3600" dirty="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FDA9DE-0F43-0B00-0AC7-C48417DAA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13</a:t>
            </a:fld>
            <a:endParaRPr lang="en-US" altLang="zh-TW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82BAB2-F008-7D67-B58D-DC38A8B1DA1B}"/>
              </a:ext>
            </a:extLst>
          </p:cNvPr>
          <p:cNvSpPr txBox="1"/>
          <p:nvPr/>
        </p:nvSpPr>
        <p:spPr>
          <a:xfrm>
            <a:off x="375871" y="1606794"/>
            <a:ext cx="8106507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/>
                <a:ea typeface="+mn-ea"/>
                <a:cs typeface="Times New Roman"/>
              </a:rPr>
              <a:t>Quantitative Evaluation (on 32 samples):</a:t>
            </a:r>
            <a:endParaRPr lang="en-US" sz="2400" b="1">
              <a:ea typeface="+mn-ea"/>
              <a:cs typeface="Arial"/>
            </a:endParaRPr>
          </a:p>
          <a:p>
            <a:pPr marL="347345" indent="-347345">
              <a:buFont typeface="Arial"/>
              <a:buChar char="•"/>
            </a:pPr>
            <a:r>
              <a:rPr lang="en-US" sz="2400">
                <a:latin typeface="Times New Roman"/>
                <a:ea typeface="+mn-ea"/>
                <a:cs typeface="Times New Roman"/>
              </a:rPr>
              <a:t>Precision: 90.91%</a:t>
            </a:r>
          </a:p>
          <a:p>
            <a:pPr marL="347345" indent="-347345">
              <a:buFont typeface="Arial"/>
              <a:buChar char="•"/>
            </a:pPr>
            <a:r>
              <a:rPr lang="en-US" sz="2400">
                <a:latin typeface="Times New Roman"/>
                <a:ea typeface="+mn-ea"/>
                <a:cs typeface="Times New Roman"/>
              </a:rPr>
              <a:t>Recall: 90.91%</a:t>
            </a:r>
          </a:p>
          <a:p>
            <a:pPr marL="347345" indent="-347345">
              <a:buFont typeface="Arial"/>
              <a:buChar char="•"/>
            </a:pPr>
            <a:r>
              <a:rPr lang="en-US" sz="2400">
                <a:latin typeface="Times New Roman"/>
                <a:ea typeface="+mn-ea"/>
                <a:cs typeface="Times New Roman"/>
              </a:rPr>
              <a:t>F1 Score: 90.91%</a:t>
            </a:r>
          </a:p>
          <a:p>
            <a:pPr marL="347345" indent="-347345">
              <a:buFont typeface="Arial"/>
              <a:buChar char="•"/>
            </a:pPr>
            <a:r>
              <a:rPr lang="en-US" sz="2400">
                <a:latin typeface="Times New Roman"/>
                <a:ea typeface="+mn-ea"/>
                <a:cs typeface="Times New Roman"/>
              </a:rPr>
              <a:t>Accuracy: 87.5%</a:t>
            </a:r>
          </a:p>
          <a:p>
            <a:pPr marL="347345" indent="-347345"/>
            <a:endParaRPr lang="en-US" sz="2400">
              <a:latin typeface="Times New Roman"/>
              <a:ea typeface="+mn-ea"/>
              <a:cs typeface="Times New Roman"/>
            </a:endParaRPr>
          </a:p>
          <a:p>
            <a:pPr marL="347345" indent="-347345"/>
            <a:r>
              <a:rPr lang="en-US" sz="2400" b="1">
                <a:latin typeface="Times New Roman"/>
                <a:ea typeface="+mn-ea"/>
                <a:cs typeface="Times New Roman"/>
              </a:rPr>
              <a:t>Takeaway:</a:t>
            </a:r>
            <a:endParaRPr lang="en-US" sz="2400" b="1">
              <a:latin typeface="Times New Roman"/>
              <a:cs typeface="Times New Roman"/>
            </a:endParaRPr>
          </a:p>
          <a:p>
            <a:pPr marL="347345" indent="-347345">
              <a:buFont typeface="Arial"/>
              <a:buChar char="•"/>
            </a:pPr>
            <a:r>
              <a:rPr lang="en-US" sz="2400">
                <a:latin typeface="Times New Roman"/>
                <a:ea typeface="+mn-ea"/>
                <a:cs typeface="Times New Roman"/>
              </a:rPr>
              <a:t>Fine-tuned LLM achieved strong performance in identifying social media rule violations with interpretable outputs.</a:t>
            </a:r>
          </a:p>
          <a:p>
            <a:pPr marL="347345" indent="-347345">
              <a:buFont typeface="Arial"/>
              <a:buChar char="•"/>
            </a:pPr>
            <a:r>
              <a:rPr lang="en-US" sz="2400">
                <a:latin typeface="Times New Roman"/>
                <a:ea typeface="+mn-ea"/>
                <a:cs typeface="Times New Roman"/>
              </a:rPr>
              <a:t>Tried to fine-tune and test Llama-3.2-1B model but the fine-tuned model failed to generate any response.</a:t>
            </a:r>
          </a:p>
        </p:txBody>
      </p:sp>
    </p:spTree>
    <p:extLst>
      <p:ext uri="{BB962C8B-B14F-4D97-AF65-F5344CB8AC3E}">
        <p14:creationId xmlns:p14="http://schemas.microsoft.com/office/powerpoint/2010/main" val="981679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altLang="zh-TW" sz="36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Conclusion and Future Work</a:t>
            </a:r>
          </a:p>
        </p:txBody>
      </p:sp>
      <p:sp>
        <p:nvSpPr>
          <p:cNvPr id="53250" name="Content Placeholder 2"/>
          <p:cNvSpPr txBox="1">
            <a:spLocks/>
          </p:cNvSpPr>
          <p:nvPr/>
        </p:nvSpPr>
        <p:spPr bwMode="auto">
          <a:xfrm>
            <a:off x="9525" y="1752600"/>
            <a:ext cx="90678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en-US" altLang="en-US" sz="2000">
              <a:solidFill>
                <a:srgbClr val="4D4D4D"/>
              </a:solidFill>
              <a:latin typeface="Georgia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14</a:t>
            </a:fld>
            <a:endParaRPr lang="en-US" altLang="zh-TW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B2EBD-28B5-8633-0D75-4DFBCE2DA494}"/>
              </a:ext>
            </a:extLst>
          </p:cNvPr>
          <p:cNvSpPr txBox="1"/>
          <p:nvPr/>
        </p:nvSpPr>
        <p:spPr>
          <a:xfrm>
            <a:off x="455113" y="1718154"/>
            <a:ext cx="8192021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ＭＳ Ｐゴシック"/>
                <a:cs typeface="Arial"/>
              </a:rPr>
              <a:t>Incorporate real-world data sources to improve model robustness across diverse contexts. </a:t>
            </a:r>
            <a:endParaRPr lang="en-US">
              <a:cs typeface="Arial" pitchFamily="34" charset="0"/>
            </a:endParaRPr>
          </a:p>
          <a:p>
            <a:r>
              <a:rPr lang="en-US">
                <a:latin typeface="Arial"/>
                <a:ea typeface="ＭＳ Ｐゴシック"/>
                <a:cs typeface="Arial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ＭＳ Ｐゴシック"/>
                <a:cs typeface="Arial"/>
              </a:rPr>
              <a:t>Evaluate and fine-tune models like GPT-4,  Claude, </a:t>
            </a:r>
            <a:r>
              <a:rPr lang="en-US" err="1">
                <a:latin typeface="Arial"/>
                <a:ea typeface="ＭＳ Ｐゴシック"/>
                <a:cs typeface="Arial"/>
              </a:rPr>
              <a:t>etc</a:t>
            </a:r>
            <a:r>
              <a:rPr lang="en-US">
                <a:latin typeface="Arial"/>
                <a:ea typeface="ＭＳ Ｐゴシック"/>
                <a:cs typeface="Arial"/>
              </a:rPr>
              <a:t> leveraging the latest advancements. </a:t>
            </a:r>
            <a:endParaRPr lang="en-US">
              <a:cs typeface="Arial" pitchFamily="34" charset="0"/>
            </a:endParaRPr>
          </a:p>
          <a:p>
            <a:r>
              <a:rPr lang="en-US">
                <a:latin typeface="Arial"/>
                <a:ea typeface="ＭＳ Ｐゴシック"/>
                <a:cs typeface="Arial"/>
              </a:rPr>
              <a:t> </a:t>
            </a:r>
            <a:endParaRPr lang="en-US">
              <a:cs typeface="Arial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ＭＳ Ｐゴシック"/>
                <a:cs typeface="Arial"/>
              </a:rPr>
              <a:t>Experiment with different learning rates, batch sizes, and optimization techniques to determine the optimal setup. </a:t>
            </a:r>
          </a:p>
          <a:p>
            <a:pPr marL="285750" indent="-285750">
              <a:buFont typeface="Arial"/>
              <a:buChar char="•"/>
            </a:pPr>
            <a:endParaRPr lang="en-US">
              <a:latin typeface="Arial"/>
              <a:ea typeface="ＭＳ Ｐゴシック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ＭＳ Ｐゴシック"/>
                <a:cs typeface="Arial"/>
              </a:rPr>
              <a:t>Explore methods to fine-tune models with minimal data and improve their performance in scenarios with scarce training data. </a:t>
            </a:r>
          </a:p>
          <a:p>
            <a:pPr marL="285750" indent="-285750">
              <a:buFont typeface="Arial"/>
              <a:buChar char="•"/>
            </a:pPr>
            <a:endParaRPr lang="en-US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altLang="zh-TW" sz="36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References</a:t>
            </a:r>
          </a:p>
        </p:txBody>
      </p:sp>
      <p:sp>
        <p:nvSpPr>
          <p:cNvPr id="53250" name="Content Placeholder 2"/>
          <p:cNvSpPr txBox="1">
            <a:spLocks/>
          </p:cNvSpPr>
          <p:nvPr/>
        </p:nvSpPr>
        <p:spPr bwMode="auto">
          <a:xfrm>
            <a:off x="9525" y="1752600"/>
            <a:ext cx="90678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en-US" altLang="en-US" sz="2000">
              <a:solidFill>
                <a:srgbClr val="4D4D4D"/>
              </a:solidFill>
              <a:latin typeface="Georgia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15</a:t>
            </a:fld>
            <a:endParaRPr lang="en-US" altLang="zh-TW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CEED48-33EC-ADA7-7333-B806A3F54999}"/>
              </a:ext>
            </a:extLst>
          </p:cNvPr>
          <p:cNvSpPr txBox="1"/>
          <p:nvPr/>
        </p:nvSpPr>
        <p:spPr>
          <a:xfrm>
            <a:off x="799289" y="2084558"/>
            <a:ext cx="7732733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2000">
                <a:solidFill>
                  <a:srgbClr val="212529"/>
                </a:solidFill>
                <a:latin typeface="Arial"/>
                <a:ea typeface="ＭＳ Ｐゴシック"/>
                <a:cs typeface="Arial"/>
              </a:rPr>
              <a:t>Xu, Z., Liu, Y., Deng, G., Li, Y., &amp; Picek, S. (2024). A Comprehensive Study of Jailbreak Attack versus Defense for Large Language Models. </a:t>
            </a:r>
            <a:r>
              <a:rPr lang="en-US" sz="2000">
                <a:solidFill>
                  <a:srgbClr val="212529"/>
                </a:solidFill>
                <a:latin typeface="Arial"/>
                <a:ea typeface="ＭＳ Ｐゴシック"/>
                <a:cs typeface="Arial"/>
                <a:hlinkClick r:id="rId2"/>
              </a:rPr>
              <a:t>https://arxiv.org/abs/2402.13457</a:t>
            </a:r>
            <a:endParaRPr lang="en-US" sz="200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  <a:p>
            <a:pPr marL="342900" indent="-342900">
              <a:buAutoNum type="arabicPeriod"/>
            </a:pPr>
            <a:endParaRPr lang="en-US" sz="2000">
              <a:solidFill>
                <a:srgbClr val="212529"/>
              </a:solidFill>
              <a:latin typeface="Arial"/>
              <a:ea typeface="ＭＳ Ｐゴシック"/>
              <a:cs typeface="Arial"/>
            </a:endParaRPr>
          </a:p>
          <a:p>
            <a:pPr marL="342900" indent="-342900">
              <a:buAutoNum type="arabicPeriod"/>
            </a:pPr>
            <a:r>
              <a:rPr lang="en-US" sz="2000">
                <a:solidFill>
                  <a:srgbClr val="212529"/>
                </a:solidFill>
                <a:latin typeface="Arial"/>
                <a:ea typeface="ＭＳ Ｐゴシック"/>
                <a:cs typeface="Arial"/>
              </a:rPr>
              <a:t>Sharma, M., Tong, M., Mu, J., Wei, J., Kruthoff, J., Goodfriend, S., Ong, E., Peng, A., Agarwal, R., Anil, C., Askell, A., Bailey, N., Benton, J., Bluemke, E., Bowman, S. R., Christiansen, E., Cunningham, H., Dau, A., Gopal, A., … Perez, E. (2025). Constitutional Classifiers: Defending against Universal Jailbreaks across Thousands of Hours of Red Teaming. https://arxiv.org/abs/2501.18837</a:t>
            </a:r>
          </a:p>
          <a:p>
            <a:pPr marL="342900" indent="-342900">
              <a:buAutoNum type="arabicPeriod"/>
            </a:pPr>
            <a:endParaRPr lang="en-US" sz="2000">
              <a:solidFill>
                <a:srgbClr val="212529"/>
              </a:solidFill>
              <a:latin typeface="Arial"/>
              <a:ea typeface="ＭＳ Ｐゴシック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8056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C7DDB2-B162-AA27-B83F-28ECDECB5887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indent="0" algn="ctr">
              <a:buNone/>
            </a:pPr>
            <a:r>
              <a:rPr lang="en-US" sz="4800">
                <a:ea typeface="ＭＳ Ｐゴシック"/>
                <a:cs typeface="Arial"/>
              </a:rPr>
              <a:t>Thank You</a:t>
            </a:r>
            <a:endParaRPr lang="en-US" sz="4800"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EB7FE6-E372-97D6-9097-7ACBA8E5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/>
              <a:pPr/>
              <a:t>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19456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5"/>
          <p:cNvSpPr>
            <a:spLocks noChangeArrowheads="1"/>
          </p:cNvSpPr>
          <p:nvPr/>
        </p:nvSpPr>
        <p:spPr bwMode="auto">
          <a:xfrm>
            <a:off x="373063" y="152400"/>
            <a:ext cx="87709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ja-JP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An Intuitive Figure Showing WHY Claim</a:t>
            </a:r>
            <a:endParaRPr lang="en-US" altLang="zh-TW" sz="360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7544899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17</Slides>
  <Notes>13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revision>5</cp:revision>
  <cp:lastPrinted>2014-10-01T00:28:47Z</cp:lastPrinted>
  <dcterms:created xsi:type="dcterms:W3CDTF">2009-01-05T15:07:26Z</dcterms:created>
  <dcterms:modified xsi:type="dcterms:W3CDTF">2025-05-10T05:01:45Z</dcterms:modified>
</cp:coreProperties>
</file>