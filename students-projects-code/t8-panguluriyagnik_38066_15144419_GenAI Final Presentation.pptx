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21"/>
  </p:notesMasterIdLst>
  <p:handoutMasterIdLst>
    <p:handoutMasterId r:id="rId22"/>
  </p:handoutMasterIdLst>
  <p:sldIdLst>
    <p:sldId id="256" r:id="rId2"/>
    <p:sldId id="259" r:id="rId3"/>
    <p:sldId id="262" r:id="rId4"/>
    <p:sldId id="260" r:id="rId5"/>
    <p:sldId id="268" r:id="rId6"/>
    <p:sldId id="309" r:id="rId7"/>
    <p:sldId id="304" r:id="rId8"/>
    <p:sldId id="310" r:id="rId9"/>
    <p:sldId id="290" r:id="rId10"/>
    <p:sldId id="306" r:id="rId11"/>
    <p:sldId id="307" r:id="rId12"/>
    <p:sldId id="313" r:id="rId13"/>
    <p:sldId id="314" r:id="rId14"/>
    <p:sldId id="311" r:id="rId15"/>
    <p:sldId id="308" r:id="rId16"/>
    <p:sldId id="286" r:id="rId17"/>
    <p:sldId id="312" r:id="rId18"/>
    <p:sldId id="315" r:id="rId19"/>
    <p:sldId id="305" r:id="rId20"/>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pitchFamily="34"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pitchFamily="34"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pitchFamily="34"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pitchFamily="34"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pitchFamily="34" charset="0"/>
        <a:ea typeface="ＭＳ Ｐゴシック" pitchFamily="34" charset="-128"/>
        <a:cs typeface="+mn-cs"/>
      </a:defRPr>
    </a:lvl5pPr>
    <a:lvl6pPr marL="2286000" algn="l" defTabSz="914400" rtl="0" eaLnBrk="1" latinLnBrk="0" hangingPunct="1">
      <a:defRPr kern="1200">
        <a:solidFill>
          <a:schemeClr val="tx1"/>
        </a:solidFill>
        <a:latin typeface="Arial" pitchFamily="34" charset="0"/>
        <a:ea typeface="ＭＳ Ｐゴシック" pitchFamily="34" charset="-128"/>
        <a:cs typeface="+mn-cs"/>
      </a:defRPr>
    </a:lvl6pPr>
    <a:lvl7pPr marL="2743200" algn="l" defTabSz="914400" rtl="0" eaLnBrk="1" latinLnBrk="0" hangingPunct="1">
      <a:defRPr kern="1200">
        <a:solidFill>
          <a:schemeClr val="tx1"/>
        </a:solidFill>
        <a:latin typeface="Arial" pitchFamily="34" charset="0"/>
        <a:ea typeface="ＭＳ Ｐゴシック" pitchFamily="34" charset="-128"/>
        <a:cs typeface="+mn-cs"/>
      </a:defRPr>
    </a:lvl7pPr>
    <a:lvl8pPr marL="3200400" algn="l" defTabSz="914400" rtl="0" eaLnBrk="1" latinLnBrk="0" hangingPunct="1">
      <a:defRPr kern="1200">
        <a:solidFill>
          <a:schemeClr val="tx1"/>
        </a:solidFill>
        <a:latin typeface="Arial" pitchFamily="34" charset="0"/>
        <a:ea typeface="ＭＳ Ｐゴシック" pitchFamily="34" charset="-128"/>
        <a:cs typeface="+mn-cs"/>
      </a:defRPr>
    </a:lvl8pPr>
    <a:lvl9pPr marL="3657600" algn="l" defTabSz="914400" rtl="0" eaLnBrk="1" latinLnBrk="0" hangingPunct="1">
      <a:defRPr kern="1200">
        <a:solidFill>
          <a:schemeClr val="tx1"/>
        </a:solidFill>
        <a:latin typeface="Arial"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4D4D"/>
    <a:srgbClr val="003366"/>
    <a:srgbClr val="300448"/>
    <a:srgbClr val="000066"/>
    <a:srgbClr val="333399"/>
    <a:srgbClr val="6600CC"/>
    <a:srgbClr val="3366FF"/>
    <a:srgbClr val="5F5F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B5253E-60C4-B749-88E1-6657B777CC33}" v="237" dt="2025-05-09T21:34:30.466"/>
    <p1510:client id="{A9A58726-4567-F74B-A76A-AC0046756064}" v="2" dt="2025-05-09T16:15:52.7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00"/>
  </p:normalViewPr>
  <p:slideViewPr>
    <p:cSldViewPr snapToGrid="0">
      <p:cViewPr varScale="1">
        <p:scale>
          <a:sx n="67" d="100"/>
          <a:sy n="67" d="100"/>
        </p:scale>
        <p:origin x="176" y="102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D244F014-9A02-4370-98AF-8A4593A02C65}" type="datetimeFigureOut">
              <a:rPr lang="en-US" smtClean="0"/>
              <a:t>5/9/25</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7E140A1D-0B06-4C79-9F26-2E2FB119E5FB}" type="slidenum">
              <a:rPr lang="en-US" smtClean="0"/>
              <a:t>‹#›</a:t>
            </a:fld>
            <a:endParaRPr lang="en-US"/>
          </a:p>
        </p:txBody>
      </p:sp>
    </p:spTree>
    <p:extLst>
      <p:ext uri="{BB962C8B-B14F-4D97-AF65-F5344CB8AC3E}">
        <p14:creationId xmlns:p14="http://schemas.microsoft.com/office/powerpoint/2010/main" val="39611950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037840" cy="4648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defRPr sz="1200">
                <a:ea typeface="PMingLiU" pitchFamily="18" charset="-120"/>
              </a:defRPr>
            </a:lvl1pPr>
          </a:lstStyle>
          <a:p>
            <a:endParaRPr lang="en-US" altLang="zh-TW"/>
          </a:p>
        </p:txBody>
      </p:sp>
      <p:sp>
        <p:nvSpPr>
          <p:cNvPr id="3075" name="Rectangle 3"/>
          <p:cNvSpPr>
            <a:spLocks noGrp="1" noChangeArrowheads="1"/>
          </p:cNvSpPr>
          <p:nvPr>
            <p:ph type="dt" idx="1"/>
          </p:nvPr>
        </p:nvSpPr>
        <p:spPr bwMode="auto">
          <a:xfrm>
            <a:off x="3970938" y="0"/>
            <a:ext cx="3037840" cy="4648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lgn="r">
              <a:defRPr sz="1200">
                <a:ea typeface="PMingLiU" pitchFamily="18" charset="-120"/>
              </a:defRPr>
            </a:lvl1pPr>
          </a:lstStyle>
          <a:p>
            <a:endParaRPr lang="en-US" altLang="zh-TW"/>
          </a:p>
        </p:txBody>
      </p:sp>
      <p:sp>
        <p:nvSpPr>
          <p:cNvPr id="29700"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 xmlns:a14="http://schemas.microsoft.com/office/drawing/2010/main" val="1"/>
            </a:ext>
          </a:extLst>
        </p:spPr>
      </p:sp>
      <p:sp>
        <p:nvSpPr>
          <p:cNvPr id="3077" name="Rectangle 5"/>
          <p:cNvSpPr>
            <a:spLocks noGrp="1" noChangeArrowheads="1"/>
          </p:cNvSpPr>
          <p:nvPr>
            <p:ph type="body" sz="quarter" idx="3"/>
          </p:nvPr>
        </p:nvSpPr>
        <p:spPr bwMode="auto">
          <a:xfrm>
            <a:off x="701040" y="4415790"/>
            <a:ext cx="5608320" cy="41833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p>
            <a:pPr lvl="0"/>
            <a:r>
              <a:rPr lang="en-US" altLang="zh-TW" noProof="0"/>
              <a:t>Click to edit Master text styles</a:t>
            </a:r>
          </a:p>
          <a:p>
            <a:pPr lvl="1"/>
            <a:r>
              <a:rPr lang="en-US" altLang="zh-TW" noProof="0"/>
              <a:t>Second level</a:t>
            </a:r>
          </a:p>
          <a:p>
            <a:pPr lvl="2"/>
            <a:r>
              <a:rPr lang="en-US" altLang="zh-TW" noProof="0"/>
              <a:t>Third level</a:t>
            </a:r>
          </a:p>
          <a:p>
            <a:pPr lvl="3"/>
            <a:r>
              <a:rPr lang="en-US" altLang="zh-TW" noProof="0"/>
              <a:t>Fourth level</a:t>
            </a:r>
          </a:p>
          <a:p>
            <a:pPr lvl="4"/>
            <a:r>
              <a:rPr lang="en-US" altLang="zh-TW" noProof="0"/>
              <a:t>Fifth level</a:t>
            </a:r>
          </a:p>
        </p:txBody>
      </p:sp>
      <p:sp>
        <p:nvSpPr>
          <p:cNvPr id="3078" name="Rectangle 6"/>
          <p:cNvSpPr>
            <a:spLocks noGrp="1" noChangeArrowheads="1"/>
          </p:cNvSpPr>
          <p:nvPr>
            <p:ph type="ftr" sz="quarter" idx="4"/>
          </p:nvPr>
        </p:nvSpPr>
        <p:spPr bwMode="auto">
          <a:xfrm>
            <a:off x="0" y="8829967"/>
            <a:ext cx="3037840" cy="4648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defRPr sz="1200">
                <a:ea typeface="PMingLiU" pitchFamily="18" charset="-120"/>
              </a:defRPr>
            </a:lvl1pPr>
          </a:lstStyle>
          <a:p>
            <a:endParaRPr lang="en-US" altLang="zh-TW"/>
          </a:p>
        </p:txBody>
      </p:sp>
      <p:sp>
        <p:nvSpPr>
          <p:cNvPr id="3079" name="Rectangle 7"/>
          <p:cNvSpPr>
            <a:spLocks noGrp="1" noChangeArrowheads="1"/>
          </p:cNvSpPr>
          <p:nvPr>
            <p:ph type="sldNum" sz="quarter" idx="5"/>
          </p:nvPr>
        </p:nvSpPr>
        <p:spPr bwMode="auto">
          <a:xfrm>
            <a:off x="3970938" y="8829967"/>
            <a:ext cx="3037840" cy="4648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lgn="r">
              <a:defRPr sz="1200">
                <a:ea typeface="PMingLiU" pitchFamily="18" charset="-120"/>
              </a:defRPr>
            </a:lvl1pPr>
          </a:lstStyle>
          <a:p>
            <a:fld id="{5D7F18D2-2977-429E-8B6D-22778A44E64D}" type="slidenum">
              <a:rPr lang="zh-TW" altLang="en-US"/>
              <a:pPr/>
              <a:t>‹#›</a:t>
            </a:fld>
            <a:endParaRPr lang="en-US" altLang="zh-TW"/>
          </a:p>
        </p:txBody>
      </p:sp>
    </p:spTree>
    <p:extLst>
      <p:ext uri="{BB962C8B-B14F-4D97-AF65-F5344CB8AC3E}">
        <p14:creationId xmlns:p14="http://schemas.microsoft.com/office/powerpoint/2010/main" val="287202946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mn-cs"/>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itchFamily="34" charset="0"/>
                <a:ea typeface="ＭＳ Ｐゴシック" pitchFamily="34" charset="-128"/>
              </a:defRPr>
            </a:lvl1pPr>
            <a:lvl2pPr marL="757066" indent="-291179" eaLnBrk="0" hangingPunct="0">
              <a:defRPr sz="2400">
                <a:solidFill>
                  <a:schemeClr val="tx1"/>
                </a:solidFill>
                <a:latin typeface="Arial" pitchFamily="34" charset="0"/>
                <a:ea typeface="ＭＳ Ｐゴシック" pitchFamily="34" charset="-128"/>
              </a:defRPr>
            </a:lvl2pPr>
            <a:lvl3pPr marL="1164717" indent="-232943" eaLnBrk="0" hangingPunct="0">
              <a:defRPr sz="2400">
                <a:solidFill>
                  <a:schemeClr val="tx1"/>
                </a:solidFill>
                <a:latin typeface="Arial" pitchFamily="34" charset="0"/>
                <a:ea typeface="ＭＳ Ｐゴシック" pitchFamily="34" charset="-128"/>
              </a:defRPr>
            </a:lvl3pPr>
            <a:lvl4pPr marL="1630604" indent="-232943" eaLnBrk="0" hangingPunct="0">
              <a:defRPr sz="2400">
                <a:solidFill>
                  <a:schemeClr val="tx1"/>
                </a:solidFill>
                <a:latin typeface="Arial" pitchFamily="34" charset="0"/>
                <a:ea typeface="ＭＳ Ｐゴシック" pitchFamily="34" charset="-128"/>
              </a:defRPr>
            </a:lvl4pPr>
            <a:lvl5pPr marL="2096491" indent="-232943" eaLnBrk="0" hangingPunct="0">
              <a:defRPr sz="2400">
                <a:solidFill>
                  <a:schemeClr val="tx1"/>
                </a:solidFill>
                <a:latin typeface="Arial" pitchFamily="34" charset="0"/>
                <a:ea typeface="ＭＳ Ｐゴシック" pitchFamily="34" charset="-128"/>
              </a:defRPr>
            </a:lvl5pPr>
            <a:lvl6pPr marL="2562377" indent="-232943"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3028264" indent="-232943"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94151" indent="-232943"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960038" indent="-232943"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3EEB0713-4CCC-4E3E-846C-FACD634EFBA6}" type="slidenum">
              <a:rPr lang="zh-TW" altLang="en-US" sz="1200">
                <a:ea typeface="PMingLiU" pitchFamily="18" charset="-120"/>
              </a:rPr>
              <a:pPr eaLnBrk="1" hangingPunct="1"/>
              <a:t>1</a:t>
            </a:fld>
            <a:endParaRPr lang="en-US" altLang="zh-TW" sz="1200">
              <a:ea typeface="PMingLiU" pitchFamily="18" charset="-12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extLst>
            <a:ext uri="{AF507438-7753-43e0-B8FC-AC1667EBCBE1}">
              <a14:hiddenEffects xmln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endParaRPr lang="zh-TW" altLang="en-US">
              <a:latin typeface="Arial" pitchFamily="34" charset="0"/>
              <a:ea typeface="PMingLiU" pitchFamily="18" charset="-120"/>
            </a:endParaRPr>
          </a:p>
        </p:txBody>
      </p:sp>
    </p:spTree>
    <p:extLst>
      <p:ext uri="{BB962C8B-B14F-4D97-AF65-F5344CB8AC3E}">
        <p14:creationId xmlns:p14="http://schemas.microsoft.com/office/powerpoint/2010/main" val="16012201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itchFamily="34" charset="0"/>
                <a:ea typeface="ＭＳ Ｐゴシック" pitchFamily="34" charset="-128"/>
              </a:defRPr>
            </a:lvl1pPr>
            <a:lvl2pPr marL="757066" indent="-291179" eaLnBrk="0" hangingPunct="0">
              <a:defRPr sz="2400">
                <a:solidFill>
                  <a:schemeClr val="tx1"/>
                </a:solidFill>
                <a:latin typeface="Arial" pitchFamily="34" charset="0"/>
                <a:ea typeface="ＭＳ Ｐゴシック" pitchFamily="34" charset="-128"/>
              </a:defRPr>
            </a:lvl2pPr>
            <a:lvl3pPr marL="1164717" indent="-232943" eaLnBrk="0" hangingPunct="0">
              <a:defRPr sz="2400">
                <a:solidFill>
                  <a:schemeClr val="tx1"/>
                </a:solidFill>
                <a:latin typeface="Arial" pitchFamily="34" charset="0"/>
                <a:ea typeface="ＭＳ Ｐゴシック" pitchFamily="34" charset="-128"/>
              </a:defRPr>
            </a:lvl3pPr>
            <a:lvl4pPr marL="1630604" indent="-232943" eaLnBrk="0" hangingPunct="0">
              <a:defRPr sz="2400">
                <a:solidFill>
                  <a:schemeClr val="tx1"/>
                </a:solidFill>
                <a:latin typeface="Arial" pitchFamily="34" charset="0"/>
                <a:ea typeface="ＭＳ Ｐゴシック" pitchFamily="34" charset="-128"/>
              </a:defRPr>
            </a:lvl4pPr>
            <a:lvl5pPr marL="2096491" indent="-232943" eaLnBrk="0" hangingPunct="0">
              <a:defRPr sz="2400">
                <a:solidFill>
                  <a:schemeClr val="tx1"/>
                </a:solidFill>
                <a:latin typeface="Arial" pitchFamily="34" charset="0"/>
                <a:ea typeface="ＭＳ Ｐゴシック" pitchFamily="34" charset="-128"/>
              </a:defRPr>
            </a:lvl5pPr>
            <a:lvl6pPr marL="2562377" indent="-232943"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3028264" indent="-232943"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94151" indent="-232943"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960038" indent="-232943"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2DF503E9-4B1D-4341-B837-151F396BAC41}" type="slidenum">
              <a:rPr lang="zh-TW" altLang="en-US" sz="1200">
                <a:ea typeface="PMingLiU" pitchFamily="18" charset="-120"/>
              </a:rPr>
              <a:pPr eaLnBrk="1" hangingPunct="1"/>
              <a:t>2</a:t>
            </a:fld>
            <a:endParaRPr lang="en-US" altLang="zh-TW" sz="1200">
              <a:ea typeface="PMingLiU" pitchFamily="18" charset="-120"/>
            </a:endParaRPr>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extLst>
            <a:ext uri="{AF507438-7753-43e0-B8FC-AC1667EBCBE1}">
              <a14:hiddenEffects xmln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r>
              <a:rPr lang="en-US" altLang="zh-CN" noProof="0">
                <a:latin typeface="Arial" pitchFamily="34" charset="0"/>
                <a:ea typeface="PMingLiU" pitchFamily="18" charset="-120"/>
              </a:rPr>
              <a:t>Peer review is one of the cornerstones of academic publishing. It ensures research is vetted, sound, and impactful before it’s accepted into the scientific community.</a:t>
            </a:r>
          </a:p>
          <a:p>
            <a:pPr eaLnBrk="1" hangingPunct="1"/>
            <a:endParaRPr lang="en-US" altLang="zh-CN" noProof="0">
              <a:latin typeface="Arial" pitchFamily="34" charset="0"/>
              <a:ea typeface="PMingLiU" pitchFamily="18" charset="-120"/>
            </a:endParaRPr>
          </a:p>
          <a:p>
            <a:pPr eaLnBrk="1" hangingPunct="1"/>
            <a:r>
              <a:rPr lang="en-US" altLang="zh-CN" noProof="0">
                <a:latin typeface="Arial" pitchFamily="34" charset="0"/>
                <a:ea typeface="PMingLiU" pitchFamily="18" charset="-120"/>
              </a:rPr>
              <a:t>But the process is slow, inconsistent, and incredibly labor-intensive. A reviewer might spend hours reading a paper, writing a summary, identifying strengths, weaknesses, suggestions – all of which are subjective, unstructured, and vary wildly across reviewers.</a:t>
            </a:r>
          </a:p>
          <a:p>
            <a:pPr eaLnBrk="1" hangingPunct="1"/>
            <a:endParaRPr lang="en-US" altLang="zh-CN" noProof="0">
              <a:latin typeface="Arial" pitchFamily="34" charset="0"/>
              <a:ea typeface="PMingLiU" pitchFamily="18" charset="-120"/>
            </a:endParaRPr>
          </a:p>
          <a:p>
            <a:pPr eaLnBrk="1" hangingPunct="1"/>
            <a:r>
              <a:rPr lang="en-US" altLang="zh-CN" noProof="0">
                <a:latin typeface="Arial" pitchFamily="34" charset="0"/>
                <a:ea typeface="PMingLiU" pitchFamily="18" charset="-120"/>
              </a:rPr>
              <a:t>At the same time, we’re seeing an explosion of scientific papers. In fields like computer science, thousands of papers are submitted to major conferences like </a:t>
            </a:r>
            <a:r>
              <a:rPr lang="en-US" altLang="zh-CN" noProof="0" err="1">
                <a:latin typeface="Arial" pitchFamily="34" charset="0"/>
                <a:ea typeface="PMingLiU" pitchFamily="18" charset="-120"/>
              </a:rPr>
              <a:t>NeurIPS</a:t>
            </a:r>
            <a:r>
              <a:rPr lang="en-US" altLang="zh-CN" noProof="0">
                <a:latin typeface="Arial" pitchFamily="34" charset="0"/>
                <a:ea typeface="PMingLiU" pitchFamily="18" charset="-120"/>
              </a:rPr>
              <a:t> or ICLR annually. Reviewers are overwhelmed – which could lead to shallow reviews or delays in the process.</a:t>
            </a:r>
          </a:p>
          <a:p>
            <a:pPr eaLnBrk="1" hangingPunct="1"/>
            <a:endParaRPr lang="en-US" altLang="zh-CN" noProof="0">
              <a:latin typeface="Arial" pitchFamily="34" charset="0"/>
              <a:ea typeface="PMingLiU" pitchFamily="18" charset="-120"/>
            </a:endParaRPr>
          </a:p>
          <a:p>
            <a:pPr eaLnBrk="1" hangingPunct="1"/>
            <a:r>
              <a:rPr lang="en-US" altLang="zh-CN" noProof="0">
                <a:latin typeface="Arial" pitchFamily="34" charset="0"/>
                <a:ea typeface="PMingLiU" pitchFamily="18" charset="-120"/>
              </a:rPr>
              <a:t>With the rise of LLMs like GPT-4, we asked the question: Could we automate some of this review process – not just summarizing, but evaluating and critiquing papers? </a:t>
            </a:r>
            <a:br>
              <a:rPr lang="en-US" altLang="zh-CN" noProof="0">
                <a:latin typeface="Arial" pitchFamily="34" charset="0"/>
                <a:ea typeface="PMingLiU" pitchFamily="18" charset="-120"/>
              </a:rPr>
            </a:br>
            <a:endParaRPr lang="en-US" altLang="zh-CN" noProof="0">
              <a:latin typeface="Arial" pitchFamily="34" charset="0"/>
              <a:ea typeface="PMingLiU" pitchFamily="18" charset="-120"/>
            </a:endParaRPr>
          </a:p>
          <a:p>
            <a:pPr eaLnBrk="1" hangingPunct="1"/>
            <a:r>
              <a:rPr lang="en-US" altLang="zh-CN" noProof="0">
                <a:latin typeface="Arial" pitchFamily="34" charset="0"/>
                <a:ea typeface="PMingLiU" pitchFamily="18" charset="-120"/>
              </a:rPr>
              <a:t>The simple answer is yes, you can throw a paper into ChatGPT and ask it to summarize or give you a review, but as we will see, that leads to generic, often shallow feedback that lacks structure and technical depth.</a:t>
            </a:r>
          </a:p>
          <a:p>
            <a:pPr eaLnBrk="1" hangingPunct="1"/>
            <a:endParaRPr lang="en-US" altLang="zh-CN" noProof="0">
              <a:latin typeface="Arial" pitchFamily="34" charset="0"/>
              <a:ea typeface="PMingLiU" pitchFamily="18" charset="-120"/>
            </a:endParaRPr>
          </a:p>
          <a:p>
            <a:pPr eaLnBrk="1" hangingPunct="1"/>
            <a:r>
              <a:rPr lang="en-US" altLang="zh-CN" noProof="0">
                <a:latin typeface="Arial" pitchFamily="34" charset="0"/>
                <a:ea typeface="PMingLiU" pitchFamily="18" charset="-120"/>
              </a:rPr>
              <a:t>So, our motivation became: build a generative system that assists in producing critiques and evaluations of academic papers automatically.</a:t>
            </a:r>
            <a:endParaRPr lang="zh-CN" altLang="en-US" noProof="0">
              <a:latin typeface="Arial" pitchFamily="34" charset="0"/>
              <a:ea typeface="PMingLiU" pitchFamily="18" charset="-120"/>
            </a:endParaRPr>
          </a:p>
        </p:txBody>
      </p:sp>
    </p:spTree>
    <p:extLst>
      <p:ext uri="{BB962C8B-B14F-4D97-AF65-F5344CB8AC3E}">
        <p14:creationId xmlns:p14="http://schemas.microsoft.com/office/powerpoint/2010/main" val="20163589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a:t>Before we dive into our approach, it’s helpful to understand the broader context behind the project. </a:t>
            </a:r>
            <a:br>
              <a:rPr lang="en-US" baseline="0"/>
            </a:br>
            <a:br>
              <a:rPr lang="en-US" baseline="0"/>
            </a:br>
            <a:r>
              <a:rPr lang="en-US"/>
              <a:t>In recent years, Large Language Models — like GPT-4 — have rapidly gained popularity in academia. Researchers are now using them for everything from drafting paper abstracts and generating related work sections, to summarizing long documents and assisting with literature reviews. What this shows is not just convenience, but a growing reliance on AI to augment the research workflow — especially in the early stages of writing. </a:t>
            </a:r>
          </a:p>
          <a:p>
            <a:endParaRPr lang="en-US" baseline="0"/>
          </a:p>
          <a:p>
            <a:r>
              <a:rPr lang="en-US"/>
              <a:t>While GenAI has shown strong performance in writing or summarizing, critique is a different challenge entirely. Writing aims to explain; critique aims to evaluate. Reviewing a paper demands a nuanced understanding of methodology, originality, relevance, and sometimes even mathematical rigor. It’s not enough to just summarize — a good critique identifies assumptions, spots weaknesses, and suggests improvements. That’s why simply prompting a model to ‘review a paper’ doesn’t always yield insightful or structured results — and it’s a key problem we wanted to address. </a:t>
            </a:r>
            <a:endParaRPr lang="en-US" baseline="0"/>
          </a:p>
          <a:p>
            <a:endParaRPr lang="en-US" baseline="0"/>
          </a:p>
          <a:p>
            <a:pPr>
              <a:buNone/>
            </a:pPr>
            <a:r>
              <a:rPr lang="en-US"/>
              <a:t>The academic publishing world is growing at a rate that makes it hard for traditional peer review to keep up. On top of that, many early-career researchers — especially non-native English speakers — lack access to high-quality feedback on their drafts. We believe GenAI can help bridge this gap, but only if it’s prompted in a way that encourages depth, structure, and relevance.” </a:t>
            </a:r>
            <a:br>
              <a:rPr lang="en-US"/>
            </a:br>
            <a:endParaRPr lang="en-US"/>
          </a:p>
          <a:p>
            <a:pPr>
              <a:buNone/>
            </a:pPr>
            <a:r>
              <a:rPr lang="en-US"/>
              <a:t>“So that brings us to our motivation: what if we could </a:t>
            </a:r>
            <a:r>
              <a:rPr lang="en-US" i="1"/>
              <a:t>prompt engineer</a:t>
            </a:r>
            <a:r>
              <a:rPr lang="en-US"/>
              <a:t> GenAI in a way that consistently produces insightful, structured reviews — not just vague summaries? </a:t>
            </a:r>
            <a:endParaRPr lang="en-US" baseline="0"/>
          </a:p>
          <a:p>
            <a:pPr>
              <a:buNone/>
            </a:pPr>
            <a:endParaRPr lang="en-US" baseline="0"/>
          </a:p>
          <a:p>
            <a:pPr>
              <a:buNone/>
            </a:pPr>
            <a:endParaRPr lang="en-US" baseline="0"/>
          </a:p>
        </p:txBody>
      </p:sp>
      <p:sp>
        <p:nvSpPr>
          <p:cNvPr id="4" name="Slide Number Placeholder 3"/>
          <p:cNvSpPr>
            <a:spLocks noGrp="1"/>
          </p:cNvSpPr>
          <p:nvPr>
            <p:ph type="sldNum" sz="quarter" idx="10"/>
          </p:nvPr>
        </p:nvSpPr>
        <p:spPr/>
        <p:txBody>
          <a:bodyPr/>
          <a:lstStyle/>
          <a:p>
            <a:fld id="{5D7F18D2-2977-429E-8B6D-22778A44E64D}" type="slidenum">
              <a:rPr lang="zh-TW" altLang="en-US" smtClean="0"/>
              <a:pPr/>
              <a:t>3</a:t>
            </a:fld>
            <a:endParaRPr lang="en-US" altLang="zh-TW"/>
          </a:p>
        </p:txBody>
      </p:sp>
    </p:spTree>
    <p:extLst>
      <p:ext uri="{BB962C8B-B14F-4D97-AF65-F5344CB8AC3E}">
        <p14:creationId xmlns:p14="http://schemas.microsoft.com/office/powerpoint/2010/main" val="29440565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a:t>In building our system, we were inspired by several streams of prior work.</a:t>
            </a:r>
          </a:p>
          <a:p>
            <a:endParaRPr lang="en-US" baseline="0"/>
          </a:p>
          <a:p>
            <a:r>
              <a:rPr lang="en-US" baseline="0"/>
              <a:t>The first major inspiration is </a:t>
            </a:r>
            <a:r>
              <a:rPr lang="en-US" baseline="0" err="1"/>
              <a:t>SciReviewGen</a:t>
            </a:r>
            <a:r>
              <a:rPr lang="en-US" baseline="0"/>
              <a:t>, a paper that introduces a benchmark specifically for literature review generation, based on 10,000 real reviews and over 700,000 cited papers. Unlike prior datasets, it uses full review structure with chapter divisions and focuses on query-based multi-document summarization. One limitation was the lack of domain-specific grounding, especially for fields like Computer Vision or NLP, where methodological nuance matters. This motivated us to look further, not just generate reviews, but make them structured, evaluative, and tied to the paper’s specific content.</a:t>
            </a:r>
          </a:p>
          <a:p>
            <a:endParaRPr lang="en-US" baseline="0"/>
          </a:p>
          <a:p>
            <a:pPr>
              <a:buNone/>
            </a:pPr>
            <a:r>
              <a:rPr lang="en-US"/>
              <a:t>Another body of work we examined involves </a:t>
            </a:r>
            <a:r>
              <a:rPr lang="en-US" b="1"/>
              <a:t>scientific claim extraction</a:t>
            </a:r>
            <a:r>
              <a:rPr lang="en-US"/>
              <a:t>. These models attempt to identify a paper’s key contributions, supporting evidence, and reasoning structure. While they’re useful for summarization or indexing, they stop short of producing feedback or criticism. Our goal was different: we wanted to generate </a:t>
            </a:r>
            <a:r>
              <a:rPr lang="en-US" b="1"/>
              <a:t>critical analysis</a:t>
            </a:r>
            <a:r>
              <a:rPr lang="en-US"/>
              <a:t>, not just extractive summaries. </a:t>
            </a:r>
            <a:br>
              <a:rPr lang="en-US"/>
            </a:br>
            <a:endParaRPr lang="en-US"/>
          </a:p>
          <a:p>
            <a:pPr>
              <a:buNone/>
            </a:pPr>
            <a:r>
              <a:rPr lang="en-US">
                <a:latin typeface="Arial"/>
                <a:ea typeface="ＭＳ Ｐゴシック"/>
                <a:cs typeface="Arial"/>
              </a:rPr>
              <a:t>Finally, we were influenced by recent progress in </a:t>
            </a:r>
            <a:r>
              <a:rPr lang="en-US" b="1">
                <a:latin typeface="Arial"/>
                <a:ea typeface="ＭＳ Ｐゴシック"/>
                <a:cs typeface="Arial"/>
              </a:rPr>
              <a:t>structured prompting</a:t>
            </a:r>
            <a:r>
              <a:rPr lang="en-US">
                <a:latin typeface="Arial"/>
                <a:ea typeface="ＭＳ Ｐゴシック"/>
                <a:cs typeface="Arial"/>
              </a:rPr>
              <a:t>. There’s growing evidence that carefully engineered prompts — with explicit formatting, guidelines, and semantic scaffolding — can significantly improve LLM outputs across tasks like code generation, factual answering, and summarization. This supported our intuition that </a:t>
            </a:r>
            <a:r>
              <a:rPr lang="en-US" b="1">
                <a:latin typeface="Arial"/>
                <a:ea typeface="ＭＳ Ｐゴシック"/>
                <a:cs typeface="Arial"/>
              </a:rPr>
              <a:t>prompt design is critical</a:t>
            </a:r>
            <a:r>
              <a:rPr lang="en-US">
                <a:latin typeface="Arial"/>
                <a:ea typeface="ＭＳ Ｐゴシック"/>
                <a:cs typeface="Arial"/>
              </a:rPr>
              <a:t>, and that we could outperform simple generation by guiding the model through structured expectations. </a:t>
            </a:r>
          </a:p>
          <a:p>
            <a:endParaRPr lang="en-US">
              <a:latin typeface="Arial"/>
              <a:ea typeface="ＭＳ Ｐゴシック"/>
              <a:cs typeface="Arial"/>
            </a:endParaRPr>
          </a:p>
          <a:p>
            <a:pPr>
              <a:buNone/>
            </a:pPr>
            <a:r>
              <a:rPr lang="en-US"/>
              <a:t>So in summary, while </a:t>
            </a:r>
            <a:r>
              <a:rPr lang="en-US" err="1"/>
              <a:t>SciReviewGen</a:t>
            </a:r>
            <a:r>
              <a:rPr lang="en-US"/>
              <a:t> showed that reviews could be generated, and claim extraction showed how core ideas could be identified, our work takes the next step — synthesizing these approaches into a system that uses </a:t>
            </a:r>
            <a:r>
              <a:rPr lang="en-US" b="1"/>
              <a:t>structured prompting to produce rich, multi-faceted, and technically grounded reviews.</a:t>
            </a:r>
            <a:r>
              <a:rPr lang="en-US"/>
              <a:t>” </a:t>
            </a:r>
            <a:endParaRPr lang="en-US" baseline="0"/>
          </a:p>
        </p:txBody>
      </p:sp>
      <p:sp>
        <p:nvSpPr>
          <p:cNvPr id="4" name="Slide Number Placeholder 3"/>
          <p:cNvSpPr>
            <a:spLocks noGrp="1"/>
          </p:cNvSpPr>
          <p:nvPr>
            <p:ph type="sldNum" sz="quarter" idx="10"/>
          </p:nvPr>
        </p:nvSpPr>
        <p:spPr/>
        <p:txBody>
          <a:bodyPr/>
          <a:lstStyle/>
          <a:p>
            <a:fld id="{5D7F18D2-2977-429E-8B6D-22778A44E64D}" type="slidenum">
              <a:rPr lang="zh-TW" altLang="en-US" smtClean="0"/>
              <a:pPr/>
              <a:t>4</a:t>
            </a:fld>
            <a:endParaRPr lang="en-US" altLang="zh-TW"/>
          </a:p>
        </p:txBody>
      </p:sp>
    </p:spTree>
    <p:extLst>
      <p:ext uri="{BB962C8B-B14F-4D97-AF65-F5344CB8AC3E}">
        <p14:creationId xmlns:p14="http://schemas.microsoft.com/office/powerpoint/2010/main" val="14692742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itchFamily="34" charset="0"/>
                <a:ea typeface="ＭＳ Ｐゴシック" pitchFamily="34" charset="-128"/>
              </a:defRPr>
            </a:lvl1pPr>
            <a:lvl2pPr marL="757066" indent="-291179" eaLnBrk="0" hangingPunct="0">
              <a:defRPr sz="2400">
                <a:solidFill>
                  <a:schemeClr val="tx1"/>
                </a:solidFill>
                <a:latin typeface="Arial" pitchFamily="34" charset="0"/>
                <a:ea typeface="ＭＳ Ｐゴシック" pitchFamily="34" charset="-128"/>
              </a:defRPr>
            </a:lvl2pPr>
            <a:lvl3pPr marL="1164717" indent="-232943" eaLnBrk="0" hangingPunct="0">
              <a:defRPr sz="2400">
                <a:solidFill>
                  <a:schemeClr val="tx1"/>
                </a:solidFill>
                <a:latin typeface="Arial" pitchFamily="34" charset="0"/>
                <a:ea typeface="ＭＳ Ｐゴシック" pitchFamily="34" charset="-128"/>
              </a:defRPr>
            </a:lvl3pPr>
            <a:lvl4pPr marL="1630604" indent="-232943" eaLnBrk="0" hangingPunct="0">
              <a:defRPr sz="2400">
                <a:solidFill>
                  <a:schemeClr val="tx1"/>
                </a:solidFill>
                <a:latin typeface="Arial" pitchFamily="34" charset="0"/>
                <a:ea typeface="ＭＳ Ｐゴシック" pitchFamily="34" charset="-128"/>
              </a:defRPr>
            </a:lvl4pPr>
            <a:lvl5pPr marL="2096491" indent="-232943" eaLnBrk="0" hangingPunct="0">
              <a:defRPr sz="2400">
                <a:solidFill>
                  <a:schemeClr val="tx1"/>
                </a:solidFill>
                <a:latin typeface="Arial" pitchFamily="34" charset="0"/>
                <a:ea typeface="ＭＳ Ｐゴシック" pitchFamily="34" charset="-128"/>
              </a:defRPr>
            </a:lvl5pPr>
            <a:lvl6pPr marL="2562377" indent="-232943"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3028264" indent="-232943"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94151" indent="-232943"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960038" indent="-232943"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07E23D78-CF54-4D4E-9A10-679B9CD3C531}" type="slidenum">
              <a:rPr lang="zh-TW" altLang="en-US" sz="1200">
                <a:ea typeface="PMingLiU" pitchFamily="18" charset="-120"/>
              </a:rPr>
              <a:pPr eaLnBrk="1" hangingPunct="1"/>
              <a:t>5</a:t>
            </a:fld>
            <a:endParaRPr lang="en-US" altLang="zh-TW" sz="1200">
              <a:ea typeface="PMingLiU" pitchFamily="18" charset="-120"/>
            </a:endParaRPr>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extLst>
            <a:ext uri="{AF507438-7753-43e0-B8FC-AC1667EBCBE1}">
              <a14:hiddenEffects xmlns="" xmlns:a14="http://schemas.microsoft.com/office/drawing/2010/main">
                <a:effectLst>
                  <a:outerShdw blurRad="63500" dist="38099" dir="2700000" algn="ctr" rotWithShape="0">
                    <a:schemeClr val="bg2">
                      <a:alpha val="74997"/>
                    </a:schemeClr>
                  </a:outerShdw>
                </a:effectLst>
              </a14:hiddenEffects>
            </a:ext>
          </a:extLst>
        </p:spPr>
        <p:txBody>
          <a:bodyPr/>
          <a:lstStyle/>
          <a:p>
            <a:r>
              <a:rPr lang="en-US" i="1">
                <a:latin typeface="Arial"/>
                <a:ea typeface="ＭＳ Ｐゴシック"/>
                <a:cs typeface="Arial"/>
              </a:rPr>
              <a:t>Let’s talk about the core idea driving our work. Academic peer review is an essential part of the scientific progress — but it’s also a time-intensive task that demands deep technical understanding, clarity in writing, and fair critical thinking.”</a:t>
            </a:r>
            <a:r>
              <a:rPr lang="en-US">
                <a:latin typeface="Arial"/>
                <a:ea typeface="ＭＳ Ｐゴシック"/>
                <a:cs typeface="Arial"/>
              </a:rPr>
              <a:t> </a:t>
            </a:r>
            <a:br>
              <a:rPr lang="en-US">
                <a:cs typeface="Arial"/>
              </a:rPr>
            </a:br>
            <a:endParaRPr lang="en-US"/>
          </a:p>
          <a:p>
            <a:pPr>
              <a:buNone/>
            </a:pPr>
            <a:r>
              <a:rPr lang="en-US" i="1">
                <a:latin typeface="Arial"/>
                <a:ea typeface="ＭＳ Ｐゴシック"/>
                <a:cs typeface="Arial"/>
              </a:rPr>
              <a:t>“Large language models like GPT-4 are now capable of parsing and summarizing technical content reasonably well. But when left unprompted or minimally guided, their reviews often fall short: they might summarize too vaguely, overlook reproducibility, or fail to comment on methodology or weaknesses.”</a:t>
            </a:r>
            <a:r>
              <a:rPr lang="en-US">
                <a:latin typeface="Arial"/>
                <a:ea typeface="ＭＳ Ｐゴシック"/>
                <a:cs typeface="Arial"/>
              </a:rPr>
              <a:t> </a:t>
            </a:r>
            <a:br>
              <a:rPr lang="en-US">
                <a:cs typeface="Arial"/>
              </a:rPr>
            </a:br>
            <a:endParaRPr lang="en-US"/>
          </a:p>
          <a:p>
            <a:pPr>
              <a:buNone/>
            </a:pPr>
            <a:r>
              <a:rPr lang="en-US" i="1">
                <a:latin typeface="Arial"/>
                <a:ea typeface="ＭＳ Ｐゴシック"/>
                <a:cs typeface="Arial"/>
              </a:rPr>
              <a:t>“So our central claim is: With structured prompt engineering — that is, carefully specifying what sections to generate and how — we can coax an LLM to produce reviews that are more complete, more aligned with academic standards, and more useful to authors or reviewers.”</a:t>
            </a:r>
            <a:r>
              <a:rPr lang="en-US">
                <a:latin typeface="Arial"/>
                <a:ea typeface="ＭＳ Ｐゴシック"/>
                <a:cs typeface="Arial"/>
              </a:rPr>
              <a:t> </a:t>
            </a:r>
            <a:br>
              <a:rPr lang="en-US">
                <a:cs typeface="Arial"/>
              </a:rPr>
            </a:br>
            <a:endParaRPr lang="en-US"/>
          </a:p>
          <a:p>
            <a:pPr>
              <a:buNone/>
            </a:pPr>
            <a:r>
              <a:rPr lang="en-US" i="1">
                <a:latin typeface="Arial"/>
                <a:ea typeface="ＭＳ Ｐゴシック"/>
                <a:cs typeface="Arial"/>
              </a:rPr>
              <a:t>“The task we focus on is review generation from research papers. Specifically, given just a paper’s PDF, we want to automatically generate a structured review that includes: a full summary, multiple contributions, assessments of technical soundness, reproducibility, and impact, as well as clearly articulated strengths, weaknesses, and suggestions.”</a:t>
            </a:r>
            <a:r>
              <a:rPr lang="en-US">
                <a:latin typeface="Arial"/>
                <a:ea typeface="ＭＳ Ｐゴシック"/>
                <a:cs typeface="Arial"/>
              </a:rPr>
              <a:t> </a:t>
            </a:r>
            <a:br>
              <a:rPr lang="en-US">
                <a:cs typeface="Arial"/>
              </a:rPr>
            </a:br>
            <a:endParaRPr lang="en-US"/>
          </a:p>
          <a:p>
            <a:pPr>
              <a:buNone/>
            </a:pPr>
            <a:r>
              <a:rPr lang="en-US" i="1">
                <a:latin typeface="Arial"/>
                <a:ea typeface="ＭＳ Ｐゴシック"/>
                <a:cs typeface="Arial"/>
              </a:rPr>
              <a:t>“Importantly, we treat this as a zero-shot prompting problem. We’re not fine-tuning the model or feeding it hundreds of examples. We simply inject structure into the prompt and evaluate whether that improves the outputs — both quantitatively and qualitatively — compared to a baseline.</a:t>
            </a:r>
            <a:r>
              <a:rPr lang="en-US">
                <a:latin typeface="Arial"/>
                <a:ea typeface="ＭＳ Ｐゴシック"/>
                <a:cs typeface="Arial"/>
              </a:rPr>
              <a:t> </a:t>
            </a:r>
            <a:endParaRPr lang="zh-TW" altLang="en-US">
              <a:latin typeface="Arial"/>
              <a:ea typeface="ＭＳ Ｐゴシック"/>
              <a:cs typeface="Arial"/>
            </a:endParaRPr>
          </a:p>
        </p:txBody>
      </p:sp>
    </p:spTree>
    <p:extLst>
      <p:ext uri="{BB962C8B-B14F-4D97-AF65-F5344CB8AC3E}">
        <p14:creationId xmlns:p14="http://schemas.microsoft.com/office/powerpoint/2010/main" val="19113356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itchFamily="34" charset="0"/>
                <a:ea typeface="ＭＳ Ｐゴシック" pitchFamily="34" charset="-128"/>
              </a:defRPr>
            </a:lvl1pPr>
            <a:lvl2pPr marL="757066" indent="-291179" eaLnBrk="0" hangingPunct="0">
              <a:defRPr sz="2400">
                <a:solidFill>
                  <a:schemeClr val="tx1"/>
                </a:solidFill>
                <a:latin typeface="Arial" pitchFamily="34" charset="0"/>
                <a:ea typeface="ＭＳ Ｐゴシック" pitchFamily="34" charset="-128"/>
              </a:defRPr>
            </a:lvl2pPr>
            <a:lvl3pPr marL="1164717" indent="-232943" eaLnBrk="0" hangingPunct="0">
              <a:defRPr sz="2400">
                <a:solidFill>
                  <a:schemeClr val="tx1"/>
                </a:solidFill>
                <a:latin typeface="Arial" pitchFamily="34" charset="0"/>
                <a:ea typeface="ＭＳ Ｐゴシック" pitchFamily="34" charset="-128"/>
              </a:defRPr>
            </a:lvl3pPr>
            <a:lvl4pPr marL="1630604" indent="-232943" eaLnBrk="0" hangingPunct="0">
              <a:defRPr sz="2400">
                <a:solidFill>
                  <a:schemeClr val="tx1"/>
                </a:solidFill>
                <a:latin typeface="Arial" pitchFamily="34" charset="0"/>
                <a:ea typeface="ＭＳ Ｐゴシック" pitchFamily="34" charset="-128"/>
              </a:defRPr>
            </a:lvl4pPr>
            <a:lvl5pPr marL="2096491" indent="-232943" eaLnBrk="0" hangingPunct="0">
              <a:defRPr sz="2400">
                <a:solidFill>
                  <a:schemeClr val="tx1"/>
                </a:solidFill>
                <a:latin typeface="Arial" pitchFamily="34" charset="0"/>
                <a:ea typeface="ＭＳ Ｐゴシック" pitchFamily="34" charset="-128"/>
              </a:defRPr>
            </a:lvl5pPr>
            <a:lvl6pPr marL="2562377" indent="-232943"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3028264" indent="-232943"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94151" indent="-232943"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960038" indent="-232943"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07E23D78-CF54-4D4E-9A10-679B9CD3C531}" type="slidenum">
              <a:rPr lang="zh-TW" altLang="en-US" sz="1200">
                <a:ea typeface="PMingLiU" pitchFamily="18" charset="-120"/>
              </a:rPr>
              <a:pPr eaLnBrk="1" hangingPunct="1"/>
              <a:t>6</a:t>
            </a:fld>
            <a:endParaRPr lang="en-US" altLang="zh-TW" sz="1200">
              <a:ea typeface="PMingLiU" pitchFamily="18" charset="-120"/>
            </a:endParaRPr>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extLst>
            <a:ext uri="{AF507438-7753-43e0-B8FC-AC1667EBCBE1}">
              <a14:hiddenEffects xmlns="" xmlns:a14="http://schemas.microsoft.com/office/drawing/2010/main">
                <a:effectLst>
                  <a:outerShdw blurRad="63500" dist="38099" dir="2700000" algn="ctr" rotWithShape="0">
                    <a:schemeClr val="bg2">
                      <a:alpha val="74997"/>
                    </a:schemeClr>
                  </a:outerShdw>
                </a:effectLst>
              </a14:hiddenEffects>
            </a:ext>
          </a:extLst>
        </p:spPr>
        <p:txBody>
          <a:bodyPr/>
          <a:lstStyle/>
          <a:p>
            <a:pPr>
              <a:buNone/>
            </a:pPr>
            <a:r>
              <a:rPr lang="en-US" i="1">
                <a:latin typeface="Arial"/>
                <a:ea typeface="ＭＳ Ｐゴシック"/>
                <a:cs typeface="Arial"/>
              </a:rPr>
              <a:t>So now we can take a moment to unpack the reasoning behind our central claim — that structured prompting significantly improves the quality of automated academic reviews.”</a:t>
            </a:r>
            <a:r>
              <a:rPr lang="en-US">
                <a:latin typeface="Arial"/>
                <a:ea typeface="ＭＳ Ｐゴシック"/>
                <a:cs typeface="Arial"/>
              </a:rPr>
              <a:t> </a:t>
            </a:r>
            <a:br>
              <a:rPr lang="en-US">
                <a:cs typeface="Arial"/>
              </a:rPr>
            </a:br>
            <a:endParaRPr lang="en-US"/>
          </a:p>
          <a:p>
            <a:pPr>
              <a:buNone/>
            </a:pPr>
            <a:r>
              <a:rPr lang="en-US" i="1">
                <a:latin typeface="Arial"/>
                <a:ea typeface="ＭＳ Ｐゴシック"/>
                <a:cs typeface="Arial"/>
              </a:rPr>
              <a:t>“This figure illustrates a direct comparison between two outputs generated using the same underlying model, but prompted in different ways. On the </a:t>
            </a:r>
            <a:r>
              <a:rPr lang="en-US" b="1" i="1">
                <a:latin typeface="Arial"/>
                <a:ea typeface="ＭＳ Ｐゴシック"/>
                <a:cs typeface="Arial"/>
              </a:rPr>
              <a:t>left</a:t>
            </a:r>
            <a:r>
              <a:rPr lang="en-US" i="1">
                <a:latin typeface="Arial"/>
                <a:ea typeface="ＭＳ Ｐゴシック"/>
                <a:cs typeface="Arial"/>
              </a:rPr>
              <a:t>, we used a </a:t>
            </a:r>
            <a:r>
              <a:rPr lang="en-US" b="1" i="1">
                <a:latin typeface="Arial"/>
                <a:ea typeface="ＭＳ Ｐゴシック"/>
                <a:cs typeface="Arial"/>
              </a:rPr>
              <a:t>generic baseline prompt</a:t>
            </a:r>
            <a:r>
              <a:rPr lang="en-US" i="1">
                <a:latin typeface="Arial"/>
                <a:ea typeface="ＭＳ Ｐゴシック"/>
                <a:cs typeface="Arial"/>
              </a:rPr>
              <a:t>, such as: ‘Please write a short review of this paper.’ This prompt leaves a lot of room for interpretation. The output tends to be superficial — a loose summary without clear sections or depth. There’s often no analysis of reproducibility, little attention to methodology, and no formal critique.”</a:t>
            </a:r>
            <a:r>
              <a:rPr lang="en-US">
                <a:latin typeface="Arial"/>
                <a:ea typeface="ＭＳ Ｐゴシック"/>
                <a:cs typeface="Arial"/>
              </a:rPr>
              <a:t> </a:t>
            </a:r>
            <a:br>
              <a:rPr lang="en-US">
                <a:cs typeface="Arial"/>
              </a:rPr>
            </a:br>
            <a:endParaRPr lang="en-US"/>
          </a:p>
          <a:p>
            <a:pPr>
              <a:buNone/>
            </a:pPr>
            <a:r>
              <a:rPr lang="en-US" i="1">
                <a:latin typeface="Arial"/>
                <a:ea typeface="ＭＳ Ｐゴシック"/>
                <a:cs typeface="Arial"/>
              </a:rPr>
              <a:t>“Now, on the </a:t>
            </a:r>
            <a:r>
              <a:rPr lang="en-US" b="1" i="1">
                <a:latin typeface="Arial"/>
                <a:ea typeface="ＭＳ Ｐゴシック"/>
                <a:cs typeface="Arial"/>
              </a:rPr>
              <a:t>right</a:t>
            </a:r>
            <a:r>
              <a:rPr lang="en-US" i="1">
                <a:latin typeface="Arial"/>
                <a:ea typeface="ＭＳ Ｐゴシック"/>
                <a:cs typeface="Arial"/>
              </a:rPr>
              <a:t>, we used our </a:t>
            </a:r>
            <a:r>
              <a:rPr lang="en-US" b="1" i="1">
                <a:latin typeface="Arial"/>
                <a:ea typeface="ＭＳ Ｐゴシック"/>
                <a:cs typeface="Arial"/>
              </a:rPr>
              <a:t>structured prompt</a:t>
            </a:r>
            <a:r>
              <a:rPr lang="en-US" i="1">
                <a:latin typeface="Arial"/>
                <a:ea typeface="ＭＳ Ｐゴシック"/>
                <a:cs typeface="Arial"/>
              </a:rPr>
              <a:t>, which explicitly asks the model to address a specific set of review components — such as summary, contributions, technical soundness, reproducibility, impact, strengths, weaknesses, suggestions, and ratings. We also guide the tone and format: for example, asking for paragraphs, examples, and even numerical ratings. This acts as scaffolding that anchors the model’s reasoning process.”</a:t>
            </a:r>
            <a:r>
              <a:rPr lang="en-US">
                <a:latin typeface="Arial"/>
                <a:ea typeface="ＭＳ Ｐゴシック"/>
                <a:cs typeface="Arial"/>
              </a:rPr>
              <a:t> </a:t>
            </a:r>
            <a:br>
              <a:rPr lang="en-US">
                <a:cs typeface="Arial"/>
              </a:rPr>
            </a:br>
            <a:endParaRPr lang="en-US"/>
          </a:p>
          <a:p>
            <a:pPr>
              <a:buNone/>
            </a:pPr>
            <a:r>
              <a:rPr lang="en-US" i="1">
                <a:latin typeface="Arial"/>
                <a:ea typeface="ＭＳ Ｐゴシック"/>
                <a:cs typeface="Arial"/>
              </a:rPr>
              <a:t>“The result? Reviews that are more complete, more focused, and more aligned with the expectations of real academic peer review. The structured prompt guides the model through a checklist of critical criteria, which the baseline lacks entirely.”</a:t>
            </a:r>
            <a:r>
              <a:rPr lang="en-US">
                <a:latin typeface="Arial"/>
                <a:ea typeface="ＭＳ Ｐゴシック"/>
                <a:cs typeface="Arial"/>
              </a:rPr>
              <a:t> </a:t>
            </a:r>
            <a:br>
              <a:rPr lang="en-US">
                <a:cs typeface="Arial"/>
              </a:rPr>
            </a:br>
            <a:endParaRPr lang="en-US"/>
          </a:p>
          <a:p>
            <a:pPr>
              <a:buNone/>
            </a:pPr>
            <a:r>
              <a:rPr lang="en-US" i="1">
                <a:latin typeface="Arial"/>
                <a:ea typeface="ＭＳ Ｐゴシック"/>
                <a:cs typeface="Arial"/>
              </a:rPr>
              <a:t>“This isn’t just qualitative — our experiments show that reviews generated with structured prompts score higher on multiple automated evaluation metrics like ROUGE-L, </a:t>
            </a:r>
            <a:r>
              <a:rPr lang="en-US" i="1" err="1">
                <a:latin typeface="Arial"/>
                <a:ea typeface="ＭＳ Ｐゴシック"/>
                <a:cs typeface="Arial"/>
              </a:rPr>
              <a:t>BERTScore</a:t>
            </a:r>
            <a:r>
              <a:rPr lang="en-US" i="1">
                <a:latin typeface="Arial"/>
                <a:ea typeface="ＭＳ Ｐゴシック"/>
                <a:cs typeface="Arial"/>
              </a:rPr>
              <a:t>, and SBERT cosine similarity. This confirms that the structured output is more aligned with the original paper content, and often captures important nuances the baseline glosses over.”</a:t>
            </a:r>
            <a:r>
              <a:rPr lang="en-US">
                <a:latin typeface="Arial"/>
                <a:ea typeface="ＭＳ Ｐゴシック"/>
                <a:cs typeface="Arial"/>
              </a:rPr>
              <a:t> </a:t>
            </a:r>
            <a:br>
              <a:rPr lang="en-US">
                <a:cs typeface="Arial"/>
              </a:rPr>
            </a:br>
            <a:endParaRPr lang="en-US"/>
          </a:p>
          <a:p>
            <a:pPr>
              <a:buNone/>
            </a:pPr>
            <a:r>
              <a:rPr lang="en-US" i="1">
                <a:latin typeface="Arial"/>
                <a:ea typeface="ＭＳ Ｐゴシック"/>
                <a:cs typeface="Arial"/>
              </a:rPr>
              <a:t>“So in short, this figure represents more than just two review samples — it represents a fundamental shift in how prompting can steer generative models from ‘generic’ to ‘evaluative.’ It’s the structure that turns the model from a summarizer into a reviewer.”</a:t>
            </a:r>
            <a:r>
              <a:rPr lang="en-US">
                <a:latin typeface="Arial"/>
                <a:ea typeface="ＭＳ Ｐゴシック"/>
                <a:cs typeface="Arial"/>
              </a:rPr>
              <a:t> </a:t>
            </a:r>
            <a:endParaRPr lang="zh-TW" altLang="en-US">
              <a:latin typeface="Arial"/>
              <a:ea typeface="ＭＳ Ｐゴシック"/>
              <a:cs typeface="Arial"/>
            </a:endParaRPr>
          </a:p>
        </p:txBody>
      </p:sp>
    </p:spTree>
    <p:extLst>
      <p:ext uri="{BB962C8B-B14F-4D97-AF65-F5344CB8AC3E}">
        <p14:creationId xmlns:p14="http://schemas.microsoft.com/office/powerpoint/2010/main" val="4944479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Here</a:t>
            </a:r>
            <a:r>
              <a:rPr lang="en-US" baseline="0"/>
              <a:t> is our proposed </a:t>
            </a:r>
            <a:r>
              <a:rPr lang="en-US" i="1"/>
              <a:t>o address the limitations of generic prompt-based reviews, we propose a system that uses </a:t>
            </a:r>
            <a:r>
              <a:rPr lang="en-US" b="1" i="1"/>
              <a:t>structured prompting</a:t>
            </a:r>
            <a:r>
              <a:rPr lang="en-US" i="1"/>
              <a:t> to guide the LLM through a detailed, section-wise academic review process.”</a:t>
            </a:r>
            <a:r>
              <a:rPr lang="en-US"/>
              <a:t> </a:t>
            </a:r>
            <a:br>
              <a:rPr lang="en-US"/>
            </a:br>
            <a:endParaRPr lang="en-US"/>
          </a:p>
          <a:p>
            <a:pPr>
              <a:buNone/>
            </a:pPr>
            <a:r>
              <a:rPr lang="en-US" i="1"/>
              <a:t>“Our solution centers around a </a:t>
            </a:r>
            <a:r>
              <a:rPr lang="en-US" b="1" i="1"/>
              <a:t>modular pipeline</a:t>
            </a:r>
            <a:r>
              <a:rPr lang="en-US" i="1"/>
              <a:t> that takes in a research paper PDF and generates a complete review in JSON and formatted PDF output. The pipeline has three key components:</a:t>
            </a:r>
            <a:r>
              <a:rPr lang="en-US"/>
              <a:t> </a:t>
            </a:r>
            <a:br>
              <a:rPr lang="en-US"/>
            </a:br>
            <a:endParaRPr lang="en-US"/>
          </a:p>
          <a:p>
            <a:pPr>
              <a:buFont typeface="+mj-lt"/>
              <a:buAutoNum type="arabicPeriod"/>
            </a:pPr>
            <a:r>
              <a:rPr lang="en-US" b="1"/>
              <a:t>Metadata Extraction</a:t>
            </a:r>
            <a:r>
              <a:rPr lang="en-US"/>
              <a:t> – We start by parsing the PDF to extract essential metadata like title, authors, and abstract. This helps us frame the context for the LLM when generating the review. </a:t>
            </a:r>
          </a:p>
          <a:p>
            <a:pPr>
              <a:buFont typeface="+mj-lt"/>
              <a:buAutoNum type="arabicPeriod"/>
            </a:pPr>
            <a:r>
              <a:rPr lang="en-US" b="1"/>
              <a:t>Chunking and Content Processing</a:t>
            </a:r>
            <a:r>
              <a:rPr lang="en-US"/>
              <a:t> – For longer papers, we split the content into manageable chunks. Each chunk is summarized separately and then merged. This ensures the LLM stays within token limits while preserving detail. </a:t>
            </a:r>
          </a:p>
          <a:p>
            <a:pPr>
              <a:buFont typeface="+mj-lt"/>
              <a:buAutoNum type="arabicPeriod"/>
            </a:pPr>
            <a:r>
              <a:rPr lang="en-US" b="1"/>
              <a:t>Structured Prompting</a:t>
            </a:r>
            <a:r>
              <a:rPr lang="en-US"/>
              <a:t> – This is the heart of our system. We use a carefully engineered prompt that specifies the structure and tone of the review. It asks for a summary, detailed contributions, technical soundness, reproducibility, impact, strengths, weaknesses, suggestions, related work, and even ratings on five dimensions like novelty and clarity.”* </a:t>
            </a:r>
          </a:p>
          <a:p>
            <a:pPr>
              <a:buNone/>
            </a:pPr>
            <a:br>
              <a:rPr lang="en-US"/>
            </a:br>
            <a:endParaRPr lang="en-US"/>
          </a:p>
          <a:p>
            <a:pPr>
              <a:buNone/>
            </a:pPr>
            <a:r>
              <a:rPr lang="en-US" i="1"/>
              <a:t>“The model then generates a rich, structured review that’s far more informative and complete than what we get from an open-ended prompt. We also post-process the output for formatting and optionally export it as a downloadable PDF.”</a:t>
            </a:r>
            <a:r>
              <a:rPr lang="en-US"/>
              <a:t> </a:t>
            </a:r>
            <a:br>
              <a:rPr lang="en-US"/>
            </a:br>
            <a:endParaRPr lang="en-US"/>
          </a:p>
          <a:p>
            <a:pPr>
              <a:buNone/>
            </a:pPr>
            <a:r>
              <a:rPr lang="en-US" i="1"/>
              <a:t>“By decomposing the task into these logical steps — parsing, chunking, prompting — we make the system modular, extensible, and more interpretable.”</a:t>
            </a:r>
            <a:r>
              <a:rPr lang="en-US"/>
              <a:t> </a:t>
            </a:r>
            <a:br>
              <a:rPr lang="en-US"/>
            </a:br>
            <a:endParaRPr lang="en-US"/>
          </a:p>
          <a:p>
            <a:pPr>
              <a:buNone/>
            </a:pPr>
            <a:r>
              <a:rPr lang="en-US" i="1"/>
              <a:t>“The structured prompt acts almost like a </a:t>
            </a:r>
            <a:r>
              <a:rPr lang="en-US" b="1" i="1"/>
              <a:t>template for peer review</a:t>
            </a:r>
            <a:r>
              <a:rPr lang="en-US" i="1"/>
              <a:t>, turning the LLM into a guided reviewer rather than a guesser. And as we’ll show later, this results in measurable improvements in both lexical and semantic metrics.</a:t>
            </a:r>
            <a:r>
              <a:rPr lang="en-US"/>
              <a:t> </a:t>
            </a:r>
            <a:r>
              <a:rPr lang="en-US" baseline="0"/>
              <a:t>. </a:t>
            </a:r>
            <a:endParaRPr lang="en-US"/>
          </a:p>
        </p:txBody>
      </p:sp>
      <p:sp>
        <p:nvSpPr>
          <p:cNvPr id="4" name="Slide Number Placeholder 3"/>
          <p:cNvSpPr>
            <a:spLocks noGrp="1"/>
          </p:cNvSpPr>
          <p:nvPr>
            <p:ph type="sldNum" sz="quarter" idx="10"/>
          </p:nvPr>
        </p:nvSpPr>
        <p:spPr/>
        <p:txBody>
          <a:bodyPr/>
          <a:lstStyle/>
          <a:p>
            <a:fld id="{5D7F18D2-2977-429E-8B6D-22778A44E64D}" type="slidenum">
              <a:rPr lang="zh-TW" altLang="en-US" smtClean="0"/>
              <a:pPr/>
              <a:t>7</a:t>
            </a:fld>
            <a:endParaRPr lang="en-US" altLang="zh-TW"/>
          </a:p>
        </p:txBody>
      </p:sp>
    </p:spTree>
    <p:extLst>
      <p:ext uri="{BB962C8B-B14F-4D97-AF65-F5344CB8AC3E}">
        <p14:creationId xmlns:p14="http://schemas.microsoft.com/office/powerpoint/2010/main" val="40136232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090D5-1519-EFB3-9182-85842746D6F6}"/>
            </a:ext>
          </a:extLst>
        </p:cNvPr>
        <p:cNvGrpSpPr/>
        <p:nvPr/>
      </p:nvGrpSpPr>
      <p:grpSpPr>
        <a:xfrm>
          <a:off x="0" y="0"/>
          <a:ext cx="0" cy="0"/>
          <a:chOff x="0" y="0"/>
          <a:chExt cx="0" cy="0"/>
        </a:xfrm>
      </p:grpSpPr>
      <p:sp>
        <p:nvSpPr>
          <p:cNvPr id="31746" name="Rectangle 7">
            <a:extLst>
              <a:ext uri="{FF2B5EF4-FFF2-40B4-BE49-F238E27FC236}">
                <a16:creationId xmlns:a16="http://schemas.microsoft.com/office/drawing/2014/main" id="{1BCD56CB-6711-78BE-2530-A0DD94D8D3F7}"/>
              </a:ext>
            </a:extLst>
          </p:cNvPr>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itchFamily="34" charset="0"/>
                <a:ea typeface="ＭＳ Ｐゴシック" pitchFamily="34" charset="-128"/>
              </a:defRPr>
            </a:lvl1pPr>
            <a:lvl2pPr marL="757066" indent="-291179" eaLnBrk="0" hangingPunct="0">
              <a:defRPr sz="2400">
                <a:solidFill>
                  <a:schemeClr val="tx1"/>
                </a:solidFill>
                <a:latin typeface="Arial" pitchFamily="34" charset="0"/>
                <a:ea typeface="ＭＳ Ｐゴシック" pitchFamily="34" charset="-128"/>
              </a:defRPr>
            </a:lvl2pPr>
            <a:lvl3pPr marL="1164717" indent="-232943" eaLnBrk="0" hangingPunct="0">
              <a:defRPr sz="2400">
                <a:solidFill>
                  <a:schemeClr val="tx1"/>
                </a:solidFill>
                <a:latin typeface="Arial" pitchFamily="34" charset="0"/>
                <a:ea typeface="ＭＳ Ｐゴシック" pitchFamily="34" charset="-128"/>
              </a:defRPr>
            </a:lvl3pPr>
            <a:lvl4pPr marL="1630604" indent="-232943" eaLnBrk="0" hangingPunct="0">
              <a:defRPr sz="2400">
                <a:solidFill>
                  <a:schemeClr val="tx1"/>
                </a:solidFill>
                <a:latin typeface="Arial" pitchFamily="34" charset="0"/>
                <a:ea typeface="ＭＳ Ｐゴシック" pitchFamily="34" charset="-128"/>
              </a:defRPr>
            </a:lvl4pPr>
            <a:lvl5pPr marL="2096491" indent="-232943" eaLnBrk="0" hangingPunct="0">
              <a:defRPr sz="2400">
                <a:solidFill>
                  <a:schemeClr val="tx1"/>
                </a:solidFill>
                <a:latin typeface="Arial" pitchFamily="34" charset="0"/>
                <a:ea typeface="ＭＳ Ｐゴシック" pitchFamily="34" charset="-128"/>
              </a:defRPr>
            </a:lvl5pPr>
            <a:lvl6pPr marL="2562377" indent="-232943"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3028264" indent="-232943"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94151" indent="-232943"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960038" indent="-232943"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61AE4675-46EC-4EDF-89E2-3C4CC1C64A21}" type="slidenum">
              <a:rPr lang="zh-TW" altLang="en-US" sz="1200">
                <a:ea typeface="PMingLiU" pitchFamily="18" charset="-120"/>
              </a:rPr>
              <a:pPr eaLnBrk="1" hangingPunct="1"/>
              <a:t>8</a:t>
            </a:fld>
            <a:endParaRPr lang="en-US" altLang="zh-TW" sz="1200">
              <a:ea typeface="PMingLiU" pitchFamily="18" charset="-120"/>
            </a:endParaRPr>
          </a:p>
        </p:txBody>
      </p:sp>
      <p:sp>
        <p:nvSpPr>
          <p:cNvPr id="31747" name="Rectangle 2">
            <a:extLst>
              <a:ext uri="{FF2B5EF4-FFF2-40B4-BE49-F238E27FC236}">
                <a16:creationId xmlns:a16="http://schemas.microsoft.com/office/drawing/2014/main" id="{8C51485F-D3C1-7D2C-E1AC-8CDDDDBA9AFE}"/>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0A423107-1E3F-8DBC-3602-E90A575820A7}"/>
              </a:ext>
            </a:extLst>
          </p:cNvPr>
          <p:cNvSpPr>
            <a:spLocks noGrp="1" noChangeArrowheads="1"/>
          </p:cNvSpPr>
          <p:nvPr>
            <p:ph type="body" idx="1"/>
          </p:nvPr>
        </p:nvSpPr>
        <p:spPr>
          <a:noFill/>
          <a:extLst>
            <a:ext uri="{AF507438-7753-43e0-B8FC-AC1667EBCBE1}">
              <a14:hiddenEffects xmlns="" xmlns:a14="http://schemas.microsoft.com/office/drawing/2010/main">
                <a:effectLst>
                  <a:outerShdw blurRad="63500" dist="38099" dir="2700000" algn="ctr" rotWithShape="0">
                    <a:schemeClr val="bg2">
                      <a:alpha val="74997"/>
                    </a:schemeClr>
                  </a:outerShdw>
                </a:effectLst>
              </a14:hiddenEffects>
            </a:ext>
          </a:extLst>
        </p:spPr>
        <p:txBody>
          <a:bodyPr/>
          <a:lstStyle/>
          <a:p>
            <a:pPr>
              <a:buNone/>
            </a:pPr>
            <a:r>
              <a:rPr lang="en-US" i="1"/>
              <a:t>Now let’s walk through how we implemented this system in practice. Our end-to-end pipeline was developed in Python using OpenAI’s GPT-4.1 API for generation, PyPDF2 for paper parsing, and libraries like ROUGE, BLEU, </a:t>
            </a:r>
            <a:r>
              <a:rPr lang="en-US" i="1" err="1"/>
              <a:t>BERTScore</a:t>
            </a:r>
            <a:r>
              <a:rPr lang="en-US" i="1"/>
              <a:t>, and SBERT for evaluation.”</a:t>
            </a:r>
            <a:r>
              <a:rPr lang="en-US"/>
              <a:t> </a:t>
            </a:r>
            <a:br>
              <a:rPr lang="en-US"/>
            </a:br>
            <a:endParaRPr lang="en-US"/>
          </a:p>
          <a:p>
            <a:pPr>
              <a:buNone/>
            </a:pPr>
            <a:r>
              <a:rPr lang="en-US" i="1"/>
              <a:t>“The implementation begins by reading the PDF file and extracting raw text. We then perform light preprocessing — like identifying section boundaries — and pass this into our structured prompt.”</a:t>
            </a:r>
            <a:r>
              <a:rPr lang="en-US"/>
              <a:t> </a:t>
            </a:r>
            <a:br>
              <a:rPr lang="en-US"/>
            </a:br>
            <a:endParaRPr lang="en-US"/>
          </a:p>
          <a:p>
            <a:pPr>
              <a:buNone/>
            </a:pPr>
            <a:r>
              <a:rPr lang="en-US" i="1"/>
              <a:t>“This prompt is crafted to elicit detailed responses in JSON format, ensuring that each review includes consistent sections: summary, contributions, technical analysis, strengths, weaknesses, and so on.”</a:t>
            </a:r>
            <a:r>
              <a:rPr lang="en-US"/>
              <a:t> </a:t>
            </a:r>
            <a:br>
              <a:rPr lang="en-US"/>
            </a:br>
            <a:endParaRPr lang="en-US"/>
          </a:p>
          <a:p>
            <a:pPr>
              <a:buNone/>
            </a:pPr>
            <a:r>
              <a:rPr lang="en-US" i="1"/>
              <a:t>“Once we receive the response from the LLM, we parse the JSON and convert it into a human-readable format. We also support saving the review as a PDF for easy sharing or archiving.”</a:t>
            </a:r>
            <a:r>
              <a:rPr lang="en-US"/>
              <a:t> </a:t>
            </a:r>
            <a:br>
              <a:rPr lang="en-US"/>
            </a:br>
            <a:endParaRPr lang="en-US"/>
          </a:p>
          <a:p>
            <a:pPr>
              <a:buNone/>
            </a:pPr>
            <a:r>
              <a:rPr lang="en-US" i="1"/>
              <a:t>“Finally, we evaluate the quality of the review using four metrics — ROUGE-L, BLEU, </a:t>
            </a:r>
            <a:r>
              <a:rPr lang="en-US" i="1" err="1"/>
              <a:t>BERTScore</a:t>
            </a:r>
            <a:r>
              <a:rPr lang="en-US" i="1"/>
              <a:t>, and SBERT cosine similarity — to quantify lexical and semantic similarity between the original abstract and generated review summary.”</a:t>
            </a:r>
            <a:r>
              <a:rPr lang="en-US"/>
              <a:t> </a:t>
            </a:r>
            <a:br>
              <a:rPr lang="en-US"/>
            </a:br>
            <a:endParaRPr lang="en-US"/>
          </a:p>
          <a:p>
            <a:pPr>
              <a:buNone/>
            </a:pPr>
            <a:r>
              <a:rPr lang="en-US" i="1"/>
              <a:t>“This implementation allows us to run the system on batches of academic papers, generate baseline and improved reviews, and compare their outputs consistently</a:t>
            </a:r>
            <a:r>
              <a:rPr lang="en-US"/>
              <a:t> </a:t>
            </a:r>
          </a:p>
          <a:p>
            <a:pPr>
              <a:buNone/>
            </a:pPr>
            <a:endParaRPr lang="en-US"/>
          </a:p>
          <a:p>
            <a:pPr>
              <a:buNone/>
            </a:pPr>
            <a:r>
              <a:rPr lang="en-US" i="1"/>
              <a:t> Here’s an overview of the system architecture.”</a:t>
            </a:r>
            <a:r>
              <a:rPr lang="en-US"/>
              <a:t> </a:t>
            </a:r>
            <a:br>
              <a:rPr lang="en-US"/>
            </a:br>
            <a:endParaRPr lang="en-US"/>
          </a:p>
          <a:p>
            <a:pPr>
              <a:buNone/>
            </a:pPr>
            <a:r>
              <a:rPr lang="en-US" i="1"/>
              <a:t>“The system starts with the </a:t>
            </a:r>
            <a:r>
              <a:rPr lang="en-US" b="1" i="1"/>
              <a:t>Input Module</a:t>
            </a:r>
            <a:r>
              <a:rPr lang="en-US" i="1"/>
              <a:t>, where users upload a research paper in PDF format. From there, the </a:t>
            </a:r>
            <a:r>
              <a:rPr lang="en-US" b="1" i="1"/>
              <a:t>Text Extractor</a:t>
            </a:r>
            <a:r>
              <a:rPr lang="en-US" i="1"/>
              <a:t> processes the document and pulls out the raw text, particularly the title, abstract, and body content.”</a:t>
            </a:r>
            <a:r>
              <a:rPr lang="en-US"/>
              <a:t> </a:t>
            </a:r>
            <a:br>
              <a:rPr lang="en-US"/>
            </a:br>
            <a:endParaRPr lang="en-US"/>
          </a:p>
          <a:p>
            <a:pPr>
              <a:buNone/>
            </a:pPr>
            <a:r>
              <a:rPr lang="en-US" i="1"/>
              <a:t>“Next comes the </a:t>
            </a:r>
            <a:r>
              <a:rPr lang="en-US" b="1" i="1"/>
              <a:t>Prompt Generation Module</a:t>
            </a:r>
            <a:r>
              <a:rPr lang="en-US" i="1"/>
              <a:t>, which uses the extracted content to dynamically build a structured prompt. This prompt is carefully tailored based on the field of study — like Computer Science or NLP — and specifies exactly what we want in the review.”</a:t>
            </a:r>
            <a:r>
              <a:rPr lang="en-US"/>
              <a:t> </a:t>
            </a:r>
            <a:br>
              <a:rPr lang="en-US"/>
            </a:br>
            <a:endParaRPr lang="en-US"/>
          </a:p>
          <a:p>
            <a:pPr>
              <a:buNone/>
            </a:pPr>
            <a:r>
              <a:rPr lang="en-US" i="1"/>
              <a:t>“This prompt is passed to the </a:t>
            </a:r>
            <a:r>
              <a:rPr lang="en-US" b="1" i="1"/>
              <a:t>LLM API Handler</a:t>
            </a:r>
            <a:r>
              <a:rPr lang="en-US" i="1"/>
              <a:t>, which queries GPT-4.1 and returns a structured JSON review. The response is validated and parsed by the </a:t>
            </a:r>
            <a:r>
              <a:rPr lang="en-US" b="1" i="1"/>
              <a:t>Response Parser</a:t>
            </a:r>
            <a:r>
              <a:rPr lang="en-US" i="1"/>
              <a:t>, which checks for missing sections and standardizes the output.”</a:t>
            </a:r>
            <a:r>
              <a:rPr lang="en-US"/>
              <a:t> </a:t>
            </a:r>
            <a:br>
              <a:rPr lang="en-US"/>
            </a:br>
            <a:endParaRPr lang="en-US"/>
          </a:p>
          <a:p>
            <a:pPr>
              <a:buNone/>
            </a:pPr>
            <a:r>
              <a:rPr lang="en-US" i="1"/>
              <a:t>“Once parsed, the content is formatted for visualization or export using the </a:t>
            </a:r>
            <a:r>
              <a:rPr lang="en-US" b="1" i="1"/>
              <a:t>Output Formatter</a:t>
            </a:r>
            <a:r>
              <a:rPr lang="en-US" i="1"/>
              <a:t>, which lets us save the result as plain text or a PDF document.”</a:t>
            </a:r>
            <a:r>
              <a:rPr lang="en-US"/>
              <a:t> </a:t>
            </a:r>
            <a:br>
              <a:rPr lang="en-US"/>
            </a:br>
            <a:endParaRPr lang="en-US"/>
          </a:p>
          <a:p>
            <a:pPr>
              <a:buNone/>
            </a:pPr>
            <a:r>
              <a:rPr lang="en-US" i="1"/>
              <a:t>“Finally, the </a:t>
            </a:r>
            <a:r>
              <a:rPr lang="en-US" b="1" i="1"/>
              <a:t>Evaluation Module</a:t>
            </a:r>
            <a:r>
              <a:rPr lang="en-US" i="1"/>
              <a:t> compares the review summary against the paper’s original abstract using our four selected metrics. This gives us objective insight into how our structured reviews perform.</a:t>
            </a:r>
            <a:r>
              <a:rPr lang="en-US"/>
              <a:t> </a:t>
            </a:r>
          </a:p>
          <a:p>
            <a:pPr>
              <a:buNone/>
            </a:pPr>
            <a:endParaRPr lang="en-US" altLang="zh-TW" baseline="0">
              <a:latin typeface="Arial" pitchFamily="34" charset="0"/>
              <a:ea typeface="PMingLiU" pitchFamily="18" charset="-120"/>
            </a:endParaRPr>
          </a:p>
          <a:p>
            <a:pPr>
              <a:buNone/>
            </a:pPr>
            <a:endParaRPr lang="en-US" altLang="zh-TW" baseline="0">
              <a:latin typeface="Arial" pitchFamily="34" charset="0"/>
              <a:ea typeface="PMingLiU" pitchFamily="18" charset="-120"/>
            </a:endParaRPr>
          </a:p>
        </p:txBody>
      </p:sp>
    </p:spTree>
    <p:extLst>
      <p:ext uri="{BB962C8B-B14F-4D97-AF65-F5344CB8AC3E}">
        <p14:creationId xmlns:p14="http://schemas.microsoft.com/office/powerpoint/2010/main" val="37348785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itchFamily="34" charset="0"/>
                <a:ea typeface="ＭＳ Ｐゴシック" pitchFamily="34" charset="-128"/>
              </a:defRPr>
            </a:lvl1pPr>
            <a:lvl2pPr marL="757066" indent="-291179" eaLnBrk="0" hangingPunct="0">
              <a:defRPr sz="2400">
                <a:solidFill>
                  <a:schemeClr val="tx1"/>
                </a:solidFill>
                <a:latin typeface="Arial" pitchFamily="34" charset="0"/>
                <a:ea typeface="ＭＳ Ｐゴシック" pitchFamily="34" charset="-128"/>
              </a:defRPr>
            </a:lvl2pPr>
            <a:lvl3pPr marL="1164717" indent="-232943" eaLnBrk="0" hangingPunct="0">
              <a:defRPr sz="2400">
                <a:solidFill>
                  <a:schemeClr val="tx1"/>
                </a:solidFill>
                <a:latin typeface="Arial" pitchFamily="34" charset="0"/>
                <a:ea typeface="ＭＳ Ｐゴシック" pitchFamily="34" charset="-128"/>
              </a:defRPr>
            </a:lvl3pPr>
            <a:lvl4pPr marL="1630604" indent="-232943" eaLnBrk="0" hangingPunct="0">
              <a:defRPr sz="2400">
                <a:solidFill>
                  <a:schemeClr val="tx1"/>
                </a:solidFill>
                <a:latin typeface="Arial" pitchFamily="34" charset="0"/>
                <a:ea typeface="ＭＳ Ｐゴシック" pitchFamily="34" charset="-128"/>
              </a:defRPr>
            </a:lvl4pPr>
            <a:lvl5pPr marL="2096491" indent="-232943" eaLnBrk="0" hangingPunct="0">
              <a:defRPr sz="2400">
                <a:solidFill>
                  <a:schemeClr val="tx1"/>
                </a:solidFill>
                <a:latin typeface="Arial" pitchFamily="34" charset="0"/>
                <a:ea typeface="ＭＳ Ｐゴシック" pitchFamily="34" charset="-128"/>
              </a:defRPr>
            </a:lvl5pPr>
            <a:lvl6pPr marL="2562377" indent="-232943"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3028264" indent="-232943"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94151" indent="-232943"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960038" indent="-232943"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61AE4675-46EC-4EDF-89E2-3C4CC1C64A21}" type="slidenum">
              <a:rPr lang="zh-TW" altLang="en-US" sz="1200">
                <a:ea typeface="PMingLiU" pitchFamily="18" charset="-120"/>
              </a:rPr>
              <a:pPr eaLnBrk="1" hangingPunct="1"/>
              <a:t>9</a:t>
            </a:fld>
            <a:endParaRPr lang="en-US" altLang="zh-TW" sz="1200">
              <a:ea typeface="PMingLiU" pitchFamily="18" charset="-120"/>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extLst>
            <a:ext uri="{AF507438-7753-43e0-B8FC-AC1667EBCBE1}">
              <a14:hiddenEffects xmlns="" xmlns:a14="http://schemas.microsoft.com/office/drawing/2010/main">
                <a:effectLst>
                  <a:outerShdw blurRad="63500" dist="38099" dir="2700000" algn="ctr" rotWithShape="0">
                    <a:schemeClr val="bg2">
                      <a:alpha val="74997"/>
                    </a:schemeClr>
                  </a:outerShdw>
                </a:effectLst>
              </a14:hiddenEffects>
            </a:ext>
          </a:extLst>
        </p:spPr>
        <p:txBody>
          <a:bodyPr/>
          <a:lstStyle/>
          <a:p>
            <a:pPr>
              <a:buNone/>
            </a:pPr>
            <a:r>
              <a:rPr lang="en-US"/>
              <a:t>In this part of our implementation, we focused heavily on designing </a:t>
            </a:r>
            <a:r>
              <a:rPr lang="en-US" i="1"/>
              <a:t>prompts</a:t>
            </a:r>
            <a:r>
              <a:rPr lang="en-US"/>
              <a:t> that elicit high-quality academic reviews. The motivation was simple — we found that generic prompts like </a:t>
            </a:r>
            <a:r>
              <a:rPr lang="en-US" i="1"/>
              <a:t>“Please review this paper”</a:t>
            </a:r>
            <a:r>
              <a:rPr lang="en-US"/>
              <a:t> often led to vague, surface-level outputs. So our goal became clear: we wanted to enforce structure, completeness, and an academic tone throughout the response. </a:t>
            </a:r>
            <a:br>
              <a:rPr lang="en-US"/>
            </a:br>
            <a:endParaRPr lang="en-US"/>
          </a:p>
          <a:p>
            <a:pPr>
              <a:buNone/>
            </a:pPr>
            <a:r>
              <a:rPr lang="en-US"/>
              <a:t>To do that, we built a structured prompt template with explicit instructions for each review section — summary, contributions, technical soundness, reproducibility, impact, strengths, weaknesses, suggestions, and related work. Each section included guidance about the depth, length, and specificity expected. This helped steer the LLM into generating comprehensive and section-aligned reviews. </a:t>
            </a:r>
            <a:br>
              <a:rPr lang="en-US"/>
            </a:br>
            <a:endParaRPr lang="en-US"/>
          </a:p>
          <a:p>
            <a:pPr>
              <a:buNone/>
            </a:pPr>
            <a:r>
              <a:rPr lang="en-US"/>
              <a:t>In practice, this prompt was passed to GPT-4.1, which we found to be more capable at handling long-context generation. However, when papers exceeded the token limit, we used a chunk-and-merge strategy, where we split long papers into manageable sections before review generation. </a:t>
            </a:r>
            <a:br>
              <a:rPr lang="en-US"/>
            </a:br>
            <a:endParaRPr lang="en-US"/>
          </a:p>
          <a:p>
            <a:pPr>
              <a:buNone/>
            </a:pPr>
            <a:r>
              <a:rPr lang="en-US"/>
              <a:t>The result was not only more detailed reviews, but also better alignment with academic expectations — something we’ll show quantitatively later with </a:t>
            </a:r>
            <a:r>
              <a:rPr lang="en-US" err="1"/>
              <a:t>BERTScore</a:t>
            </a:r>
            <a:r>
              <a:rPr lang="en-US"/>
              <a:t> and SBERT cosine comparisons. </a:t>
            </a:r>
            <a:br>
              <a:rPr lang="en-US"/>
            </a:br>
            <a:endParaRPr lang="en-US"/>
          </a:p>
          <a:p>
            <a:pPr>
              <a:buNone/>
            </a:pPr>
            <a:r>
              <a:rPr lang="en-US"/>
              <a:t>Overall, this prompt engineering step became the foundation of our system’s performance — it acted like a blueprint for structured critical reasoning, helping the model mimic what a domain expert might write. </a:t>
            </a:r>
            <a:endParaRPr lang="en-US" altLang="zh-TW" baseline="0">
              <a:latin typeface="Arial" pitchFamily="34" charset="0"/>
              <a:ea typeface="PMingLiU" pitchFamily="18" charset="-120"/>
            </a:endParaRPr>
          </a:p>
        </p:txBody>
      </p:sp>
    </p:spTree>
    <p:extLst>
      <p:ext uri="{BB962C8B-B14F-4D97-AF65-F5344CB8AC3E}">
        <p14:creationId xmlns:p14="http://schemas.microsoft.com/office/powerpoint/2010/main" val="19463709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itchFamily="34" charset="0"/>
                <a:ea typeface="ＭＳ Ｐゴシック" pitchFamily="34" charset="-128"/>
              </a:defRPr>
            </a:lvl1pPr>
            <a:lvl2pPr marL="757066" indent="-291179" eaLnBrk="0" hangingPunct="0">
              <a:defRPr sz="2400">
                <a:solidFill>
                  <a:schemeClr val="tx1"/>
                </a:solidFill>
                <a:latin typeface="Arial" pitchFamily="34" charset="0"/>
                <a:ea typeface="ＭＳ Ｐゴシック" pitchFamily="34" charset="-128"/>
              </a:defRPr>
            </a:lvl2pPr>
            <a:lvl3pPr marL="1164717" indent="-232943" eaLnBrk="0" hangingPunct="0">
              <a:defRPr sz="2400">
                <a:solidFill>
                  <a:schemeClr val="tx1"/>
                </a:solidFill>
                <a:latin typeface="Arial" pitchFamily="34" charset="0"/>
                <a:ea typeface="ＭＳ Ｐゴシック" pitchFamily="34" charset="-128"/>
              </a:defRPr>
            </a:lvl3pPr>
            <a:lvl4pPr marL="1630604" indent="-232943" eaLnBrk="0" hangingPunct="0">
              <a:defRPr sz="2400">
                <a:solidFill>
                  <a:schemeClr val="tx1"/>
                </a:solidFill>
                <a:latin typeface="Arial" pitchFamily="34" charset="0"/>
                <a:ea typeface="ＭＳ Ｐゴシック" pitchFamily="34" charset="-128"/>
              </a:defRPr>
            </a:lvl4pPr>
            <a:lvl5pPr marL="2096491" indent="-232943" eaLnBrk="0" hangingPunct="0">
              <a:defRPr sz="2400">
                <a:solidFill>
                  <a:schemeClr val="tx1"/>
                </a:solidFill>
                <a:latin typeface="Arial" pitchFamily="34" charset="0"/>
                <a:ea typeface="ＭＳ Ｐゴシック" pitchFamily="34" charset="-128"/>
              </a:defRPr>
            </a:lvl5pPr>
            <a:lvl6pPr marL="2562377" indent="-232943"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3028264" indent="-232943"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94151" indent="-232943"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960038" indent="-232943"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61AE4675-46EC-4EDF-89E2-3C4CC1C64A21}" type="slidenum">
              <a:rPr lang="zh-TW" altLang="en-US" sz="1200">
                <a:ea typeface="PMingLiU" pitchFamily="18" charset="-120"/>
              </a:rPr>
              <a:pPr eaLnBrk="1" hangingPunct="1"/>
              <a:t>10</a:t>
            </a:fld>
            <a:endParaRPr lang="en-US" altLang="zh-TW" sz="1200">
              <a:ea typeface="PMingLiU" pitchFamily="18" charset="-120"/>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extLst>
            <a:ext uri="{AF507438-7753-43e0-B8FC-AC1667EBCBE1}">
              <a14:hiddenEffects xmlns="" xmlns:a14="http://schemas.microsoft.com/office/drawing/2010/main">
                <a:effectLst>
                  <a:outerShdw blurRad="63500" dist="38099" dir="2700000" algn="ctr" rotWithShape="0">
                    <a:schemeClr val="bg2">
                      <a:alpha val="74997"/>
                    </a:schemeClr>
                  </a:outerShdw>
                </a:effectLst>
              </a14:hiddenEffects>
            </a:ext>
          </a:extLst>
        </p:spPr>
        <p:txBody>
          <a:bodyPr/>
          <a:lstStyle/>
          <a:p>
            <a:pPr>
              <a:buNone/>
            </a:pPr>
            <a:r>
              <a:rPr lang="en-US"/>
              <a:t>“Let’s now look at the dataset and metrics that form the backbone of our evaluation.</a:t>
            </a:r>
          </a:p>
          <a:p>
            <a:pPr>
              <a:buNone/>
            </a:pPr>
            <a:br>
              <a:rPr lang="en-US"/>
            </a:br>
            <a:endParaRPr lang="en-US"/>
          </a:p>
          <a:p>
            <a:pPr>
              <a:buNone/>
            </a:pPr>
            <a:r>
              <a:rPr lang="en-US"/>
              <a:t>We selected </a:t>
            </a:r>
            <a:r>
              <a:rPr lang="en-US" b="1"/>
              <a:t>10 academic papers</a:t>
            </a:r>
            <a:r>
              <a:rPr lang="en-US"/>
              <a:t> from </a:t>
            </a:r>
            <a:r>
              <a:rPr lang="en-US" err="1"/>
              <a:t>arXiv</a:t>
            </a:r>
            <a:r>
              <a:rPr lang="en-US"/>
              <a:t>, spanning domains like natural language processing, computer vision, and machine learning. For each paper, we generated </a:t>
            </a:r>
            <a:r>
              <a:rPr lang="en-US" b="1"/>
              <a:t>two reviews</a:t>
            </a:r>
            <a:r>
              <a:rPr lang="en-US"/>
              <a:t>:</a:t>
            </a:r>
          </a:p>
          <a:p>
            <a:pPr>
              <a:buFont typeface="Arial" panose="020B0604020202020204" pitchFamily="34" charset="0"/>
              <a:buChar char="•"/>
            </a:pPr>
            <a:r>
              <a:rPr lang="en-US"/>
              <a:t>One using our </a:t>
            </a:r>
            <a:r>
              <a:rPr lang="en-US" b="1"/>
              <a:t>structured prompt</a:t>
            </a:r>
            <a:r>
              <a:rPr lang="en-US"/>
              <a:t>, designed with explicit section-wise guidance</a:t>
            </a:r>
          </a:p>
          <a:p>
            <a:pPr>
              <a:buFont typeface="Arial" panose="020B0604020202020204" pitchFamily="34" charset="0"/>
              <a:buChar char="•"/>
            </a:pPr>
            <a:r>
              <a:rPr lang="en-US"/>
              <a:t>Another using a </a:t>
            </a:r>
            <a:r>
              <a:rPr lang="en-US" b="1"/>
              <a:t>baseline prompt</a:t>
            </a:r>
            <a:r>
              <a:rPr lang="en-US"/>
              <a:t>, which simply asked for a generic review</a:t>
            </a:r>
          </a:p>
          <a:p>
            <a:pPr>
              <a:buNone/>
            </a:pPr>
            <a:br>
              <a:rPr lang="en-US"/>
            </a:br>
            <a:endParaRPr lang="en-US"/>
          </a:p>
          <a:p>
            <a:pPr>
              <a:buNone/>
            </a:pPr>
            <a:r>
              <a:rPr lang="en-US"/>
              <a:t>We saved all generated reviews as PDFs—organized into folders:</a:t>
            </a:r>
          </a:p>
          <a:p>
            <a:pPr>
              <a:buFont typeface="Arial" panose="020B0604020202020204" pitchFamily="34" charset="0"/>
              <a:buChar char="•"/>
            </a:pPr>
            <a:r>
              <a:rPr lang="en-US"/>
              <a:t>papers/ for original papers</a:t>
            </a:r>
          </a:p>
          <a:p>
            <a:pPr>
              <a:buFont typeface="Arial" panose="020B0604020202020204" pitchFamily="34" charset="0"/>
              <a:buChar char="•"/>
            </a:pPr>
            <a:r>
              <a:rPr lang="en-US"/>
              <a:t>outputs/ for structured reviews</a:t>
            </a:r>
          </a:p>
          <a:p>
            <a:pPr>
              <a:buFont typeface="Arial" panose="020B0604020202020204" pitchFamily="34" charset="0"/>
              <a:buChar char="•"/>
            </a:pPr>
            <a:r>
              <a:rPr lang="en-US" err="1"/>
              <a:t>baseline_outputs</a:t>
            </a:r>
            <a:r>
              <a:rPr lang="en-US"/>
              <a:t>/ for baseline reviews</a:t>
            </a:r>
          </a:p>
          <a:p>
            <a:pPr>
              <a:buNone/>
            </a:pPr>
            <a:br>
              <a:rPr lang="en-US"/>
            </a:br>
            <a:endParaRPr lang="en-US"/>
          </a:p>
          <a:p>
            <a:pPr>
              <a:buNone/>
            </a:pPr>
            <a:r>
              <a:rPr lang="en-US"/>
              <a:t>To evaluate review quality, we focused on comparing the </a:t>
            </a:r>
            <a:r>
              <a:rPr lang="en-US" b="1"/>
              <a:t>Summary</a:t>
            </a:r>
            <a:r>
              <a:rPr lang="en-US"/>
              <a:t> sections in the generated reviews against the paper’s </a:t>
            </a:r>
            <a:r>
              <a:rPr lang="en-US" b="1"/>
              <a:t>Abstract</a:t>
            </a:r>
            <a:r>
              <a:rPr lang="en-US"/>
              <a:t>, since the abstract encapsulates the paper’s core ideas.</a:t>
            </a:r>
          </a:p>
          <a:p>
            <a:pPr>
              <a:buNone/>
            </a:pPr>
            <a:br>
              <a:rPr lang="en-US"/>
            </a:br>
            <a:endParaRPr lang="en-US"/>
          </a:p>
          <a:p>
            <a:pPr>
              <a:buNone/>
            </a:pPr>
            <a:r>
              <a:rPr lang="en-US"/>
              <a:t>We used the following </a:t>
            </a:r>
            <a:r>
              <a:rPr lang="en-US" b="1"/>
              <a:t>four metrics</a:t>
            </a:r>
            <a:r>
              <a:rPr lang="en-US"/>
              <a:t>:</a:t>
            </a:r>
          </a:p>
          <a:p>
            <a:pPr>
              <a:buFont typeface="+mj-lt"/>
              <a:buAutoNum type="arabicPeriod"/>
            </a:pPr>
            <a:r>
              <a:rPr lang="en-US" b="1"/>
              <a:t>ROUGE-L F1</a:t>
            </a:r>
            <a:r>
              <a:rPr lang="en-US"/>
              <a:t>:</a:t>
            </a:r>
          </a:p>
          <a:p>
            <a:pPr>
              <a:buFont typeface="+mj-lt"/>
              <a:buAutoNum type="arabicPeriod"/>
            </a:pPr>
            <a:r>
              <a:rPr lang="en-US"/>
              <a:t>This measures the </a:t>
            </a:r>
            <a:r>
              <a:rPr lang="en-US" b="1"/>
              <a:t>longest common subsequence</a:t>
            </a:r>
            <a:r>
              <a:rPr lang="en-US"/>
              <a:t> between the abstract and the review summary. It captures how much of the original phrasing or ordering is retained—so higher scores suggest better content overlap.</a:t>
            </a:r>
          </a:p>
          <a:p>
            <a:pPr>
              <a:buFont typeface="+mj-lt"/>
              <a:buAutoNum type="arabicPeriod"/>
            </a:pPr>
            <a:r>
              <a:rPr lang="en-US" b="1"/>
              <a:t>BLEU</a:t>
            </a:r>
            <a:r>
              <a:rPr lang="en-US"/>
              <a:t>:</a:t>
            </a:r>
          </a:p>
          <a:p>
            <a:pPr>
              <a:buFont typeface="+mj-lt"/>
              <a:buAutoNum type="arabicPeriod"/>
            </a:pPr>
            <a:r>
              <a:rPr lang="en-US"/>
              <a:t>A metric commonly used in machine translation. It focuses on </a:t>
            </a:r>
            <a:r>
              <a:rPr lang="en-US" b="1"/>
              <a:t>n-gram precision</a:t>
            </a:r>
            <a:r>
              <a:rPr lang="en-US"/>
              <a:t>, i.e., how many word sequences in the review match those in the abstract. It’s quite strict and tends to penalize paraphrasing.</a:t>
            </a:r>
          </a:p>
          <a:p>
            <a:pPr>
              <a:buFont typeface="+mj-lt"/>
              <a:buAutoNum type="arabicPeriod"/>
            </a:pPr>
            <a:r>
              <a:rPr lang="en-US" b="1" err="1"/>
              <a:t>BERTScore</a:t>
            </a:r>
            <a:r>
              <a:rPr lang="en-US" b="1"/>
              <a:t> F1</a:t>
            </a:r>
            <a:r>
              <a:rPr lang="en-US"/>
              <a:t>:</a:t>
            </a:r>
          </a:p>
          <a:p>
            <a:pPr>
              <a:buFont typeface="+mj-lt"/>
              <a:buAutoNum type="arabicPeriod"/>
            </a:pPr>
            <a:r>
              <a:rPr lang="en-US"/>
              <a:t>This is a </a:t>
            </a:r>
            <a:r>
              <a:rPr lang="en-US" b="1"/>
              <a:t>semantic similarity metric</a:t>
            </a:r>
            <a:r>
              <a:rPr lang="en-US"/>
              <a:t> using contextual embeddings from BERT. Unlike ROUGE and BLEU, it captures </a:t>
            </a:r>
            <a:r>
              <a:rPr lang="en-US" b="1"/>
              <a:t>meaning</a:t>
            </a:r>
            <a:r>
              <a:rPr lang="en-US"/>
              <a:t> even when exact words differ—making it more robust to paraphrased but accurate content.</a:t>
            </a:r>
          </a:p>
          <a:p>
            <a:pPr>
              <a:buFont typeface="+mj-lt"/>
              <a:buAutoNum type="arabicPeriod"/>
            </a:pPr>
            <a:r>
              <a:rPr lang="en-US" b="1"/>
              <a:t>SBERT Cosine Similarity</a:t>
            </a:r>
            <a:r>
              <a:rPr lang="en-US"/>
              <a:t>:</a:t>
            </a:r>
          </a:p>
          <a:p>
            <a:pPr>
              <a:buFont typeface="+mj-lt"/>
              <a:buAutoNum type="arabicPeriod"/>
            </a:pPr>
            <a:r>
              <a:rPr lang="en-US"/>
              <a:t>We used </a:t>
            </a:r>
            <a:r>
              <a:rPr lang="en-US" b="1"/>
              <a:t>Sentence-BERT embeddings</a:t>
            </a:r>
            <a:r>
              <a:rPr lang="en-US"/>
              <a:t> to get an overall semantic representation of the abstract and the summary. The cosine similarity tells us how </a:t>
            </a:r>
            <a:r>
              <a:rPr lang="en-US" b="1"/>
              <a:t>conceptually close</a:t>
            </a:r>
            <a:r>
              <a:rPr lang="en-US"/>
              <a:t> they are in vector space.</a:t>
            </a:r>
          </a:p>
          <a:p>
            <a:pPr>
              <a:buNone/>
            </a:pPr>
            <a:br>
              <a:rPr lang="en-US"/>
            </a:br>
            <a:endParaRPr lang="en-US"/>
          </a:p>
          <a:p>
            <a:pPr>
              <a:buNone/>
            </a:pPr>
            <a:r>
              <a:rPr lang="en-US"/>
              <a:t>Together, these metrics allow us to evaluate the </a:t>
            </a:r>
            <a:r>
              <a:rPr lang="en-US" b="1"/>
              <a:t>lexical</a:t>
            </a:r>
            <a:r>
              <a:rPr lang="en-US"/>
              <a:t>, </a:t>
            </a:r>
            <a:r>
              <a:rPr lang="en-US" b="1"/>
              <a:t>semantic</a:t>
            </a:r>
            <a:r>
              <a:rPr lang="en-US"/>
              <a:t>, and </a:t>
            </a:r>
            <a:r>
              <a:rPr lang="en-US" b="1"/>
              <a:t>structural alignment</a:t>
            </a:r>
            <a:r>
              <a:rPr lang="en-US"/>
              <a:t> between the original paper and the generated review summaries.</a:t>
            </a:r>
          </a:p>
          <a:p>
            <a:pPr>
              <a:buNone/>
            </a:pPr>
            <a:br>
              <a:rPr lang="en-US"/>
            </a:br>
            <a:endParaRPr lang="en-US"/>
          </a:p>
          <a:p>
            <a:r>
              <a:rPr lang="en-US"/>
              <a:t>This annotated dataset and evaluation pipeline set the stage for the experimental analysis we’ll discuss next.”</a:t>
            </a:r>
          </a:p>
        </p:txBody>
      </p:sp>
    </p:spTree>
    <p:extLst>
      <p:ext uri="{BB962C8B-B14F-4D97-AF65-F5344CB8AC3E}">
        <p14:creationId xmlns:p14="http://schemas.microsoft.com/office/powerpoint/2010/main" val="19472728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itchFamily="34" charset="0"/>
                <a:ea typeface="ＭＳ Ｐゴシック" pitchFamily="34" charset="-128"/>
              </a:defRPr>
            </a:lvl1pPr>
            <a:lvl2pPr marL="757066" indent="-291179" eaLnBrk="0" hangingPunct="0">
              <a:defRPr sz="2400">
                <a:solidFill>
                  <a:schemeClr val="tx1"/>
                </a:solidFill>
                <a:latin typeface="Arial" pitchFamily="34" charset="0"/>
                <a:ea typeface="ＭＳ Ｐゴシック" pitchFamily="34" charset="-128"/>
              </a:defRPr>
            </a:lvl2pPr>
            <a:lvl3pPr marL="1164717" indent="-232943" eaLnBrk="0" hangingPunct="0">
              <a:defRPr sz="2400">
                <a:solidFill>
                  <a:schemeClr val="tx1"/>
                </a:solidFill>
                <a:latin typeface="Arial" pitchFamily="34" charset="0"/>
                <a:ea typeface="ＭＳ Ｐゴシック" pitchFamily="34" charset="-128"/>
              </a:defRPr>
            </a:lvl3pPr>
            <a:lvl4pPr marL="1630604" indent="-232943" eaLnBrk="0" hangingPunct="0">
              <a:defRPr sz="2400">
                <a:solidFill>
                  <a:schemeClr val="tx1"/>
                </a:solidFill>
                <a:latin typeface="Arial" pitchFamily="34" charset="0"/>
                <a:ea typeface="ＭＳ Ｐゴシック" pitchFamily="34" charset="-128"/>
              </a:defRPr>
            </a:lvl4pPr>
            <a:lvl5pPr marL="2096491" indent="-232943" eaLnBrk="0" hangingPunct="0">
              <a:defRPr sz="2400">
                <a:solidFill>
                  <a:schemeClr val="tx1"/>
                </a:solidFill>
                <a:latin typeface="Arial" pitchFamily="34" charset="0"/>
                <a:ea typeface="ＭＳ Ｐゴシック" pitchFamily="34" charset="-128"/>
              </a:defRPr>
            </a:lvl5pPr>
            <a:lvl6pPr marL="2562377" indent="-232943"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3028264" indent="-232943"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94151" indent="-232943"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960038" indent="-232943"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61AE4675-46EC-4EDF-89E2-3C4CC1C64A21}" type="slidenum">
              <a:rPr lang="zh-TW" altLang="en-US" sz="1200">
                <a:ea typeface="PMingLiU" pitchFamily="18" charset="-120"/>
              </a:rPr>
              <a:pPr eaLnBrk="1" hangingPunct="1"/>
              <a:t>11</a:t>
            </a:fld>
            <a:endParaRPr lang="en-US" altLang="zh-TW" sz="1200">
              <a:ea typeface="PMingLiU" pitchFamily="18" charset="-120"/>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extLst>
            <a:ext uri="{AF507438-7753-43e0-B8FC-AC1667EBCBE1}">
              <a14:hiddenEffects xmlns="" xmlns:a14="http://schemas.microsoft.com/office/drawing/2010/main">
                <a:effectLst>
                  <a:outerShdw blurRad="63500" dist="38099" dir="2700000" algn="ctr" rotWithShape="0">
                    <a:schemeClr val="bg2">
                      <a:alpha val="74997"/>
                    </a:schemeClr>
                  </a:outerShdw>
                </a:effectLst>
              </a14:hiddenEffects>
            </a:ext>
          </a:extLst>
        </p:spPr>
        <p:txBody>
          <a:bodyPr/>
          <a:lstStyle/>
          <a:p>
            <a:pPr>
              <a:buNone/>
            </a:pPr>
            <a:r>
              <a:rPr lang="en-US"/>
              <a:t>“Here, we present the core evaluation results for the reviews generated using our </a:t>
            </a:r>
            <a:r>
              <a:rPr lang="en-US" b="1"/>
              <a:t>structured prompt design</a:t>
            </a:r>
            <a:r>
              <a:rPr lang="en-US"/>
              <a:t> across ten academic papers.</a:t>
            </a:r>
          </a:p>
          <a:p>
            <a:pPr>
              <a:buNone/>
            </a:pPr>
            <a:br>
              <a:rPr lang="en-US"/>
            </a:br>
            <a:endParaRPr lang="en-US"/>
          </a:p>
          <a:p>
            <a:pPr>
              <a:buNone/>
            </a:pPr>
            <a:r>
              <a:rPr lang="en-US"/>
              <a:t>We evaluate each generated summary against the original paper abstract using four key metrics:</a:t>
            </a:r>
          </a:p>
          <a:p>
            <a:pPr>
              <a:buFont typeface="Arial" panose="020B0604020202020204" pitchFamily="34" charset="0"/>
              <a:buChar char="•"/>
            </a:pPr>
            <a:r>
              <a:rPr lang="en-US" b="1"/>
              <a:t>ROUGE-L F1</a:t>
            </a:r>
            <a:r>
              <a:rPr lang="en-US"/>
              <a:t>: This measures the longest common subsequence overlap. While values are modest due to the high-level nature of abstracts vs reviews, we observe non-zero scores in most cases, indicating partial lexical overlap.</a:t>
            </a:r>
          </a:p>
          <a:p>
            <a:pPr>
              <a:buFont typeface="Arial" panose="020B0604020202020204" pitchFamily="34" charset="0"/>
              <a:buChar char="•"/>
            </a:pPr>
            <a:r>
              <a:rPr lang="en-US" b="1"/>
              <a:t>BLEU</a:t>
            </a:r>
            <a:r>
              <a:rPr lang="en-US"/>
              <a:t>: This metric is traditionally used in machine translation to measure n-gram precision. As expected, the scores are quite low overall, which is common when comparing semantically aligned but lexically varied text like reviews and abstracts.</a:t>
            </a:r>
          </a:p>
          <a:p>
            <a:pPr>
              <a:buFont typeface="Arial" panose="020B0604020202020204" pitchFamily="34" charset="0"/>
              <a:buChar char="•"/>
            </a:pPr>
            <a:r>
              <a:rPr lang="en-US" b="1" err="1"/>
              <a:t>BERTScore</a:t>
            </a:r>
            <a:r>
              <a:rPr lang="en-US" b="1"/>
              <a:t> F1</a:t>
            </a:r>
            <a:r>
              <a:rPr lang="en-US"/>
              <a:t>: These values are much higher, generally above 0.8. </a:t>
            </a:r>
            <a:r>
              <a:rPr lang="en-US" err="1"/>
              <a:t>BERTScore</a:t>
            </a:r>
            <a:r>
              <a:rPr lang="en-US"/>
              <a:t> evaluates </a:t>
            </a:r>
            <a:r>
              <a:rPr lang="en-US" b="1"/>
              <a:t>semantic similarity</a:t>
            </a:r>
            <a:r>
              <a:rPr lang="en-US"/>
              <a:t>, and these high scores suggest that even if the wording differs, our reviews are semantically aligned with the abstracts.</a:t>
            </a:r>
          </a:p>
          <a:p>
            <a:pPr>
              <a:buFont typeface="Arial" panose="020B0604020202020204" pitchFamily="34" charset="0"/>
              <a:buChar char="•"/>
            </a:pPr>
            <a:r>
              <a:rPr lang="en-US" b="1"/>
              <a:t>SBERT Cosine</a:t>
            </a:r>
            <a:r>
              <a:rPr lang="en-US"/>
              <a:t>: This captures sentence-level embedding similarity. We observe significant variation here, with some papers achieving over 0.9 similarity, while others are lower. This reflects that in some cases, the model strongly aligns with the abstract’s core concepts, while in others it diverges.</a:t>
            </a:r>
          </a:p>
          <a:p>
            <a:pPr>
              <a:buNone/>
            </a:pPr>
            <a:br>
              <a:rPr lang="en-US"/>
            </a:br>
            <a:endParaRPr lang="en-US"/>
          </a:p>
          <a:p>
            <a:r>
              <a:rPr lang="en-US"/>
              <a:t>Overall, this table establishes that our reviews not only reflect the core ideas of the papers but do so with measurable semantic accuracy. In the next slide, we’ll compare this structured approach against a simpler baseline to quantify its benefit.”</a:t>
            </a:r>
          </a:p>
        </p:txBody>
      </p:sp>
    </p:spTree>
    <p:extLst>
      <p:ext uri="{BB962C8B-B14F-4D97-AF65-F5344CB8AC3E}">
        <p14:creationId xmlns:p14="http://schemas.microsoft.com/office/powerpoint/2010/main" val="1639256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55208-EE0B-1408-AA48-05E4E22F1792}"/>
            </a:ext>
          </a:extLst>
        </p:cNvPr>
        <p:cNvGrpSpPr/>
        <p:nvPr/>
      </p:nvGrpSpPr>
      <p:grpSpPr>
        <a:xfrm>
          <a:off x="0" y="0"/>
          <a:ext cx="0" cy="0"/>
          <a:chOff x="0" y="0"/>
          <a:chExt cx="0" cy="0"/>
        </a:xfrm>
      </p:grpSpPr>
      <p:sp>
        <p:nvSpPr>
          <p:cNvPr id="31746" name="Rectangle 7">
            <a:extLst>
              <a:ext uri="{FF2B5EF4-FFF2-40B4-BE49-F238E27FC236}">
                <a16:creationId xmlns:a16="http://schemas.microsoft.com/office/drawing/2014/main" id="{FDA7186C-FED7-9A46-1037-C361BECD4727}"/>
              </a:ext>
            </a:extLst>
          </p:cNvPr>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itchFamily="34" charset="0"/>
                <a:ea typeface="ＭＳ Ｐゴシック" pitchFamily="34" charset="-128"/>
              </a:defRPr>
            </a:lvl1pPr>
            <a:lvl2pPr marL="757066" indent="-291179" eaLnBrk="0" hangingPunct="0">
              <a:defRPr sz="2400">
                <a:solidFill>
                  <a:schemeClr val="tx1"/>
                </a:solidFill>
                <a:latin typeface="Arial" pitchFamily="34" charset="0"/>
                <a:ea typeface="ＭＳ Ｐゴシック" pitchFamily="34" charset="-128"/>
              </a:defRPr>
            </a:lvl2pPr>
            <a:lvl3pPr marL="1164717" indent="-232943" eaLnBrk="0" hangingPunct="0">
              <a:defRPr sz="2400">
                <a:solidFill>
                  <a:schemeClr val="tx1"/>
                </a:solidFill>
                <a:latin typeface="Arial" pitchFamily="34" charset="0"/>
                <a:ea typeface="ＭＳ Ｐゴシック" pitchFamily="34" charset="-128"/>
              </a:defRPr>
            </a:lvl3pPr>
            <a:lvl4pPr marL="1630604" indent="-232943" eaLnBrk="0" hangingPunct="0">
              <a:defRPr sz="2400">
                <a:solidFill>
                  <a:schemeClr val="tx1"/>
                </a:solidFill>
                <a:latin typeface="Arial" pitchFamily="34" charset="0"/>
                <a:ea typeface="ＭＳ Ｐゴシック" pitchFamily="34" charset="-128"/>
              </a:defRPr>
            </a:lvl4pPr>
            <a:lvl5pPr marL="2096491" indent="-232943" eaLnBrk="0" hangingPunct="0">
              <a:defRPr sz="2400">
                <a:solidFill>
                  <a:schemeClr val="tx1"/>
                </a:solidFill>
                <a:latin typeface="Arial" pitchFamily="34" charset="0"/>
                <a:ea typeface="ＭＳ Ｐゴシック" pitchFamily="34" charset="-128"/>
              </a:defRPr>
            </a:lvl5pPr>
            <a:lvl6pPr marL="2562377" indent="-232943"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3028264" indent="-232943"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94151" indent="-232943"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960038" indent="-232943"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61AE4675-46EC-4EDF-89E2-3C4CC1C64A21}" type="slidenum">
              <a:rPr lang="zh-TW" altLang="en-US" sz="1200">
                <a:ea typeface="PMingLiU" pitchFamily="18" charset="-120"/>
              </a:rPr>
              <a:pPr eaLnBrk="1" hangingPunct="1"/>
              <a:t>12</a:t>
            </a:fld>
            <a:endParaRPr lang="en-US" altLang="zh-TW" sz="1200">
              <a:ea typeface="PMingLiU" pitchFamily="18" charset="-120"/>
            </a:endParaRPr>
          </a:p>
        </p:txBody>
      </p:sp>
      <p:sp>
        <p:nvSpPr>
          <p:cNvPr id="31747" name="Rectangle 2">
            <a:extLst>
              <a:ext uri="{FF2B5EF4-FFF2-40B4-BE49-F238E27FC236}">
                <a16:creationId xmlns:a16="http://schemas.microsoft.com/office/drawing/2014/main" id="{A2FB2643-98EB-DC22-1630-83D3FCDB4C94}"/>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014C8B44-578C-EE9B-1DC7-943DDF518B55}"/>
              </a:ext>
            </a:extLst>
          </p:cNvPr>
          <p:cNvSpPr>
            <a:spLocks noGrp="1" noChangeArrowheads="1"/>
          </p:cNvSpPr>
          <p:nvPr>
            <p:ph type="body" idx="1"/>
          </p:nvPr>
        </p:nvSpPr>
        <p:spPr>
          <a:noFill/>
          <a:extLst>
            <a:ext uri="{AF507438-7753-43e0-B8FC-AC1667EBCBE1}">
              <a14:hiddenEffects xmlns="" xmlns:a14="http://schemas.microsoft.com/office/drawing/2010/main">
                <a:effectLst>
                  <a:outerShdw blurRad="63500" dist="38099" dir="2700000" algn="ctr" rotWithShape="0">
                    <a:schemeClr val="bg2">
                      <a:alpha val="74997"/>
                    </a:schemeClr>
                  </a:outerShdw>
                </a:effectLst>
              </a14:hiddenEffects>
            </a:ext>
          </a:extLst>
        </p:spPr>
        <p:txBody>
          <a:bodyPr/>
          <a:lstStyle/>
          <a:p>
            <a:pPr>
              <a:buFont typeface="Arial" panose="020B0604020202020204" pitchFamily="34" charset="0"/>
              <a:buChar char="•"/>
            </a:pPr>
            <a:r>
              <a:rPr lang="en-US" b="1"/>
              <a:t>ROUGE-L (Main vs. Baseline):</a:t>
            </a:r>
            <a:endParaRPr lang="en-US"/>
          </a:p>
          <a:p>
            <a:pPr>
              <a:buFont typeface="Arial" panose="020B0604020202020204" pitchFamily="34" charset="0"/>
              <a:buChar char="•"/>
            </a:pPr>
            <a:r>
              <a:rPr lang="en-US"/>
              <a:t>Our structured prompt outperformed the baseline in </a:t>
            </a:r>
            <a:r>
              <a:rPr lang="en-US" b="1"/>
              <a:t>8 out of 10 papers</a:t>
            </a:r>
            <a:r>
              <a:rPr lang="en-US"/>
              <a:t>, indicating better lexical overlap with the paper’s abstract.</a:t>
            </a:r>
          </a:p>
          <a:p>
            <a:pPr>
              <a:buFont typeface="Arial" panose="020B0604020202020204" pitchFamily="34" charset="0"/>
              <a:buChar char="•"/>
            </a:pPr>
            <a:r>
              <a:rPr lang="en-US"/>
              <a:t>Notably, for paper </a:t>
            </a:r>
            <a:r>
              <a:rPr lang="en-US" b="1"/>
              <a:t>2406.11931v1</a:t>
            </a:r>
            <a:r>
              <a:rPr lang="en-US"/>
              <a:t>, the main review achieved </a:t>
            </a:r>
            <a:r>
              <a:rPr lang="en-US" b="1"/>
              <a:t>0.62 ROUGE-L</a:t>
            </a:r>
            <a:r>
              <a:rPr lang="en-US"/>
              <a:t>, significantly higher than the baseline’s </a:t>
            </a:r>
            <a:r>
              <a:rPr lang="en-US" b="1"/>
              <a:t>0.15</a:t>
            </a:r>
            <a:r>
              <a:rPr lang="en-US"/>
              <a:t> — showcasing a highly faithful summary.</a:t>
            </a:r>
          </a:p>
          <a:p>
            <a:pPr>
              <a:buFont typeface="Arial" panose="020B0604020202020204" pitchFamily="34" charset="0"/>
              <a:buChar char="•"/>
            </a:pPr>
            <a:endParaRPr lang="en-US"/>
          </a:p>
          <a:p>
            <a:pPr>
              <a:buFont typeface="Arial" panose="020B0604020202020204" pitchFamily="34" charset="0"/>
              <a:buChar char="•"/>
            </a:pPr>
            <a:r>
              <a:rPr lang="en-US" b="1"/>
              <a:t>BLEU Score (Main vs. Baseline):</a:t>
            </a:r>
            <a:endParaRPr lang="en-US"/>
          </a:p>
          <a:p>
            <a:pPr>
              <a:buFont typeface="Arial" panose="020B0604020202020204" pitchFamily="34" charset="0"/>
              <a:buChar char="•"/>
            </a:pPr>
            <a:r>
              <a:rPr lang="en-US"/>
              <a:t>BLEU scores remained generally low across both models (often &lt; 0.05), indicating that while lexical overlap is limited, semantic content might still be captured.</a:t>
            </a:r>
          </a:p>
          <a:p>
            <a:pPr>
              <a:buFont typeface="Arial" panose="020B0604020202020204" pitchFamily="34" charset="0"/>
              <a:buChar char="•"/>
            </a:pPr>
            <a:r>
              <a:rPr lang="en-US"/>
              <a:t>The main reviews achieved higher BLEU scores in </a:t>
            </a:r>
            <a:r>
              <a:rPr lang="en-US" b="1"/>
              <a:t>all 10 papers</a:t>
            </a:r>
            <a:r>
              <a:rPr lang="en-US"/>
              <a:t>, though margins were small, reflecting some gain in fluency or n-gram precision.</a:t>
            </a:r>
          </a:p>
          <a:p>
            <a:pPr>
              <a:buFont typeface="Arial" panose="020B0604020202020204" pitchFamily="34" charset="0"/>
              <a:buChar char="•"/>
            </a:pPr>
            <a:endParaRPr lang="en-US" b="1"/>
          </a:p>
          <a:p>
            <a:pPr>
              <a:buFont typeface="Arial" panose="020B0604020202020204" pitchFamily="34" charset="0"/>
              <a:buChar char="•"/>
            </a:pPr>
            <a:r>
              <a:rPr lang="en-US" b="1" err="1"/>
              <a:t>BERTScore</a:t>
            </a:r>
            <a:r>
              <a:rPr lang="en-US" b="1"/>
              <a:t> F1:</a:t>
            </a:r>
            <a:endParaRPr lang="en-US"/>
          </a:p>
          <a:p>
            <a:pPr>
              <a:buFont typeface="Arial" panose="020B0604020202020204" pitchFamily="34" charset="0"/>
              <a:buChar char="•"/>
            </a:pPr>
            <a:r>
              <a:rPr lang="en-US"/>
              <a:t>Both baselines and main reviews maintained high </a:t>
            </a:r>
            <a:r>
              <a:rPr lang="en-US" err="1"/>
              <a:t>BERTScore</a:t>
            </a:r>
            <a:r>
              <a:rPr lang="en-US"/>
              <a:t> F1 values (</a:t>
            </a:r>
            <a:r>
              <a:rPr lang="en-US" b="1"/>
              <a:t>0.81–0.96</a:t>
            </a:r>
            <a:r>
              <a:rPr lang="en-US"/>
              <a:t>), showing that semantically, both outputs align well with abstracts.</a:t>
            </a:r>
          </a:p>
          <a:p>
            <a:pPr>
              <a:buFont typeface="Arial" panose="020B0604020202020204" pitchFamily="34" charset="0"/>
              <a:buChar char="•"/>
            </a:pPr>
            <a:r>
              <a:rPr lang="en-US"/>
              <a:t>However, main reviews showed </a:t>
            </a:r>
            <a:r>
              <a:rPr lang="en-US" b="1"/>
              <a:t>more consistent scores</a:t>
            </a:r>
            <a:r>
              <a:rPr lang="en-US"/>
              <a:t> with slightly higher values in 6 of 10 cases — suggesting better semantic relevance in aggregate.</a:t>
            </a:r>
          </a:p>
          <a:p>
            <a:pPr>
              <a:buFont typeface="Arial" panose="020B0604020202020204" pitchFamily="34" charset="0"/>
              <a:buChar char="•"/>
            </a:pPr>
            <a:endParaRPr lang="en-US" b="1"/>
          </a:p>
          <a:p>
            <a:pPr>
              <a:buFont typeface="Arial" panose="020B0604020202020204" pitchFamily="34" charset="0"/>
              <a:buChar char="•"/>
            </a:pPr>
            <a:r>
              <a:rPr lang="en-US" b="1"/>
              <a:t>SBERT Cosine Similarity:</a:t>
            </a:r>
            <a:endParaRPr lang="en-US"/>
          </a:p>
          <a:p>
            <a:pPr>
              <a:buFont typeface="Arial" panose="020B0604020202020204" pitchFamily="34" charset="0"/>
              <a:buChar char="•"/>
            </a:pPr>
            <a:r>
              <a:rPr lang="en-US"/>
              <a:t>The </a:t>
            </a:r>
            <a:r>
              <a:rPr lang="en-US" b="1"/>
              <a:t>main reviews scored significantly higher</a:t>
            </a:r>
            <a:r>
              <a:rPr lang="en-US"/>
              <a:t> SBERT cosine similarity in key cases (e.g., </a:t>
            </a:r>
            <a:r>
              <a:rPr lang="en-US" b="1"/>
              <a:t>0.92 vs. 0.78</a:t>
            </a:r>
            <a:r>
              <a:rPr lang="en-US"/>
              <a:t> for 2406.11931v1), reflecting stronger semantic alignment at the sentence embedding level.</a:t>
            </a:r>
          </a:p>
          <a:p>
            <a:pPr>
              <a:buFont typeface="Arial" panose="020B0604020202020204" pitchFamily="34" charset="0"/>
              <a:buChar char="•"/>
            </a:pPr>
            <a:r>
              <a:rPr lang="en-US"/>
              <a:t>However, in a few cases (e.g., 2309.06180v1), baselines performed better — suggesting that the unstructured prompt may sometimes yield high-level summaries that “feel” similar but lack structured detail.</a:t>
            </a:r>
          </a:p>
          <a:p>
            <a:pPr>
              <a:buFont typeface="Arial" panose="020B0604020202020204" pitchFamily="34" charset="0"/>
              <a:buChar char="•"/>
            </a:pPr>
            <a:endParaRPr lang="en-US" b="1"/>
          </a:p>
          <a:p>
            <a:pPr>
              <a:buFont typeface="Arial" panose="020B0604020202020204" pitchFamily="34" charset="0"/>
              <a:buChar char="•"/>
            </a:pPr>
            <a:r>
              <a:rPr lang="en-US" b="1"/>
              <a:t>Outliers &amp; Anomalies:</a:t>
            </a:r>
            <a:endParaRPr lang="en-US"/>
          </a:p>
          <a:p>
            <a:pPr>
              <a:buFont typeface="Arial" panose="020B0604020202020204" pitchFamily="34" charset="0"/>
              <a:buChar char="•"/>
            </a:pPr>
            <a:r>
              <a:rPr lang="en-US"/>
              <a:t>In papers like </a:t>
            </a:r>
            <a:r>
              <a:rPr lang="en-US" b="1"/>
              <a:t>2309.06180v1</a:t>
            </a:r>
            <a:r>
              <a:rPr lang="en-US"/>
              <a:t> and </a:t>
            </a:r>
            <a:r>
              <a:rPr lang="en-US" b="1"/>
              <a:t>2402.00157v4</a:t>
            </a:r>
            <a:r>
              <a:rPr lang="en-US"/>
              <a:t>, the main review had lower SBERT cosine scores than baseline, despite similar or better ROUGE/</a:t>
            </a:r>
            <a:r>
              <a:rPr lang="en-US" err="1"/>
              <a:t>BERTScore</a:t>
            </a:r>
            <a:r>
              <a:rPr lang="en-US"/>
              <a:t>. This indicates potential loss in global coherence or missing high-level points.</a:t>
            </a:r>
          </a:p>
          <a:p>
            <a:pPr eaLnBrk="1" hangingPunct="1"/>
            <a:endParaRPr lang="en-US" altLang="zh-TW" baseline="0">
              <a:latin typeface="Arial" pitchFamily="34" charset="0"/>
              <a:ea typeface="PMingLiU" pitchFamily="18" charset="-120"/>
            </a:endParaRPr>
          </a:p>
        </p:txBody>
      </p:sp>
    </p:spTree>
    <p:extLst>
      <p:ext uri="{BB962C8B-B14F-4D97-AF65-F5344CB8AC3E}">
        <p14:creationId xmlns:p14="http://schemas.microsoft.com/office/powerpoint/2010/main" val="8804539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99DE7-63ED-3372-2B50-2A6CFB9E04F8}"/>
            </a:ext>
          </a:extLst>
        </p:cNvPr>
        <p:cNvGrpSpPr/>
        <p:nvPr/>
      </p:nvGrpSpPr>
      <p:grpSpPr>
        <a:xfrm>
          <a:off x="0" y="0"/>
          <a:ext cx="0" cy="0"/>
          <a:chOff x="0" y="0"/>
          <a:chExt cx="0" cy="0"/>
        </a:xfrm>
      </p:grpSpPr>
      <p:sp>
        <p:nvSpPr>
          <p:cNvPr id="31746" name="Rectangle 7">
            <a:extLst>
              <a:ext uri="{FF2B5EF4-FFF2-40B4-BE49-F238E27FC236}">
                <a16:creationId xmlns:a16="http://schemas.microsoft.com/office/drawing/2014/main" id="{A0DA99B9-8C44-CF42-1F0E-704E03F69A13}"/>
              </a:ext>
            </a:extLst>
          </p:cNvPr>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itchFamily="34" charset="0"/>
                <a:ea typeface="ＭＳ Ｐゴシック" pitchFamily="34" charset="-128"/>
              </a:defRPr>
            </a:lvl1pPr>
            <a:lvl2pPr marL="757066" indent="-291179" eaLnBrk="0" hangingPunct="0">
              <a:defRPr sz="2400">
                <a:solidFill>
                  <a:schemeClr val="tx1"/>
                </a:solidFill>
                <a:latin typeface="Arial" pitchFamily="34" charset="0"/>
                <a:ea typeface="ＭＳ Ｐゴシック" pitchFamily="34" charset="-128"/>
              </a:defRPr>
            </a:lvl2pPr>
            <a:lvl3pPr marL="1164717" indent="-232943" eaLnBrk="0" hangingPunct="0">
              <a:defRPr sz="2400">
                <a:solidFill>
                  <a:schemeClr val="tx1"/>
                </a:solidFill>
                <a:latin typeface="Arial" pitchFamily="34" charset="0"/>
                <a:ea typeface="ＭＳ Ｐゴシック" pitchFamily="34" charset="-128"/>
              </a:defRPr>
            </a:lvl3pPr>
            <a:lvl4pPr marL="1630604" indent="-232943" eaLnBrk="0" hangingPunct="0">
              <a:defRPr sz="2400">
                <a:solidFill>
                  <a:schemeClr val="tx1"/>
                </a:solidFill>
                <a:latin typeface="Arial" pitchFamily="34" charset="0"/>
                <a:ea typeface="ＭＳ Ｐゴシック" pitchFamily="34" charset="-128"/>
              </a:defRPr>
            </a:lvl4pPr>
            <a:lvl5pPr marL="2096491" indent="-232943" eaLnBrk="0" hangingPunct="0">
              <a:defRPr sz="2400">
                <a:solidFill>
                  <a:schemeClr val="tx1"/>
                </a:solidFill>
                <a:latin typeface="Arial" pitchFamily="34" charset="0"/>
                <a:ea typeface="ＭＳ Ｐゴシック" pitchFamily="34" charset="-128"/>
              </a:defRPr>
            </a:lvl5pPr>
            <a:lvl6pPr marL="2562377" indent="-232943"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3028264" indent="-232943"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94151" indent="-232943"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960038" indent="-232943"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61AE4675-46EC-4EDF-89E2-3C4CC1C64A21}" type="slidenum">
              <a:rPr lang="zh-TW" altLang="en-US" sz="1200">
                <a:ea typeface="PMingLiU" pitchFamily="18" charset="-120"/>
              </a:rPr>
              <a:pPr eaLnBrk="1" hangingPunct="1"/>
              <a:t>13</a:t>
            </a:fld>
            <a:endParaRPr lang="en-US" altLang="zh-TW" sz="1200">
              <a:ea typeface="PMingLiU" pitchFamily="18" charset="-120"/>
            </a:endParaRPr>
          </a:p>
        </p:txBody>
      </p:sp>
      <p:sp>
        <p:nvSpPr>
          <p:cNvPr id="31747" name="Rectangle 2">
            <a:extLst>
              <a:ext uri="{FF2B5EF4-FFF2-40B4-BE49-F238E27FC236}">
                <a16:creationId xmlns:a16="http://schemas.microsoft.com/office/drawing/2014/main" id="{68B3F9ED-1C82-A0DB-EE15-F94CC8E1CB3B}"/>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2F5F244A-DB79-8FB4-C1A3-72354965F7CE}"/>
              </a:ext>
            </a:extLst>
          </p:cNvPr>
          <p:cNvSpPr>
            <a:spLocks noGrp="1" noChangeArrowheads="1"/>
          </p:cNvSpPr>
          <p:nvPr>
            <p:ph type="body" idx="1"/>
          </p:nvPr>
        </p:nvSpPr>
        <p:spPr>
          <a:noFill/>
          <a:extLst>
            <a:ext uri="{AF507438-7753-43e0-B8FC-AC1667EBCBE1}">
              <a14:hiddenEffects xmln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endParaRPr lang="en-US" altLang="zh-TW" baseline="0">
              <a:latin typeface="Arial" pitchFamily="34" charset="0"/>
              <a:ea typeface="PMingLiU" pitchFamily="18" charset="-120"/>
            </a:endParaRPr>
          </a:p>
        </p:txBody>
      </p:sp>
    </p:spTree>
    <p:extLst>
      <p:ext uri="{BB962C8B-B14F-4D97-AF65-F5344CB8AC3E}">
        <p14:creationId xmlns:p14="http://schemas.microsoft.com/office/powerpoint/2010/main" val="28695650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0F27F-F6E8-BC46-F629-88FAF4CC7AF1}"/>
            </a:ext>
          </a:extLst>
        </p:cNvPr>
        <p:cNvGrpSpPr/>
        <p:nvPr/>
      </p:nvGrpSpPr>
      <p:grpSpPr>
        <a:xfrm>
          <a:off x="0" y="0"/>
          <a:ext cx="0" cy="0"/>
          <a:chOff x="0" y="0"/>
          <a:chExt cx="0" cy="0"/>
        </a:xfrm>
      </p:grpSpPr>
      <p:sp>
        <p:nvSpPr>
          <p:cNvPr id="31746" name="Rectangle 7">
            <a:extLst>
              <a:ext uri="{FF2B5EF4-FFF2-40B4-BE49-F238E27FC236}">
                <a16:creationId xmlns:a16="http://schemas.microsoft.com/office/drawing/2014/main" id="{21E4A9A1-C59A-B130-CD85-A7970F15C34B}"/>
              </a:ext>
            </a:extLst>
          </p:cNvPr>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itchFamily="34" charset="0"/>
                <a:ea typeface="ＭＳ Ｐゴシック" pitchFamily="34" charset="-128"/>
              </a:defRPr>
            </a:lvl1pPr>
            <a:lvl2pPr marL="757066" indent="-291179" eaLnBrk="0" hangingPunct="0">
              <a:defRPr sz="2400">
                <a:solidFill>
                  <a:schemeClr val="tx1"/>
                </a:solidFill>
                <a:latin typeface="Arial" pitchFamily="34" charset="0"/>
                <a:ea typeface="ＭＳ Ｐゴシック" pitchFamily="34" charset="-128"/>
              </a:defRPr>
            </a:lvl2pPr>
            <a:lvl3pPr marL="1164717" indent="-232943" eaLnBrk="0" hangingPunct="0">
              <a:defRPr sz="2400">
                <a:solidFill>
                  <a:schemeClr val="tx1"/>
                </a:solidFill>
                <a:latin typeface="Arial" pitchFamily="34" charset="0"/>
                <a:ea typeface="ＭＳ Ｐゴシック" pitchFamily="34" charset="-128"/>
              </a:defRPr>
            </a:lvl3pPr>
            <a:lvl4pPr marL="1630604" indent="-232943" eaLnBrk="0" hangingPunct="0">
              <a:defRPr sz="2400">
                <a:solidFill>
                  <a:schemeClr val="tx1"/>
                </a:solidFill>
                <a:latin typeface="Arial" pitchFamily="34" charset="0"/>
                <a:ea typeface="ＭＳ Ｐゴシック" pitchFamily="34" charset="-128"/>
              </a:defRPr>
            </a:lvl4pPr>
            <a:lvl5pPr marL="2096491" indent="-232943" eaLnBrk="0" hangingPunct="0">
              <a:defRPr sz="2400">
                <a:solidFill>
                  <a:schemeClr val="tx1"/>
                </a:solidFill>
                <a:latin typeface="Arial" pitchFamily="34" charset="0"/>
                <a:ea typeface="ＭＳ Ｐゴシック" pitchFamily="34" charset="-128"/>
              </a:defRPr>
            </a:lvl5pPr>
            <a:lvl6pPr marL="2562377" indent="-232943"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3028264" indent="-232943"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94151" indent="-232943"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960038" indent="-232943"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61AE4675-46EC-4EDF-89E2-3C4CC1C64A21}" type="slidenum">
              <a:rPr lang="zh-TW" altLang="en-US" sz="1200">
                <a:ea typeface="PMingLiU" pitchFamily="18" charset="-120"/>
              </a:rPr>
              <a:pPr eaLnBrk="1" hangingPunct="1"/>
              <a:t>14</a:t>
            </a:fld>
            <a:endParaRPr lang="en-US" altLang="zh-TW" sz="1200">
              <a:ea typeface="PMingLiU" pitchFamily="18" charset="-120"/>
            </a:endParaRPr>
          </a:p>
        </p:txBody>
      </p:sp>
      <p:sp>
        <p:nvSpPr>
          <p:cNvPr id="31747" name="Rectangle 2">
            <a:extLst>
              <a:ext uri="{FF2B5EF4-FFF2-40B4-BE49-F238E27FC236}">
                <a16:creationId xmlns:a16="http://schemas.microsoft.com/office/drawing/2014/main" id="{183D7663-E916-6677-B9AC-B30EB40A4242}"/>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69FE403D-F27C-8B06-4D91-CDC6995BD5C1}"/>
              </a:ext>
            </a:extLst>
          </p:cNvPr>
          <p:cNvSpPr>
            <a:spLocks noGrp="1" noChangeArrowheads="1"/>
          </p:cNvSpPr>
          <p:nvPr>
            <p:ph type="body" idx="1"/>
          </p:nvPr>
        </p:nvSpPr>
        <p:spPr>
          <a:noFill/>
          <a:extLst>
            <a:ext uri="{AF507438-7753-43e0-B8FC-AC1667EBCBE1}">
              <a14:hiddenEffects xmlns="" xmlns:a14="http://schemas.microsoft.com/office/drawing/2010/main">
                <a:effectLst>
                  <a:outerShdw blurRad="63500" dist="38099" dir="2700000" algn="ctr" rotWithShape="0">
                    <a:schemeClr val="bg2">
                      <a:alpha val="74997"/>
                    </a:schemeClr>
                  </a:outerShdw>
                </a:effectLst>
              </a14:hiddenEffects>
            </a:ext>
          </a:extLst>
        </p:spPr>
        <p:txBody>
          <a:bodyPr/>
          <a:lstStyle/>
          <a:p>
            <a:pPr>
              <a:buNone/>
            </a:pPr>
            <a:r>
              <a:rPr lang="en-US"/>
              <a:t>“Beyond automated metrics, we also conducted a </a:t>
            </a:r>
            <a:r>
              <a:rPr lang="en-US" b="1"/>
              <a:t>human evaluation</a:t>
            </a:r>
            <a:r>
              <a:rPr lang="en-US"/>
              <a:t> to assess review quality from a more subjective but meaningful lens.</a:t>
            </a:r>
          </a:p>
          <a:p>
            <a:pPr>
              <a:buNone/>
            </a:pPr>
            <a:br>
              <a:rPr lang="en-US"/>
            </a:br>
            <a:endParaRPr lang="en-US"/>
          </a:p>
          <a:p>
            <a:pPr>
              <a:buNone/>
            </a:pPr>
            <a:r>
              <a:rPr lang="en-US"/>
              <a:t>We asked </a:t>
            </a:r>
            <a:r>
              <a:rPr lang="en-US" b="1"/>
              <a:t>five graduate students</a:t>
            </a:r>
            <a:r>
              <a:rPr lang="en-US"/>
              <a:t>, all with research experience, to rate a sample of generated reviews on four dimensions:</a:t>
            </a:r>
          </a:p>
          <a:p>
            <a:pPr>
              <a:buFont typeface="Arial" panose="020B0604020202020204" pitchFamily="34" charset="0"/>
              <a:buChar char="•"/>
            </a:pPr>
            <a:r>
              <a:rPr lang="en-US" b="1"/>
              <a:t>Clarity</a:t>
            </a:r>
            <a:r>
              <a:rPr lang="en-US"/>
              <a:t> – how understandable and coherent the review is.</a:t>
            </a:r>
          </a:p>
          <a:p>
            <a:pPr>
              <a:buFont typeface="Arial" panose="020B0604020202020204" pitchFamily="34" charset="0"/>
              <a:buChar char="•"/>
            </a:pPr>
            <a:r>
              <a:rPr lang="en-US" b="1"/>
              <a:t>Coverage</a:t>
            </a:r>
            <a:r>
              <a:rPr lang="en-US"/>
              <a:t> – how well it captures the key ideas and contributions of the paper.</a:t>
            </a:r>
          </a:p>
          <a:p>
            <a:pPr>
              <a:buFont typeface="Arial" panose="020B0604020202020204" pitchFamily="34" charset="0"/>
              <a:buChar char="•"/>
            </a:pPr>
            <a:r>
              <a:rPr lang="en-US" b="1"/>
              <a:t>Usefulness</a:t>
            </a:r>
            <a:r>
              <a:rPr lang="en-US"/>
              <a:t> – how informative or actionable the review would be to a reader, such as an author or fellow researcher.</a:t>
            </a:r>
          </a:p>
          <a:p>
            <a:pPr>
              <a:buFont typeface="Arial" panose="020B0604020202020204" pitchFamily="34" charset="0"/>
              <a:buChar char="•"/>
            </a:pPr>
            <a:r>
              <a:rPr lang="en-US" b="1"/>
              <a:t>Faithfulness</a:t>
            </a:r>
            <a:r>
              <a:rPr lang="en-US"/>
              <a:t> – how accurately the review reflects the original paper without introducing hallucinations.</a:t>
            </a:r>
          </a:p>
          <a:p>
            <a:pPr>
              <a:buNone/>
            </a:pPr>
            <a:br>
              <a:rPr lang="en-US"/>
            </a:br>
            <a:endParaRPr lang="en-US"/>
          </a:p>
          <a:p>
            <a:pPr>
              <a:buNone/>
            </a:pPr>
            <a:r>
              <a:rPr lang="en-US"/>
              <a:t>Each category was rated on a </a:t>
            </a:r>
            <a:r>
              <a:rPr lang="en-US" b="1"/>
              <a:t>scale of 1 to 5</a:t>
            </a:r>
            <a:r>
              <a:rPr lang="en-US"/>
              <a:t>, and the bar chart here shows the average across all evaluators and papers.</a:t>
            </a:r>
          </a:p>
          <a:p>
            <a:pPr>
              <a:buNone/>
            </a:pPr>
            <a:br>
              <a:rPr lang="en-US"/>
            </a:br>
            <a:endParaRPr lang="en-US"/>
          </a:p>
          <a:p>
            <a:pPr>
              <a:buNone/>
            </a:pPr>
            <a:r>
              <a:rPr lang="en-US"/>
              <a:t>As shown, </a:t>
            </a:r>
            <a:r>
              <a:rPr lang="en-US" b="1"/>
              <a:t>clarity and faithfulness scored the highest</a:t>
            </a:r>
            <a:r>
              <a:rPr lang="en-US"/>
              <a:t>, both above 4.0 on average, indicating our structured reviews are readable and factually grounded. </a:t>
            </a:r>
            <a:r>
              <a:rPr lang="en-US" b="1"/>
              <a:t>Coverage and usefulness</a:t>
            </a:r>
            <a:r>
              <a:rPr lang="en-US"/>
              <a:t> were slightly lower but still above 3.5, suggesting room for improvement in how comprehensively the reviews capture technical depth or offer actionable insight.</a:t>
            </a:r>
          </a:p>
          <a:p>
            <a:pPr>
              <a:buNone/>
            </a:pPr>
            <a:br>
              <a:rPr lang="en-US"/>
            </a:br>
            <a:endParaRPr lang="en-US"/>
          </a:p>
          <a:p>
            <a:r>
              <a:rPr lang="en-US"/>
              <a:t>These results validate that our structured prompt approach is not only semantically strong but also perceived as valuable and accurate by human reviewers.”</a:t>
            </a:r>
          </a:p>
        </p:txBody>
      </p:sp>
    </p:spTree>
    <p:extLst>
      <p:ext uri="{BB962C8B-B14F-4D97-AF65-F5344CB8AC3E}">
        <p14:creationId xmlns:p14="http://schemas.microsoft.com/office/powerpoint/2010/main" val="12451109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itchFamily="34" charset="0"/>
                <a:ea typeface="ＭＳ Ｐゴシック" pitchFamily="34" charset="-128"/>
              </a:defRPr>
            </a:lvl1pPr>
            <a:lvl2pPr marL="757066" indent="-291179" eaLnBrk="0" hangingPunct="0">
              <a:defRPr sz="2400">
                <a:solidFill>
                  <a:schemeClr val="tx1"/>
                </a:solidFill>
                <a:latin typeface="Arial" pitchFamily="34" charset="0"/>
                <a:ea typeface="ＭＳ Ｐゴシック" pitchFamily="34" charset="-128"/>
              </a:defRPr>
            </a:lvl2pPr>
            <a:lvl3pPr marL="1164717" indent="-232943" eaLnBrk="0" hangingPunct="0">
              <a:defRPr sz="2400">
                <a:solidFill>
                  <a:schemeClr val="tx1"/>
                </a:solidFill>
                <a:latin typeface="Arial" pitchFamily="34" charset="0"/>
                <a:ea typeface="ＭＳ Ｐゴシック" pitchFamily="34" charset="-128"/>
              </a:defRPr>
            </a:lvl3pPr>
            <a:lvl4pPr marL="1630604" indent="-232943" eaLnBrk="0" hangingPunct="0">
              <a:defRPr sz="2400">
                <a:solidFill>
                  <a:schemeClr val="tx1"/>
                </a:solidFill>
                <a:latin typeface="Arial" pitchFamily="34" charset="0"/>
                <a:ea typeface="ＭＳ Ｐゴシック" pitchFamily="34" charset="-128"/>
              </a:defRPr>
            </a:lvl4pPr>
            <a:lvl5pPr marL="2096491" indent="-232943" eaLnBrk="0" hangingPunct="0">
              <a:defRPr sz="2400">
                <a:solidFill>
                  <a:schemeClr val="tx1"/>
                </a:solidFill>
                <a:latin typeface="Arial" pitchFamily="34" charset="0"/>
                <a:ea typeface="ＭＳ Ｐゴシック" pitchFamily="34" charset="-128"/>
              </a:defRPr>
            </a:lvl5pPr>
            <a:lvl6pPr marL="2562377" indent="-232943"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3028264" indent="-232943"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94151" indent="-232943"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960038" indent="-232943"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61AE4675-46EC-4EDF-89E2-3C4CC1C64A21}" type="slidenum">
              <a:rPr lang="zh-TW" altLang="en-US" sz="1200">
                <a:ea typeface="PMingLiU" pitchFamily="18" charset="-120"/>
              </a:rPr>
              <a:pPr eaLnBrk="1" hangingPunct="1"/>
              <a:t>15</a:t>
            </a:fld>
            <a:endParaRPr lang="en-US" altLang="zh-TW" sz="1200">
              <a:ea typeface="PMingLiU" pitchFamily="18" charset="-120"/>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extLst>
            <a:ext uri="{AF507438-7753-43e0-B8FC-AC1667EBCBE1}">
              <a14:hiddenEffects xmlns="" xmlns:a14="http://schemas.microsoft.com/office/drawing/2010/main">
                <a:effectLst>
                  <a:outerShdw blurRad="63500" dist="38099" dir="2700000" algn="ctr" rotWithShape="0">
                    <a:schemeClr val="bg2">
                      <a:alpha val="74997"/>
                    </a:schemeClr>
                  </a:outerShdw>
                </a:effectLst>
              </a14:hiddenEffects>
            </a:ext>
          </a:extLst>
        </p:spPr>
        <p:txBody>
          <a:bodyPr/>
          <a:lstStyle/>
          <a:p>
            <a:pPr>
              <a:buNone/>
            </a:pPr>
            <a:r>
              <a:rPr lang="en-US"/>
              <a:t>“Now let’s take a step back and analyze what these results tell us.</a:t>
            </a:r>
          </a:p>
          <a:p>
            <a:pPr>
              <a:buNone/>
            </a:pPr>
            <a:br>
              <a:rPr lang="en-US"/>
            </a:br>
            <a:endParaRPr lang="en-US"/>
          </a:p>
          <a:p>
            <a:pPr>
              <a:buNone/>
            </a:pPr>
            <a:r>
              <a:rPr lang="en-US"/>
              <a:t>First, looking at the </a:t>
            </a:r>
            <a:r>
              <a:rPr lang="en-US" b="1"/>
              <a:t>automated metrics</a:t>
            </a:r>
            <a:r>
              <a:rPr lang="en-US"/>
              <a:t> — such as ROUGE-L, BLEU, </a:t>
            </a:r>
            <a:r>
              <a:rPr lang="en-US" err="1"/>
              <a:t>BERTScore</a:t>
            </a:r>
            <a:r>
              <a:rPr lang="en-US"/>
              <a:t>, and SBERT Cosine — we observed that our </a:t>
            </a:r>
            <a:r>
              <a:rPr lang="en-US" b="1"/>
              <a:t>structured prompt consistently outperformed the baseline prompt</a:t>
            </a:r>
            <a:r>
              <a:rPr lang="en-US"/>
              <a:t> across semantic similarity measures. The gains were most pronounced in </a:t>
            </a:r>
            <a:r>
              <a:rPr lang="en-US" err="1"/>
              <a:t>BERTScore</a:t>
            </a:r>
            <a:r>
              <a:rPr lang="en-US"/>
              <a:t> and SBERT Cosine, which suggests that our reviews align better with the content and meaning of the original papers, not just surface-level overlap.</a:t>
            </a:r>
          </a:p>
          <a:p>
            <a:pPr>
              <a:buNone/>
            </a:pPr>
            <a:br>
              <a:rPr lang="en-US"/>
            </a:br>
            <a:endParaRPr lang="en-US"/>
          </a:p>
          <a:p>
            <a:pPr>
              <a:buNone/>
            </a:pPr>
            <a:r>
              <a:rPr lang="en-US"/>
              <a:t>Interestingly, </a:t>
            </a:r>
            <a:r>
              <a:rPr lang="en-US" b="1"/>
              <a:t>BLEU scores were consistently low</a:t>
            </a:r>
            <a:r>
              <a:rPr lang="en-US"/>
              <a:t>, which makes sense because BLEU is sensitive to exact phrasing, and our goal isn’t to match word-for-word but to generate high-level, well-structured summaries.</a:t>
            </a:r>
          </a:p>
          <a:p>
            <a:pPr>
              <a:buNone/>
            </a:pPr>
            <a:br>
              <a:rPr lang="en-US"/>
            </a:br>
            <a:endParaRPr lang="en-US"/>
          </a:p>
          <a:p>
            <a:pPr>
              <a:buNone/>
            </a:pPr>
            <a:r>
              <a:rPr lang="en-US"/>
              <a:t>When we shift to </a:t>
            </a:r>
            <a:r>
              <a:rPr lang="en-US" b="1"/>
              <a:t>human evaluation</a:t>
            </a:r>
            <a:r>
              <a:rPr lang="en-US"/>
              <a:t>, we see strong alignment with these trends. Reviewers rated our generated outputs especially high in </a:t>
            </a:r>
            <a:r>
              <a:rPr lang="en-US" b="1"/>
              <a:t>faithfulness and clarity</a:t>
            </a:r>
            <a:r>
              <a:rPr lang="en-US"/>
              <a:t>, which mirrors the high SBERT and </a:t>
            </a:r>
            <a:r>
              <a:rPr lang="en-US" err="1"/>
              <a:t>BERTScore</a:t>
            </a:r>
            <a:r>
              <a:rPr lang="en-US"/>
              <a:t> values. Slightly lower scores in </a:t>
            </a:r>
            <a:r>
              <a:rPr lang="en-US" b="1"/>
              <a:t>coverage and usefulness</a:t>
            </a:r>
            <a:r>
              <a:rPr lang="en-US"/>
              <a:t> suggest that while our structure improves readability and grounding, there’s still room to enhance the </a:t>
            </a:r>
            <a:r>
              <a:rPr lang="en-US" b="1"/>
              <a:t>depth and specificity</a:t>
            </a:r>
            <a:r>
              <a:rPr lang="en-US"/>
              <a:t> of the reviews.</a:t>
            </a:r>
          </a:p>
          <a:p>
            <a:pPr>
              <a:buNone/>
            </a:pPr>
            <a:br>
              <a:rPr lang="en-US"/>
            </a:br>
            <a:endParaRPr lang="en-US"/>
          </a:p>
          <a:p>
            <a:r>
              <a:rPr lang="en-US"/>
              <a:t>Overall, these results support our central claim: that </a:t>
            </a:r>
            <a:r>
              <a:rPr lang="en-US" b="1"/>
              <a:t>structured prompt engineering leads to more faithful, readable, and semantically aligned academic reviews</a:t>
            </a:r>
            <a:r>
              <a:rPr lang="en-US"/>
              <a:t> — both in terms of algorithmic metrics and human perception.”</a:t>
            </a:r>
          </a:p>
        </p:txBody>
      </p:sp>
    </p:spTree>
    <p:extLst>
      <p:ext uri="{BB962C8B-B14F-4D97-AF65-F5344CB8AC3E}">
        <p14:creationId xmlns:p14="http://schemas.microsoft.com/office/powerpoint/2010/main" val="5373013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“To conclude our presentation, our project explored the impact of </a:t>
            </a:r>
            <a:r>
              <a:rPr lang="en-US" b="1"/>
              <a:t>structured prompt engineering</a:t>
            </a:r>
            <a:r>
              <a:rPr lang="en-US"/>
              <a:t> on the quality of academic paper reviews generated by large language models.</a:t>
            </a:r>
          </a:p>
          <a:p>
            <a:pPr>
              <a:buNone/>
            </a:pPr>
            <a:br>
              <a:rPr lang="en-US"/>
            </a:br>
            <a:endParaRPr lang="en-US"/>
          </a:p>
          <a:p>
            <a:pPr>
              <a:buNone/>
            </a:pPr>
            <a:r>
              <a:rPr lang="en-US"/>
              <a:t>We began by identifying a gap: while LLMs are capable of producing fluent summaries, they often </a:t>
            </a:r>
            <a:r>
              <a:rPr lang="en-US" b="1"/>
              <a:t>lack depth, structure, and critical insight</a:t>
            </a:r>
            <a:r>
              <a:rPr lang="en-US"/>
              <a:t> when tasked with reviewing academic content. Our central hypothesis was that this gap stems not just from model limitations, but from </a:t>
            </a:r>
            <a:r>
              <a:rPr lang="en-US" b="1"/>
              <a:t>how we prompt these models</a:t>
            </a:r>
            <a:r>
              <a:rPr lang="en-US"/>
              <a:t>.</a:t>
            </a:r>
          </a:p>
          <a:p>
            <a:pPr>
              <a:buNone/>
            </a:pPr>
            <a:br>
              <a:rPr lang="en-US"/>
            </a:br>
            <a:endParaRPr lang="en-US"/>
          </a:p>
          <a:p>
            <a:pPr>
              <a:buNone/>
            </a:pPr>
            <a:r>
              <a:rPr lang="en-US"/>
              <a:t>By designing a </a:t>
            </a:r>
            <a:r>
              <a:rPr lang="en-US" b="1"/>
              <a:t>domain-aware, section-specific prompt</a:t>
            </a:r>
            <a:r>
              <a:rPr lang="en-US"/>
              <a:t>, we guided the model to explicitly consider elements like technical soundness, reproducibility, strengths, weaknesses, and impact — the same dimensions that human reviewers focus on.</a:t>
            </a:r>
          </a:p>
          <a:p>
            <a:pPr>
              <a:buNone/>
            </a:pPr>
            <a:br>
              <a:rPr lang="en-US"/>
            </a:br>
            <a:endParaRPr lang="en-US"/>
          </a:p>
          <a:p>
            <a:pPr>
              <a:buNone/>
            </a:pPr>
            <a:r>
              <a:rPr lang="en-US"/>
              <a:t>In our </a:t>
            </a:r>
            <a:r>
              <a:rPr lang="en-US" b="1"/>
              <a:t>quantitative evaluation</a:t>
            </a:r>
            <a:r>
              <a:rPr lang="en-US"/>
              <a:t>, our structured approach consistently outperformed the baseline across all four metrics:</a:t>
            </a:r>
          </a:p>
          <a:p>
            <a:pPr>
              <a:buFont typeface="Arial" panose="020B0604020202020204" pitchFamily="34" charset="0"/>
              <a:buChar char="•"/>
            </a:pPr>
            <a:r>
              <a:rPr lang="en-US" b="1"/>
              <a:t>ROUGE-L and BLEU</a:t>
            </a:r>
            <a:r>
              <a:rPr lang="en-US"/>
              <a:t> captured surface-level overlap,</a:t>
            </a:r>
          </a:p>
          <a:p>
            <a:pPr>
              <a:buFont typeface="Arial" panose="020B0604020202020204" pitchFamily="34" charset="0"/>
              <a:buChar char="•"/>
            </a:pPr>
            <a:r>
              <a:rPr lang="en-US" b="1" err="1"/>
              <a:t>BERTScore</a:t>
            </a:r>
            <a:r>
              <a:rPr lang="en-US"/>
              <a:t> measured semantic similarity,</a:t>
            </a:r>
          </a:p>
          <a:p>
            <a:pPr>
              <a:buFont typeface="Arial" panose="020B0604020202020204" pitchFamily="34" charset="0"/>
              <a:buChar char="•"/>
            </a:pPr>
            <a:r>
              <a:rPr lang="en-US"/>
              <a:t>And </a:t>
            </a:r>
            <a:r>
              <a:rPr lang="en-US" b="1"/>
              <a:t>SBERT cosine</a:t>
            </a:r>
            <a:r>
              <a:rPr lang="en-US"/>
              <a:t> reflected overall embedding closeness.</a:t>
            </a:r>
          </a:p>
          <a:p>
            <a:pPr>
              <a:buNone/>
            </a:pPr>
            <a:br>
              <a:rPr lang="en-US"/>
            </a:br>
            <a:endParaRPr lang="en-US"/>
          </a:p>
          <a:p>
            <a:pPr>
              <a:buNone/>
            </a:pPr>
            <a:r>
              <a:rPr lang="en-US"/>
              <a:t>We also conducted a </a:t>
            </a:r>
            <a:r>
              <a:rPr lang="en-US" b="1"/>
              <a:t>human evaluation</a:t>
            </a:r>
            <a:r>
              <a:rPr lang="en-US"/>
              <a:t> with graduate students who scored the reviews on clarity, relevance, coherence, and depth. Our structured reviews received higher average scores across all dimensions — indicating that the model not only generated more relevant content but did so in a more reviewer-aligned and human-readable format.</a:t>
            </a:r>
          </a:p>
          <a:p>
            <a:pPr>
              <a:buNone/>
            </a:pPr>
            <a:br>
              <a:rPr lang="en-US"/>
            </a:br>
            <a:endParaRPr lang="en-US"/>
          </a:p>
          <a:p>
            <a:pPr>
              <a:buNone/>
            </a:pPr>
            <a:r>
              <a:rPr lang="en-US"/>
              <a:t>However, there’s ample room for future exploration:</a:t>
            </a:r>
          </a:p>
          <a:p>
            <a:pPr>
              <a:buFont typeface="+mj-lt"/>
              <a:buAutoNum type="arabicPeriod"/>
            </a:pPr>
            <a:r>
              <a:rPr lang="en-US" b="1"/>
              <a:t>Section-wise Scoring</a:t>
            </a:r>
            <a:r>
              <a:rPr lang="en-US"/>
              <a:t>: Instead of evaluating only summaries, we plan to compare individual sections like ‘Suggestions’ and ‘Weaknesses’ to human-written reviews to isolate where performance varies most.</a:t>
            </a:r>
          </a:p>
          <a:p>
            <a:pPr>
              <a:buFont typeface="+mj-lt"/>
              <a:buAutoNum type="arabicPeriod"/>
            </a:pPr>
            <a:r>
              <a:rPr lang="en-US" b="1"/>
              <a:t>Few-Shot Prompting</a:t>
            </a:r>
            <a:r>
              <a:rPr lang="en-US"/>
              <a:t>: Currently, we rely on a detailed zero-shot prompt. Adding few-shot examples from real peer reviews could help anchor the model’s responses even more effectively.</a:t>
            </a:r>
          </a:p>
          <a:p>
            <a:pPr>
              <a:buFont typeface="+mj-lt"/>
              <a:buAutoNum type="arabicPeriod"/>
            </a:pPr>
            <a:r>
              <a:rPr lang="en-US" b="1"/>
              <a:t>Cross-Domain Generalization</a:t>
            </a:r>
            <a:r>
              <a:rPr lang="en-US"/>
              <a:t>: Our current pipeline focuses on Computer Science papers. Future work could evaluate whether structured prompting generalizes to fields like biomedical research or social sciences.</a:t>
            </a:r>
          </a:p>
          <a:p>
            <a:pPr>
              <a:buFont typeface="+mj-lt"/>
              <a:buAutoNum type="arabicPeriod"/>
            </a:pPr>
            <a:r>
              <a:rPr lang="en-US" b="1"/>
              <a:t>Model Comparisons</a:t>
            </a:r>
            <a:r>
              <a:rPr lang="en-US"/>
              <a:t>: We used GPT-4.1 for this study. It would be valuable to compare performance across other LLMs like Claude, Gemini, or open-source models like </a:t>
            </a:r>
            <a:r>
              <a:rPr lang="en-US" err="1"/>
              <a:t>Mixtral</a:t>
            </a:r>
            <a:r>
              <a:rPr lang="en-US"/>
              <a:t> or </a:t>
            </a:r>
            <a:r>
              <a:rPr lang="en-US" err="1"/>
              <a:t>LLaMA</a:t>
            </a:r>
            <a:r>
              <a:rPr lang="en-US"/>
              <a:t>.</a:t>
            </a:r>
          </a:p>
          <a:p>
            <a:pPr>
              <a:buFont typeface="+mj-lt"/>
              <a:buAutoNum type="arabicPeriod"/>
            </a:pPr>
            <a:r>
              <a:rPr lang="en-US" b="1"/>
              <a:t>Long-Context Processing</a:t>
            </a:r>
            <a:r>
              <a:rPr lang="en-US"/>
              <a:t>: We truncated paper content due to input limitations. Incorporating tools like document summarization or retrieval-augmented generation could allow us to scale to longer or multi-section documents without losing coherence.</a:t>
            </a:r>
          </a:p>
          <a:p>
            <a:pPr>
              <a:buNone/>
            </a:pPr>
            <a:br>
              <a:rPr lang="en-US"/>
            </a:br>
            <a:endParaRPr lang="en-US"/>
          </a:p>
          <a:p>
            <a:r>
              <a:rPr lang="en-US"/>
              <a:t>In short, this project serves as a step toward making </a:t>
            </a:r>
            <a:r>
              <a:rPr lang="en-US" b="1"/>
              <a:t>LLM-generated reviews more rigorous, structured, and human-aligned</a:t>
            </a:r>
            <a:r>
              <a:rPr lang="en-US"/>
              <a:t>, paving the way for use cases in education, peer-review assistance, and scientific accessibility.”</a:t>
            </a:r>
          </a:p>
          <a:p>
            <a:endParaRPr lang="en-US"/>
          </a:p>
        </p:txBody>
      </p:sp>
      <p:sp>
        <p:nvSpPr>
          <p:cNvPr id="4" name="Slide Number Placeholder 3"/>
          <p:cNvSpPr>
            <a:spLocks noGrp="1"/>
          </p:cNvSpPr>
          <p:nvPr>
            <p:ph type="sldNum" sz="quarter" idx="5"/>
          </p:nvPr>
        </p:nvSpPr>
        <p:spPr/>
        <p:txBody>
          <a:bodyPr/>
          <a:lstStyle/>
          <a:p>
            <a:fld id="{5D7F18D2-2977-429E-8B6D-22778A44E64D}" type="slidenum">
              <a:rPr lang="zh-TW" altLang="en-US" smtClean="0"/>
              <a:pPr/>
              <a:t>16</a:t>
            </a:fld>
            <a:endParaRPr lang="en-US" altLang="zh-TW"/>
          </a:p>
        </p:txBody>
      </p:sp>
    </p:spTree>
    <p:extLst>
      <p:ext uri="{BB962C8B-B14F-4D97-AF65-F5344CB8AC3E}">
        <p14:creationId xmlns:p14="http://schemas.microsoft.com/office/powerpoint/2010/main" val="41255521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“One of the first challenges we encountered was how difficult it is to extract clean and structured text from academic PDFs. These papers are often formatted in multiple columns, include figures, tables, and math, and vary in structure across disciplines. That made reliable text extraction a serious bottleneck, especially for identifying specific sections like the abstract or summary.</a:t>
            </a:r>
          </a:p>
          <a:p>
            <a:pPr>
              <a:buNone/>
            </a:pPr>
            <a:br>
              <a:rPr lang="en-US"/>
            </a:br>
            <a:endParaRPr lang="en-US"/>
          </a:p>
          <a:p>
            <a:pPr>
              <a:buNone/>
            </a:pPr>
            <a:r>
              <a:rPr lang="en-US"/>
              <a:t>Next, we found that most LLMs aren’t trained to generate reviews in a structured academic format by default. If you give a model a generic prompt, it may produce a surface-level summary or a loosely written opinion. We had to carefully design our structured prompt to elicit detailed, section-specific reviews that followed academic conventions.</a:t>
            </a:r>
          </a:p>
          <a:p>
            <a:pPr>
              <a:buNone/>
            </a:pPr>
            <a:br>
              <a:rPr lang="en-US"/>
            </a:br>
            <a:endParaRPr lang="en-US"/>
          </a:p>
          <a:p>
            <a:pPr>
              <a:buNone/>
            </a:pPr>
            <a:r>
              <a:rPr lang="en-US"/>
              <a:t>Another major challenge was evaluation. There’s no universally accepted gold standard for what makes a “good” academic review. ROUGE and BLEU can help measure surface overlap, but they don’t capture deeper critique or insight. That’s why we also introduced content-based metrics like </a:t>
            </a:r>
            <a:r>
              <a:rPr lang="en-US" err="1"/>
              <a:t>BERTScore</a:t>
            </a:r>
            <a:r>
              <a:rPr lang="en-US"/>
              <a:t> and SBERT similarity, and we incorporated a human evaluation component with graduate students to get more subjective feedback.</a:t>
            </a:r>
          </a:p>
          <a:p>
            <a:pPr>
              <a:buNone/>
            </a:pPr>
            <a:br>
              <a:rPr lang="en-US"/>
            </a:br>
            <a:endParaRPr lang="en-US"/>
          </a:p>
          <a:p>
            <a:pPr>
              <a:buNone/>
            </a:pPr>
            <a:r>
              <a:rPr lang="en-US"/>
              <a:t>Lastly, baseline reviews posed their own challenge. Without a structured prompt, they often omitted key sections like weaknesses or suggestions entirely, which made direct comparison difficult in some cases.</a:t>
            </a:r>
          </a:p>
          <a:p>
            <a:pPr>
              <a:buNone/>
            </a:pPr>
            <a:br>
              <a:rPr lang="en-US"/>
            </a:br>
            <a:endParaRPr lang="en-US"/>
          </a:p>
          <a:p>
            <a:r>
              <a:rPr lang="en-US"/>
              <a:t>Overall, these challenges reflect the broader complexity of automating academic peer review — it’s not just about summarizing papers, but about reasoning, structure, and critical evaluation.”</a:t>
            </a:r>
          </a:p>
          <a:p>
            <a:endParaRPr lang="en-US"/>
          </a:p>
        </p:txBody>
      </p:sp>
      <p:sp>
        <p:nvSpPr>
          <p:cNvPr id="4" name="Slide Number Placeholder 3"/>
          <p:cNvSpPr>
            <a:spLocks noGrp="1"/>
          </p:cNvSpPr>
          <p:nvPr>
            <p:ph type="sldNum" sz="quarter" idx="5"/>
          </p:nvPr>
        </p:nvSpPr>
        <p:spPr/>
        <p:txBody>
          <a:bodyPr/>
          <a:lstStyle/>
          <a:p>
            <a:fld id="{5D7F18D2-2977-429E-8B6D-22778A44E64D}" type="slidenum">
              <a:rPr lang="zh-TW" altLang="en-US" smtClean="0"/>
              <a:pPr/>
              <a:t>17</a:t>
            </a:fld>
            <a:endParaRPr lang="en-US" altLang="zh-TW"/>
          </a:p>
        </p:txBody>
      </p:sp>
    </p:spTree>
    <p:extLst>
      <p:ext uri="{BB962C8B-B14F-4D97-AF65-F5344CB8AC3E}">
        <p14:creationId xmlns:p14="http://schemas.microsoft.com/office/powerpoint/2010/main" val="72206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EEFBD-8577-6D4A-3097-6270E4916B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DDA9E2-B700-4423-2F4B-035652FC1F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9C5C5F-3CB2-B23B-7FBA-1D7E08731E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ABE154-63FD-88CB-C990-1CEFD1C35775}"/>
              </a:ext>
            </a:extLst>
          </p:cNvPr>
          <p:cNvSpPr>
            <a:spLocks noGrp="1"/>
          </p:cNvSpPr>
          <p:nvPr>
            <p:ph type="sldNum" sz="quarter" idx="5"/>
          </p:nvPr>
        </p:nvSpPr>
        <p:spPr/>
        <p:txBody>
          <a:bodyPr/>
          <a:lstStyle/>
          <a:p>
            <a:fld id="{5D7F18D2-2977-429E-8B6D-22778A44E64D}" type="slidenum">
              <a:rPr lang="zh-TW" altLang="en-US" smtClean="0"/>
              <a:pPr/>
              <a:t>18</a:t>
            </a:fld>
            <a:endParaRPr lang="en-US" altLang="zh-TW"/>
          </a:p>
        </p:txBody>
      </p:sp>
    </p:spTree>
    <p:extLst>
      <p:ext uri="{BB962C8B-B14F-4D97-AF65-F5344CB8AC3E}">
        <p14:creationId xmlns:p14="http://schemas.microsoft.com/office/powerpoint/2010/main" val="21777051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endParaRPr lang="en-US" altLang="zh-TW"/>
          </a:p>
        </p:txBody>
      </p:sp>
      <p:sp>
        <p:nvSpPr>
          <p:cNvPr id="5" name="Rectangle 5"/>
          <p:cNvSpPr>
            <a:spLocks noGrp="1" noChangeArrowheads="1"/>
          </p:cNvSpPr>
          <p:nvPr>
            <p:ph type="ftr" sz="quarter" idx="11"/>
          </p:nvPr>
        </p:nvSpPr>
        <p:spPr>
          <a:ln/>
        </p:spPr>
        <p:txBody>
          <a:bodyPr/>
          <a:lstStyle>
            <a:lvl1pPr>
              <a:defRPr/>
            </a:lvl1pPr>
          </a:lstStyle>
          <a:p>
            <a:endParaRPr lang="en-US" altLang="zh-TW"/>
          </a:p>
        </p:txBody>
      </p:sp>
      <p:sp>
        <p:nvSpPr>
          <p:cNvPr id="6" name="Rectangle 6"/>
          <p:cNvSpPr>
            <a:spLocks noGrp="1" noChangeArrowheads="1"/>
          </p:cNvSpPr>
          <p:nvPr>
            <p:ph type="sldNum" sz="quarter" idx="12"/>
          </p:nvPr>
        </p:nvSpPr>
        <p:spPr>
          <a:ln/>
        </p:spPr>
        <p:txBody>
          <a:bodyPr/>
          <a:lstStyle>
            <a:lvl1pPr>
              <a:defRPr/>
            </a:lvl1pPr>
          </a:lstStyle>
          <a:p>
            <a:fld id="{490BA4C9-2F9F-4941-AE8E-AC62D4D21837}" type="slidenum">
              <a:rPr lang="zh-TW" altLang="en-US"/>
              <a:pPr/>
              <a:t>‹#›</a:t>
            </a:fld>
            <a:endParaRPr lang="en-US" altLang="zh-TW"/>
          </a:p>
        </p:txBody>
      </p:sp>
    </p:spTree>
    <p:extLst>
      <p:ext uri="{BB962C8B-B14F-4D97-AF65-F5344CB8AC3E}">
        <p14:creationId xmlns:p14="http://schemas.microsoft.com/office/powerpoint/2010/main" val="2418953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endParaRPr lang="en-US" altLang="zh-TW"/>
          </a:p>
        </p:txBody>
      </p:sp>
      <p:sp>
        <p:nvSpPr>
          <p:cNvPr id="5" name="Rectangle 5"/>
          <p:cNvSpPr>
            <a:spLocks noGrp="1" noChangeArrowheads="1"/>
          </p:cNvSpPr>
          <p:nvPr>
            <p:ph type="ftr" sz="quarter" idx="11"/>
          </p:nvPr>
        </p:nvSpPr>
        <p:spPr>
          <a:ln/>
        </p:spPr>
        <p:txBody>
          <a:bodyPr/>
          <a:lstStyle>
            <a:lvl1pPr>
              <a:defRPr/>
            </a:lvl1pPr>
          </a:lstStyle>
          <a:p>
            <a:endParaRPr lang="en-US" altLang="zh-TW"/>
          </a:p>
        </p:txBody>
      </p:sp>
      <p:sp>
        <p:nvSpPr>
          <p:cNvPr id="6" name="Rectangle 6"/>
          <p:cNvSpPr>
            <a:spLocks noGrp="1" noChangeArrowheads="1"/>
          </p:cNvSpPr>
          <p:nvPr>
            <p:ph type="sldNum" sz="quarter" idx="12"/>
          </p:nvPr>
        </p:nvSpPr>
        <p:spPr>
          <a:ln/>
        </p:spPr>
        <p:txBody>
          <a:bodyPr/>
          <a:lstStyle>
            <a:lvl1pPr>
              <a:defRPr/>
            </a:lvl1pPr>
          </a:lstStyle>
          <a:p>
            <a:fld id="{CB714D2E-7875-44F7-AD06-272F94F3FDC0}" type="slidenum">
              <a:rPr lang="zh-TW" altLang="en-US"/>
              <a:pPr/>
              <a:t>‹#›</a:t>
            </a:fld>
            <a:endParaRPr lang="en-US" altLang="zh-TW"/>
          </a:p>
        </p:txBody>
      </p:sp>
    </p:spTree>
    <p:extLst>
      <p:ext uri="{BB962C8B-B14F-4D97-AF65-F5344CB8AC3E}">
        <p14:creationId xmlns:p14="http://schemas.microsoft.com/office/powerpoint/2010/main" val="3070567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endParaRPr lang="en-US" altLang="zh-TW"/>
          </a:p>
        </p:txBody>
      </p:sp>
      <p:sp>
        <p:nvSpPr>
          <p:cNvPr id="5" name="Rectangle 5"/>
          <p:cNvSpPr>
            <a:spLocks noGrp="1" noChangeArrowheads="1"/>
          </p:cNvSpPr>
          <p:nvPr>
            <p:ph type="ftr" sz="quarter" idx="11"/>
          </p:nvPr>
        </p:nvSpPr>
        <p:spPr>
          <a:ln/>
        </p:spPr>
        <p:txBody>
          <a:bodyPr/>
          <a:lstStyle>
            <a:lvl1pPr>
              <a:defRPr/>
            </a:lvl1pPr>
          </a:lstStyle>
          <a:p>
            <a:endParaRPr lang="en-US" altLang="zh-TW"/>
          </a:p>
        </p:txBody>
      </p:sp>
      <p:sp>
        <p:nvSpPr>
          <p:cNvPr id="6" name="Rectangle 6"/>
          <p:cNvSpPr>
            <a:spLocks noGrp="1" noChangeArrowheads="1"/>
          </p:cNvSpPr>
          <p:nvPr>
            <p:ph type="sldNum" sz="quarter" idx="12"/>
          </p:nvPr>
        </p:nvSpPr>
        <p:spPr>
          <a:ln/>
        </p:spPr>
        <p:txBody>
          <a:bodyPr/>
          <a:lstStyle>
            <a:lvl1pPr>
              <a:defRPr/>
            </a:lvl1pPr>
          </a:lstStyle>
          <a:p>
            <a:fld id="{1E5E09B8-D849-4C92-A970-16FA4838A429}" type="slidenum">
              <a:rPr lang="zh-TW" altLang="en-US"/>
              <a:pPr/>
              <a:t>‹#›</a:t>
            </a:fld>
            <a:endParaRPr lang="en-US" altLang="zh-TW"/>
          </a:p>
        </p:txBody>
      </p:sp>
    </p:spTree>
    <p:extLst>
      <p:ext uri="{BB962C8B-B14F-4D97-AF65-F5344CB8AC3E}">
        <p14:creationId xmlns:p14="http://schemas.microsoft.com/office/powerpoint/2010/main" val="1422180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endParaRPr lang="en-US" altLang="zh-TW"/>
          </a:p>
        </p:txBody>
      </p:sp>
      <p:sp>
        <p:nvSpPr>
          <p:cNvPr id="6" name="Rectangle 5"/>
          <p:cNvSpPr>
            <a:spLocks noGrp="1" noChangeArrowheads="1"/>
          </p:cNvSpPr>
          <p:nvPr>
            <p:ph type="ftr" sz="quarter" idx="11"/>
          </p:nvPr>
        </p:nvSpPr>
        <p:spPr>
          <a:ln/>
        </p:spPr>
        <p:txBody>
          <a:bodyPr/>
          <a:lstStyle>
            <a:lvl1pPr>
              <a:defRPr/>
            </a:lvl1pPr>
          </a:lstStyle>
          <a:p>
            <a:endParaRPr lang="en-US" altLang="zh-TW"/>
          </a:p>
        </p:txBody>
      </p:sp>
      <p:sp>
        <p:nvSpPr>
          <p:cNvPr id="7" name="Rectangle 6"/>
          <p:cNvSpPr>
            <a:spLocks noGrp="1" noChangeArrowheads="1"/>
          </p:cNvSpPr>
          <p:nvPr>
            <p:ph type="sldNum" sz="quarter" idx="12"/>
          </p:nvPr>
        </p:nvSpPr>
        <p:spPr>
          <a:ln/>
        </p:spPr>
        <p:txBody>
          <a:bodyPr/>
          <a:lstStyle>
            <a:lvl1pPr>
              <a:defRPr/>
            </a:lvl1pPr>
          </a:lstStyle>
          <a:p>
            <a:fld id="{A99270A9-8D84-49FD-B2CD-C3D2813EE567}" type="slidenum">
              <a:rPr lang="zh-TW" altLang="en-US"/>
              <a:pPr/>
              <a:t>‹#›</a:t>
            </a:fld>
            <a:endParaRPr lang="en-US" altLang="zh-TW"/>
          </a:p>
        </p:txBody>
      </p:sp>
    </p:spTree>
    <p:extLst>
      <p:ext uri="{BB962C8B-B14F-4D97-AF65-F5344CB8AC3E}">
        <p14:creationId xmlns:p14="http://schemas.microsoft.com/office/powerpoint/2010/main" val="2092272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endParaRPr lang="en-US" altLang="zh-TW"/>
          </a:p>
        </p:txBody>
      </p:sp>
      <p:sp>
        <p:nvSpPr>
          <p:cNvPr id="8" name="Rectangle 5"/>
          <p:cNvSpPr>
            <a:spLocks noGrp="1" noChangeArrowheads="1"/>
          </p:cNvSpPr>
          <p:nvPr>
            <p:ph type="ftr" sz="quarter" idx="11"/>
          </p:nvPr>
        </p:nvSpPr>
        <p:spPr>
          <a:ln/>
        </p:spPr>
        <p:txBody>
          <a:bodyPr/>
          <a:lstStyle>
            <a:lvl1pPr>
              <a:defRPr/>
            </a:lvl1pPr>
          </a:lstStyle>
          <a:p>
            <a:endParaRPr lang="en-US" altLang="zh-TW"/>
          </a:p>
        </p:txBody>
      </p:sp>
      <p:sp>
        <p:nvSpPr>
          <p:cNvPr id="9" name="Rectangle 6"/>
          <p:cNvSpPr>
            <a:spLocks noGrp="1" noChangeArrowheads="1"/>
          </p:cNvSpPr>
          <p:nvPr>
            <p:ph type="sldNum" sz="quarter" idx="12"/>
          </p:nvPr>
        </p:nvSpPr>
        <p:spPr>
          <a:ln/>
        </p:spPr>
        <p:txBody>
          <a:bodyPr/>
          <a:lstStyle>
            <a:lvl1pPr>
              <a:defRPr/>
            </a:lvl1pPr>
          </a:lstStyle>
          <a:p>
            <a:fld id="{87497711-EAFB-4E5A-A951-28BB74219651}" type="slidenum">
              <a:rPr lang="zh-TW" altLang="en-US"/>
              <a:pPr/>
              <a:t>‹#›</a:t>
            </a:fld>
            <a:endParaRPr lang="en-US" altLang="zh-TW"/>
          </a:p>
        </p:txBody>
      </p:sp>
    </p:spTree>
    <p:extLst>
      <p:ext uri="{BB962C8B-B14F-4D97-AF65-F5344CB8AC3E}">
        <p14:creationId xmlns:p14="http://schemas.microsoft.com/office/powerpoint/2010/main" val="18673822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endParaRPr lang="en-US" altLang="zh-TW"/>
          </a:p>
        </p:txBody>
      </p:sp>
      <p:sp>
        <p:nvSpPr>
          <p:cNvPr id="4" name="Rectangle 5"/>
          <p:cNvSpPr>
            <a:spLocks noGrp="1" noChangeArrowheads="1"/>
          </p:cNvSpPr>
          <p:nvPr>
            <p:ph type="ftr" sz="quarter" idx="11"/>
          </p:nvPr>
        </p:nvSpPr>
        <p:spPr>
          <a:ln/>
        </p:spPr>
        <p:txBody>
          <a:bodyPr/>
          <a:lstStyle>
            <a:lvl1pPr>
              <a:defRPr/>
            </a:lvl1pPr>
          </a:lstStyle>
          <a:p>
            <a:endParaRPr lang="en-US" altLang="zh-TW"/>
          </a:p>
        </p:txBody>
      </p:sp>
      <p:sp>
        <p:nvSpPr>
          <p:cNvPr id="5" name="Rectangle 6"/>
          <p:cNvSpPr>
            <a:spLocks noGrp="1" noChangeArrowheads="1"/>
          </p:cNvSpPr>
          <p:nvPr>
            <p:ph type="sldNum" sz="quarter" idx="12"/>
          </p:nvPr>
        </p:nvSpPr>
        <p:spPr>
          <a:ln/>
        </p:spPr>
        <p:txBody>
          <a:bodyPr/>
          <a:lstStyle>
            <a:lvl1pPr>
              <a:defRPr/>
            </a:lvl1pPr>
          </a:lstStyle>
          <a:p>
            <a:fld id="{7BB9F96C-5FBF-454D-AED9-6FBC07E26176}" type="slidenum">
              <a:rPr lang="zh-TW" altLang="en-US"/>
              <a:pPr/>
              <a:t>‹#›</a:t>
            </a:fld>
            <a:endParaRPr lang="en-US" altLang="zh-TW"/>
          </a:p>
        </p:txBody>
      </p:sp>
    </p:spTree>
    <p:extLst>
      <p:ext uri="{BB962C8B-B14F-4D97-AF65-F5344CB8AC3E}">
        <p14:creationId xmlns:p14="http://schemas.microsoft.com/office/powerpoint/2010/main" val="8149935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TW"/>
          </a:p>
        </p:txBody>
      </p:sp>
      <p:sp>
        <p:nvSpPr>
          <p:cNvPr id="3" name="Rectangle 5"/>
          <p:cNvSpPr>
            <a:spLocks noGrp="1" noChangeArrowheads="1"/>
          </p:cNvSpPr>
          <p:nvPr>
            <p:ph type="ftr" sz="quarter" idx="11"/>
          </p:nvPr>
        </p:nvSpPr>
        <p:spPr>
          <a:ln/>
        </p:spPr>
        <p:txBody>
          <a:bodyPr/>
          <a:lstStyle>
            <a:lvl1pPr>
              <a:defRPr/>
            </a:lvl1pPr>
          </a:lstStyle>
          <a:p>
            <a:endParaRPr lang="en-US" altLang="zh-TW"/>
          </a:p>
        </p:txBody>
      </p:sp>
      <p:sp>
        <p:nvSpPr>
          <p:cNvPr id="4" name="Rectangle 6"/>
          <p:cNvSpPr>
            <a:spLocks noGrp="1" noChangeArrowheads="1"/>
          </p:cNvSpPr>
          <p:nvPr>
            <p:ph type="sldNum" sz="quarter" idx="12"/>
          </p:nvPr>
        </p:nvSpPr>
        <p:spPr>
          <a:ln/>
        </p:spPr>
        <p:txBody>
          <a:bodyPr/>
          <a:lstStyle>
            <a:lvl1pPr>
              <a:defRPr/>
            </a:lvl1pPr>
          </a:lstStyle>
          <a:p>
            <a:fld id="{7D836DE4-103E-47E4-9B1A-63D8DBEAA21D}" type="slidenum">
              <a:rPr lang="zh-TW" altLang="en-US"/>
              <a:pPr/>
              <a:t>‹#›</a:t>
            </a:fld>
            <a:endParaRPr lang="en-US" altLang="zh-TW"/>
          </a:p>
        </p:txBody>
      </p:sp>
    </p:spTree>
    <p:extLst>
      <p:ext uri="{BB962C8B-B14F-4D97-AF65-F5344CB8AC3E}">
        <p14:creationId xmlns:p14="http://schemas.microsoft.com/office/powerpoint/2010/main" val="2905156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endParaRPr lang="en-US" altLang="zh-TW"/>
          </a:p>
        </p:txBody>
      </p:sp>
      <p:sp>
        <p:nvSpPr>
          <p:cNvPr id="6" name="Rectangle 5"/>
          <p:cNvSpPr>
            <a:spLocks noGrp="1" noChangeArrowheads="1"/>
          </p:cNvSpPr>
          <p:nvPr>
            <p:ph type="ftr" sz="quarter" idx="11"/>
          </p:nvPr>
        </p:nvSpPr>
        <p:spPr>
          <a:ln/>
        </p:spPr>
        <p:txBody>
          <a:bodyPr/>
          <a:lstStyle>
            <a:lvl1pPr>
              <a:defRPr/>
            </a:lvl1pPr>
          </a:lstStyle>
          <a:p>
            <a:endParaRPr lang="en-US" altLang="zh-TW"/>
          </a:p>
        </p:txBody>
      </p:sp>
      <p:sp>
        <p:nvSpPr>
          <p:cNvPr id="7" name="Rectangle 6"/>
          <p:cNvSpPr>
            <a:spLocks noGrp="1" noChangeArrowheads="1"/>
          </p:cNvSpPr>
          <p:nvPr>
            <p:ph type="sldNum" sz="quarter" idx="12"/>
          </p:nvPr>
        </p:nvSpPr>
        <p:spPr>
          <a:ln/>
        </p:spPr>
        <p:txBody>
          <a:bodyPr/>
          <a:lstStyle>
            <a:lvl1pPr>
              <a:defRPr/>
            </a:lvl1pPr>
          </a:lstStyle>
          <a:p>
            <a:fld id="{73B7166F-8A7E-4E15-882C-A9C18C7F8E93}" type="slidenum">
              <a:rPr lang="zh-TW" altLang="en-US"/>
              <a:pPr/>
              <a:t>‹#›</a:t>
            </a:fld>
            <a:endParaRPr lang="en-US" altLang="zh-TW"/>
          </a:p>
        </p:txBody>
      </p:sp>
    </p:spTree>
    <p:extLst>
      <p:ext uri="{BB962C8B-B14F-4D97-AF65-F5344CB8AC3E}">
        <p14:creationId xmlns:p14="http://schemas.microsoft.com/office/powerpoint/2010/main" val="37632689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endParaRPr lang="en-US" altLang="zh-TW"/>
          </a:p>
        </p:txBody>
      </p:sp>
      <p:sp>
        <p:nvSpPr>
          <p:cNvPr id="6" name="Rectangle 5"/>
          <p:cNvSpPr>
            <a:spLocks noGrp="1" noChangeArrowheads="1"/>
          </p:cNvSpPr>
          <p:nvPr>
            <p:ph type="ftr" sz="quarter" idx="11"/>
          </p:nvPr>
        </p:nvSpPr>
        <p:spPr>
          <a:ln/>
        </p:spPr>
        <p:txBody>
          <a:bodyPr/>
          <a:lstStyle>
            <a:lvl1pPr>
              <a:defRPr/>
            </a:lvl1pPr>
          </a:lstStyle>
          <a:p>
            <a:endParaRPr lang="en-US" altLang="zh-TW"/>
          </a:p>
        </p:txBody>
      </p:sp>
      <p:sp>
        <p:nvSpPr>
          <p:cNvPr id="7" name="Rectangle 6"/>
          <p:cNvSpPr>
            <a:spLocks noGrp="1" noChangeArrowheads="1"/>
          </p:cNvSpPr>
          <p:nvPr>
            <p:ph type="sldNum" sz="quarter" idx="12"/>
          </p:nvPr>
        </p:nvSpPr>
        <p:spPr>
          <a:ln/>
        </p:spPr>
        <p:txBody>
          <a:bodyPr/>
          <a:lstStyle>
            <a:lvl1pPr>
              <a:defRPr/>
            </a:lvl1pPr>
          </a:lstStyle>
          <a:p>
            <a:fld id="{A6641FC1-14D6-4CDA-B301-C72ECEE19E85}" type="slidenum">
              <a:rPr lang="zh-TW" altLang="en-US"/>
              <a:pPr/>
              <a:t>‹#›</a:t>
            </a:fld>
            <a:endParaRPr lang="en-US" altLang="zh-TW"/>
          </a:p>
        </p:txBody>
      </p:sp>
    </p:spTree>
    <p:extLst>
      <p:ext uri="{BB962C8B-B14F-4D97-AF65-F5344CB8AC3E}">
        <p14:creationId xmlns:p14="http://schemas.microsoft.com/office/powerpoint/2010/main" val="18928832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endParaRPr lang="en-US" altLang="zh-TW"/>
          </a:p>
        </p:txBody>
      </p:sp>
      <p:sp>
        <p:nvSpPr>
          <p:cNvPr id="5" name="Rectangle 5"/>
          <p:cNvSpPr>
            <a:spLocks noGrp="1" noChangeArrowheads="1"/>
          </p:cNvSpPr>
          <p:nvPr>
            <p:ph type="ftr" sz="quarter" idx="11"/>
          </p:nvPr>
        </p:nvSpPr>
        <p:spPr>
          <a:ln/>
        </p:spPr>
        <p:txBody>
          <a:bodyPr/>
          <a:lstStyle>
            <a:lvl1pPr>
              <a:defRPr/>
            </a:lvl1pPr>
          </a:lstStyle>
          <a:p>
            <a:endParaRPr lang="en-US" altLang="zh-TW"/>
          </a:p>
        </p:txBody>
      </p:sp>
      <p:sp>
        <p:nvSpPr>
          <p:cNvPr id="6" name="Rectangle 6"/>
          <p:cNvSpPr>
            <a:spLocks noGrp="1" noChangeArrowheads="1"/>
          </p:cNvSpPr>
          <p:nvPr>
            <p:ph type="sldNum" sz="quarter" idx="12"/>
          </p:nvPr>
        </p:nvSpPr>
        <p:spPr>
          <a:ln/>
        </p:spPr>
        <p:txBody>
          <a:bodyPr/>
          <a:lstStyle>
            <a:lvl1pPr>
              <a:defRPr/>
            </a:lvl1pPr>
          </a:lstStyle>
          <a:p>
            <a:fld id="{2D410D2D-20AB-4FDA-A7D1-25C10B534DA9}" type="slidenum">
              <a:rPr lang="zh-TW" altLang="en-US"/>
              <a:pPr/>
              <a:t>‹#›</a:t>
            </a:fld>
            <a:endParaRPr lang="en-US" altLang="zh-TW"/>
          </a:p>
        </p:txBody>
      </p:sp>
    </p:spTree>
    <p:extLst>
      <p:ext uri="{BB962C8B-B14F-4D97-AF65-F5344CB8AC3E}">
        <p14:creationId xmlns:p14="http://schemas.microsoft.com/office/powerpoint/2010/main" val="35376389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endParaRPr lang="en-US" altLang="zh-TW"/>
          </a:p>
        </p:txBody>
      </p:sp>
      <p:sp>
        <p:nvSpPr>
          <p:cNvPr id="5" name="Rectangle 5"/>
          <p:cNvSpPr>
            <a:spLocks noGrp="1" noChangeArrowheads="1"/>
          </p:cNvSpPr>
          <p:nvPr>
            <p:ph type="ftr" sz="quarter" idx="11"/>
          </p:nvPr>
        </p:nvSpPr>
        <p:spPr>
          <a:ln/>
        </p:spPr>
        <p:txBody>
          <a:bodyPr/>
          <a:lstStyle>
            <a:lvl1pPr>
              <a:defRPr/>
            </a:lvl1pPr>
          </a:lstStyle>
          <a:p>
            <a:endParaRPr lang="en-US" altLang="zh-TW"/>
          </a:p>
        </p:txBody>
      </p:sp>
      <p:sp>
        <p:nvSpPr>
          <p:cNvPr id="6" name="Rectangle 6"/>
          <p:cNvSpPr>
            <a:spLocks noGrp="1" noChangeArrowheads="1"/>
          </p:cNvSpPr>
          <p:nvPr>
            <p:ph type="sldNum" sz="quarter" idx="12"/>
          </p:nvPr>
        </p:nvSpPr>
        <p:spPr>
          <a:ln/>
        </p:spPr>
        <p:txBody>
          <a:bodyPr/>
          <a:lstStyle>
            <a:lvl1pPr>
              <a:defRPr/>
            </a:lvl1pPr>
          </a:lstStyle>
          <a:p>
            <a:fld id="{7C8BEF21-3D8E-49E2-8FE9-D5A02E038BC2}" type="slidenum">
              <a:rPr lang="zh-TW" altLang="en-US"/>
              <a:pPr/>
              <a:t>‹#›</a:t>
            </a:fld>
            <a:endParaRPr lang="en-US" altLang="zh-TW"/>
          </a:p>
        </p:txBody>
      </p:sp>
    </p:spTree>
    <p:extLst>
      <p:ext uri="{BB962C8B-B14F-4D97-AF65-F5344CB8AC3E}">
        <p14:creationId xmlns:p14="http://schemas.microsoft.com/office/powerpoint/2010/main" val="30950772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4"/>
          <p:cNvSpPr>
            <a:spLocks noGrp="1" noChangeArrowheads="1"/>
          </p:cNvSpPr>
          <p:nvPr>
            <p:ph type="dt" sz="half" idx="10"/>
          </p:nvPr>
        </p:nvSpPr>
        <p:spPr>
          <a:ln/>
        </p:spPr>
        <p:txBody>
          <a:bodyPr/>
          <a:lstStyle>
            <a:lvl1pPr>
              <a:defRPr/>
            </a:lvl1pPr>
          </a:lstStyle>
          <a:p>
            <a:endParaRPr lang="en-US" altLang="zh-TW"/>
          </a:p>
        </p:txBody>
      </p:sp>
      <p:sp>
        <p:nvSpPr>
          <p:cNvPr id="4" name="Rectangle 5"/>
          <p:cNvSpPr>
            <a:spLocks noGrp="1" noChangeArrowheads="1"/>
          </p:cNvSpPr>
          <p:nvPr>
            <p:ph type="ftr" sz="quarter" idx="11"/>
          </p:nvPr>
        </p:nvSpPr>
        <p:spPr>
          <a:ln/>
        </p:spPr>
        <p:txBody>
          <a:bodyPr/>
          <a:lstStyle>
            <a:lvl1pPr>
              <a:defRPr/>
            </a:lvl1pPr>
          </a:lstStyle>
          <a:p>
            <a:endParaRPr lang="en-US" altLang="zh-TW"/>
          </a:p>
        </p:txBody>
      </p:sp>
      <p:sp>
        <p:nvSpPr>
          <p:cNvPr id="5" name="Rectangle 6"/>
          <p:cNvSpPr>
            <a:spLocks noGrp="1" noChangeArrowheads="1"/>
          </p:cNvSpPr>
          <p:nvPr>
            <p:ph type="sldNum" sz="quarter" idx="12"/>
          </p:nvPr>
        </p:nvSpPr>
        <p:spPr>
          <a:ln/>
        </p:spPr>
        <p:txBody>
          <a:bodyPr/>
          <a:lstStyle>
            <a:lvl1pPr>
              <a:defRPr/>
            </a:lvl1pPr>
          </a:lstStyle>
          <a:p>
            <a:fld id="{B95760C2-38E4-496F-933D-2305F303D3F1}" type="slidenum">
              <a:rPr lang="zh-TW" altLang="en-US"/>
              <a:pPr/>
              <a:t>‹#›</a:t>
            </a:fld>
            <a:endParaRPr lang="en-US" altLang="zh-TW"/>
          </a:p>
        </p:txBody>
      </p:sp>
    </p:spTree>
    <p:extLst>
      <p:ext uri="{BB962C8B-B14F-4D97-AF65-F5344CB8AC3E}">
        <p14:creationId xmlns:p14="http://schemas.microsoft.com/office/powerpoint/2010/main" val="579726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ctr" anchorCtr="0" compatLnSpc="1">
            <a:prstTxWarp prst="textNoShape">
              <a:avLst/>
            </a:prstTxWarp>
          </a:bodyPr>
          <a:lstStyle/>
          <a:p>
            <a:pPr lvl="0"/>
            <a:r>
              <a:rPr lang="en-US" altLang="zh-TW"/>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prstTxWarp prst="textNoShape">
              <a:avLst/>
            </a:prstTxWarp>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ea typeface="PMingLiU" pitchFamily="18" charset="-120"/>
              </a:defRPr>
            </a:lvl1pPr>
          </a:lstStyle>
          <a:p>
            <a:endParaRPr lang="en-US" altLang="zh-TW"/>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ea typeface="PMingLiU" pitchFamily="18" charset="-120"/>
              </a:defRPr>
            </a:lvl1pPr>
          </a:lstStyle>
          <a:p>
            <a:endParaRPr lang="en-US" altLang="zh-TW"/>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ea typeface="PMingLiU" pitchFamily="18" charset="-120"/>
              </a:defRPr>
            </a:lvl1pPr>
          </a:lstStyle>
          <a:p>
            <a:fld id="{533C024B-1461-4457-9A28-300117C30C91}" type="slidenum">
              <a:rPr lang="zh-TW" altLang="en-US"/>
              <a:pPr/>
              <a:t>‹#›</a:t>
            </a:fld>
            <a:endParaRPr lang="en-US" altLang="zh-TW"/>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rtl="0" eaLnBrk="0" fontAlgn="base" hangingPunct="0">
        <a:spcBef>
          <a:spcPct val="0"/>
        </a:spcBef>
        <a:spcAft>
          <a:spcPct val="0"/>
        </a:spcAft>
        <a:defRPr sz="4400">
          <a:solidFill>
            <a:schemeClr val="tx2"/>
          </a:solidFill>
          <a:latin typeface="+mj-lt"/>
          <a:ea typeface="ＭＳ Ｐゴシック" charset="0"/>
          <a:cs typeface="+mj-cs"/>
        </a:defRPr>
      </a:lvl1pPr>
      <a:lvl2pPr algn="ctr" rtl="0" eaLnBrk="0" fontAlgn="base" hangingPunct="0">
        <a:spcBef>
          <a:spcPct val="0"/>
        </a:spcBef>
        <a:spcAft>
          <a:spcPct val="0"/>
        </a:spcAft>
        <a:defRPr sz="4400">
          <a:solidFill>
            <a:schemeClr val="tx2"/>
          </a:solidFill>
          <a:latin typeface="Arial" charset="0"/>
          <a:ea typeface="ＭＳ Ｐゴシック" charset="0"/>
        </a:defRPr>
      </a:lvl2pPr>
      <a:lvl3pPr algn="ctr" rtl="0" eaLnBrk="0" fontAlgn="base" hangingPunct="0">
        <a:spcBef>
          <a:spcPct val="0"/>
        </a:spcBef>
        <a:spcAft>
          <a:spcPct val="0"/>
        </a:spcAft>
        <a:defRPr sz="4400">
          <a:solidFill>
            <a:schemeClr val="tx2"/>
          </a:solidFill>
          <a:latin typeface="Arial" charset="0"/>
          <a:ea typeface="ＭＳ Ｐゴシック" charset="0"/>
        </a:defRPr>
      </a:lvl3pPr>
      <a:lvl4pPr algn="ctr" rtl="0" eaLnBrk="0" fontAlgn="base" hangingPunct="0">
        <a:spcBef>
          <a:spcPct val="0"/>
        </a:spcBef>
        <a:spcAft>
          <a:spcPct val="0"/>
        </a:spcAft>
        <a:defRPr sz="4400">
          <a:solidFill>
            <a:schemeClr val="tx2"/>
          </a:solidFill>
          <a:latin typeface="Arial" charset="0"/>
          <a:ea typeface="ＭＳ Ｐゴシック" charset="0"/>
        </a:defRPr>
      </a:lvl4pPr>
      <a:lvl5pPr algn="ctr" rtl="0" eaLnBrk="0" fontAlgn="base" hangingPunct="0">
        <a:spcBef>
          <a:spcPct val="0"/>
        </a:spcBef>
        <a:spcAft>
          <a:spcPct val="0"/>
        </a:spcAft>
        <a:defRPr sz="4400">
          <a:solidFill>
            <a:schemeClr val="tx2"/>
          </a:solidFill>
          <a:latin typeface="Arial" charset="0"/>
          <a:ea typeface="ＭＳ Ｐゴシック"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mn-cs"/>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hyperlink" Target="https://aclanthology.org/W04-1013/" TargetMode="External"/><Relationship Id="rId7" Type="http://schemas.openxmlformats.org/officeDocument/2006/relationships/hyperlink" Target="https://arxiv.org/abs/2211.01910" TargetMode="External"/><Relationship Id="rId2" Type="http://schemas.openxmlformats.org/officeDocument/2006/relationships/hyperlink" Target="https://arxiv.org/abs/1904.096752" TargetMode="External"/><Relationship Id="rId1" Type="http://schemas.openxmlformats.org/officeDocument/2006/relationships/slideLayout" Target="../slideLayouts/slideLayout12.xml"/><Relationship Id="rId6" Type="http://schemas.openxmlformats.org/officeDocument/2006/relationships/hyperlink" Target="https://openai.com/research/gpt-4" TargetMode="External"/><Relationship Id="rId5" Type="http://schemas.openxmlformats.org/officeDocument/2006/relationships/hyperlink" Target="https://arxiv.org/abs/1908.10084" TargetMode="External"/><Relationship Id="rId4" Type="http://schemas.openxmlformats.org/officeDocument/2006/relationships/hyperlink" Target="https://www.aclweb.org/anthology/P02-104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050" name="Text Box 8"/>
          <p:cNvSpPr txBox="1">
            <a:spLocks noChangeArrowheads="1"/>
          </p:cNvSpPr>
          <p:nvPr/>
        </p:nvSpPr>
        <p:spPr bwMode="auto">
          <a:xfrm>
            <a:off x="152400" y="2590800"/>
            <a:ext cx="8839200" cy="120032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lIns="91440" tIns="45720" rIns="91440" bIns="45720" anchor="t">
            <a:spAutoFit/>
          </a:bodyPr>
          <a:lstStyle>
            <a:lvl1pPr>
              <a:defRPr sz="3200">
                <a:solidFill>
                  <a:schemeClr val="tx1"/>
                </a:solidFill>
                <a:latin typeface="Arial" charset="0"/>
                <a:ea typeface="ＭＳ Ｐゴシック" charset="0"/>
              </a:defRPr>
            </a:lvl1pPr>
            <a:lvl2pPr>
              <a:defRPr sz="2800">
                <a:solidFill>
                  <a:schemeClr val="tx1"/>
                </a:solidFill>
                <a:latin typeface="Arial" charset="0"/>
                <a:ea typeface="ＭＳ Ｐゴシック" charset="0"/>
              </a:defRPr>
            </a:lvl2pPr>
            <a:lvl3pPr>
              <a:defRPr sz="24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pPr algn="ctr">
              <a:spcBef>
                <a:spcPct val="50000"/>
              </a:spcBef>
              <a:defRPr/>
            </a:pPr>
            <a:r>
              <a:rPr lang="en-US" sz="3600">
                <a:solidFill>
                  <a:srgbClr val="4D4D4D"/>
                </a:solidFill>
                <a:latin typeface="Georgia"/>
                <a:ea typeface="新細明體"/>
                <a:cs typeface="Arial"/>
              </a:rPr>
              <a:t>Generative System for Academic Paper Critique and Evaluation</a:t>
            </a:r>
            <a:endParaRPr lang="en-US"/>
          </a:p>
        </p:txBody>
      </p:sp>
      <p:sp>
        <p:nvSpPr>
          <p:cNvPr id="2051" name="Text Box 9"/>
          <p:cNvSpPr txBox="1">
            <a:spLocks noChangeArrowheads="1"/>
          </p:cNvSpPr>
          <p:nvPr/>
        </p:nvSpPr>
        <p:spPr bwMode="auto">
          <a:xfrm>
            <a:off x="152400" y="3962400"/>
            <a:ext cx="8839200" cy="4270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lIns="91440" tIns="45720" rIns="91440" bIns="45720" anchor="t">
            <a:spAutoFit/>
          </a:bodyPr>
          <a:lstStyle>
            <a:lvl1pPr>
              <a:defRPr sz="3200">
                <a:solidFill>
                  <a:schemeClr val="tx1"/>
                </a:solidFill>
                <a:latin typeface="Arial" charset="0"/>
                <a:ea typeface="ＭＳ Ｐゴシック" charset="0"/>
              </a:defRPr>
            </a:lvl1pPr>
            <a:lvl2pPr>
              <a:defRPr sz="2800">
                <a:solidFill>
                  <a:schemeClr val="tx1"/>
                </a:solidFill>
                <a:latin typeface="Arial" charset="0"/>
                <a:ea typeface="ＭＳ Ｐゴシック" charset="0"/>
              </a:defRPr>
            </a:lvl2pPr>
            <a:lvl3pPr>
              <a:defRPr sz="24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pPr algn="ctr">
              <a:spcBef>
                <a:spcPct val="50000"/>
              </a:spcBef>
              <a:defRPr/>
            </a:pPr>
            <a:r>
              <a:rPr lang="en-US" altLang="zh-TW" sz="2200">
                <a:solidFill>
                  <a:srgbClr val="4D4D4D"/>
                </a:solidFill>
                <a:latin typeface="Georgia"/>
                <a:ea typeface="新細明體"/>
              </a:rPr>
              <a:t>Yagnik </a:t>
            </a:r>
            <a:r>
              <a:rPr lang="en-US" altLang="zh-TW" sz="2200" err="1">
                <a:solidFill>
                  <a:srgbClr val="4D4D4D"/>
                </a:solidFill>
                <a:latin typeface="Georgia"/>
                <a:ea typeface="新細明體"/>
              </a:rPr>
              <a:t>Panguluri</a:t>
            </a:r>
            <a:r>
              <a:rPr lang="en-US" altLang="zh-TW" sz="2200">
                <a:solidFill>
                  <a:srgbClr val="4D4D4D"/>
                </a:solidFill>
                <a:latin typeface="Georgia"/>
                <a:ea typeface="新細明體"/>
              </a:rPr>
              <a:t> and Anisha Patrikar</a:t>
            </a:r>
            <a:endParaRPr lang="en-US"/>
          </a:p>
        </p:txBody>
      </p:sp>
      <p:sp>
        <p:nvSpPr>
          <p:cNvPr id="2052" name="Text Box 9"/>
          <p:cNvSpPr txBox="1">
            <a:spLocks noChangeArrowheads="1"/>
          </p:cNvSpPr>
          <p:nvPr/>
        </p:nvSpPr>
        <p:spPr bwMode="auto">
          <a:xfrm>
            <a:off x="76200" y="4419600"/>
            <a:ext cx="8839200" cy="4270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Arial" charset="0"/>
                <a:ea typeface="ＭＳ Ｐゴシック" charset="0"/>
              </a:defRPr>
            </a:lvl1pPr>
            <a:lvl2pPr>
              <a:defRPr sz="2800">
                <a:solidFill>
                  <a:schemeClr val="tx1"/>
                </a:solidFill>
                <a:latin typeface="Arial" charset="0"/>
                <a:ea typeface="ＭＳ Ｐゴシック" charset="0"/>
              </a:defRPr>
            </a:lvl2pPr>
            <a:lvl3pPr>
              <a:defRPr sz="24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pPr algn="ctr">
              <a:spcBef>
                <a:spcPct val="50000"/>
              </a:spcBef>
              <a:defRPr/>
            </a:pPr>
            <a:r>
              <a:rPr lang="en-US" altLang="zh-TW" sz="2200">
                <a:solidFill>
                  <a:srgbClr val="4D4D4D"/>
                </a:solidFill>
                <a:latin typeface="Georgia" charset="0"/>
                <a:ea typeface="新細明體" charset="0"/>
                <a:cs typeface="新細明體" charset="0"/>
              </a:rPr>
              <a:t>May 9, 2025</a:t>
            </a:r>
          </a:p>
        </p:txBody>
      </p:sp>
      <p:sp>
        <p:nvSpPr>
          <p:cNvPr id="2" name="Slide Number Placeholder 1"/>
          <p:cNvSpPr>
            <a:spLocks noGrp="1"/>
          </p:cNvSpPr>
          <p:nvPr>
            <p:ph type="sldNum" sz="quarter" idx="12"/>
          </p:nvPr>
        </p:nvSpPr>
        <p:spPr/>
        <p:txBody>
          <a:bodyPr/>
          <a:lstStyle/>
          <a:p>
            <a:fld id="{490BA4C9-2F9F-4941-AE8E-AC62D4D21837}" type="slidenum">
              <a:rPr lang="zh-TW" altLang="en-US" smtClean="0"/>
              <a:pPr/>
              <a:t>1</a:t>
            </a:fld>
            <a:endParaRPr lang="en-US" altLang="zh-TW"/>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5"/>
          <p:cNvSpPr>
            <a:spLocks noChangeArrowheads="1"/>
          </p:cNvSpPr>
          <p:nvPr/>
        </p:nvSpPr>
        <p:spPr bwMode="auto">
          <a:xfrm>
            <a:off x="373063" y="152400"/>
            <a:ext cx="6853237"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CN" sz="3600">
                <a:solidFill>
                  <a:srgbClr val="4D4D4D"/>
                </a:solidFill>
                <a:latin typeface="Georgia" pitchFamily="18" charset="0"/>
                <a:ea typeface="PMingLiU" pitchFamily="18" charset="-120"/>
              </a:rPr>
              <a:t>Motivation</a:t>
            </a:r>
            <a:endParaRPr lang="en-US" altLang="zh-TW" sz="3600">
              <a:solidFill>
                <a:srgbClr val="4D4D4D"/>
              </a:solidFill>
              <a:latin typeface="Georgia" pitchFamily="18" charset="0"/>
              <a:ea typeface="PMingLiU" pitchFamily="18" charset="-120"/>
            </a:endParaRPr>
          </a:p>
        </p:txBody>
      </p:sp>
      <p:sp>
        <p:nvSpPr>
          <p:cNvPr id="2" name="Slide Number Placeholder 1"/>
          <p:cNvSpPr>
            <a:spLocks noGrp="1"/>
          </p:cNvSpPr>
          <p:nvPr>
            <p:ph type="sldNum" sz="quarter" idx="12"/>
          </p:nvPr>
        </p:nvSpPr>
        <p:spPr/>
        <p:txBody>
          <a:bodyPr/>
          <a:lstStyle/>
          <a:p>
            <a:fld id="{B95760C2-38E4-496F-933D-2305F303D3F1}" type="slidenum">
              <a:rPr lang="zh-TW" altLang="en-US" smtClean="0"/>
              <a:pPr/>
              <a:t>2</a:t>
            </a:fld>
            <a:endParaRPr lang="en-US" altLang="zh-TW"/>
          </a:p>
        </p:txBody>
      </p:sp>
      <p:sp>
        <p:nvSpPr>
          <p:cNvPr id="3" name="TextBox 2">
            <a:extLst>
              <a:ext uri="{FF2B5EF4-FFF2-40B4-BE49-F238E27FC236}">
                <a16:creationId xmlns:a16="http://schemas.microsoft.com/office/drawing/2014/main" id="{500B8C00-E9B3-1C99-DE69-E6F41A7F3471}"/>
              </a:ext>
            </a:extLst>
          </p:cNvPr>
          <p:cNvSpPr txBox="1"/>
          <p:nvPr/>
        </p:nvSpPr>
        <p:spPr>
          <a:xfrm>
            <a:off x="373876" y="1718806"/>
            <a:ext cx="4750193" cy="47089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b="1">
                <a:latin typeface="Arial"/>
                <a:ea typeface="ＭＳ Ｐゴシック"/>
                <a:cs typeface="Arial"/>
              </a:rPr>
              <a:t>Why is academic critique important?</a:t>
            </a:r>
            <a:endParaRPr lang="en-US" sz="2000" b="1">
              <a:cs typeface="Arial"/>
            </a:endParaRPr>
          </a:p>
          <a:p>
            <a:pPr marL="742950" lvl="1" indent="-285750">
              <a:buFont typeface="Courier New"/>
              <a:buChar char="o"/>
            </a:pPr>
            <a:r>
              <a:rPr lang="en-US" sz="2000">
                <a:latin typeface="Arial"/>
                <a:ea typeface="ＭＳ Ｐゴシック"/>
                <a:cs typeface="Arial"/>
              </a:rPr>
              <a:t>Enables deeper understanding, peer review, and progression of research</a:t>
            </a:r>
          </a:p>
          <a:p>
            <a:pPr marL="285750" indent="-285750">
              <a:buFont typeface="Arial"/>
              <a:buChar char="•"/>
            </a:pPr>
            <a:r>
              <a:rPr lang="en-US" sz="2000" b="1">
                <a:latin typeface="Arial"/>
                <a:ea typeface="ＭＳ Ｐゴシック"/>
                <a:cs typeface="Arial"/>
              </a:rPr>
              <a:t>Current bottlenecks</a:t>
            </a:r>
          </a:p>
          <a:p>
            <a:pPr marL="742950" lvl="1" indent="-285750">
              <a:buFont typeface="Courier New"/>
              <a:buChar char="o"/>
            </a:pPr>
            <a:r>
              <a:rPr lang="en-US" sz="2000">
                <a:latin typeface="Arial"/>
                <a:ea typeface="ＭＳ Ｐゴシック"/>
                <a:cs typeface="Arial"/>
              </a:rPr>
              <a:t>Manual critiques are time-consuming, require domain expertise, and often vary in quality</a:t>
            </a:r>
          </a:p>
          <a:p>
            <a:pPr marL="285750" indent="-285750">
              <a:buFont typeface="Arial"/>
              <a:buChar char="•"/>
            </a:pPr>
            <a:r>
              <a:rPr lang="en-US" sz="2000" b="1">
                <a:latin typeface="Arial"/>
                <a:ea typeface="ＭＳ Ｐゴシック"/>
                <a:cs typeface="Arial"/>
              </a:rPr>
              <a:t>Opportunity with Generative AI</a:t>
            </a:r>
            <a:endParaRPr lang="en-US" sz="2000" b="1">
              <a:cs typeface="Arial"/>
            </a:endParaRPr>
          </a:p>
          <a:p>
            <a:pPr marL="742950" lvl="1" indent="-285750">
              <a:buFont typeface="Courier New"/>
              <a:buChar char="o"/>
            </a:pPr>
            <a:r>
              <a:rPr lang="en-US" sz="2000">
                <a:latin typeface="Arial"/>
                <a:ea typeface="ＭＳ Ｐゴシック"/>
                <a:cs typeface="Arial"/>
              </a:rPr>
              <a:t>LLMs (e.g. GPT-4) can potentially provide consistent, structured, and insightful critiques, saving researchers time</a:t>
            </a:r>
            <a:endParaRPr lang="en-US" sz="2000">
              <a:cs typeface="Arial"/>
            </a:endParaRPr>
          </a:p>
        </p:txBody>
      </p:sp>
      <p:pic>
        <p:nvPicPr>
          <p:cNvPr id="4" name="Picture 3">
            <a:extLst>
              <a:ext uri="{FF2B5EF4-FFF2-40B4-BE49-F238E27FC236}">
                <a16:creationId xmlns:a16="http://schemas.microsoft.com/office/drawing/2014/main" id="{2BDC22E8-270C-97E4-E656-5C6075741AAC}"/>
              </a:ext>
            </a:extLst>
          </p:cNvPr>
          <p:cNvPicPr>
            <a:picLocks noChangeAspect="1"/>
          </p:cNvPicPr>
          <p:nvPr/>
        </p:nvPicPr>
        <p:blipFill>
          <a:blip r:embed="rId3"/>
          <a:stretch>
            <a:fillRect/>
          </a:stretch>
        </p:blipFill>
        <p:spPr>
          <a:xfrm>
            <a:off x="6292655" y="1719920"/>
            <a:ext cx="1887963" cy="1881768"/>
          </a:xfrm>
          <a:prstGeom prst="rect">
            <a:avLst/>
          </a:prstGeom>
        </p:spPr>
      </p:pic>
      <p:sp>
        <p:nvSpPr>
          <p:cNvPr id="7" name="TextBox 6">
            <a:extLst>
              <a:ext uri="{FF2B5EF4-FFF2-40B4-BE49-F238E27FC236}">
                <a16:creationId xmlns:a16="http://schemas.microsoft.com/office/drawing/2014/main" id="{C42AAA28-2CAD-FDB4-4FE6-B5B5EC7AD98B}"/>
              </a:ext>
            </a:extLst>
          </p:cNvPr>
          <p:cNvSpPr txBox="1"/>
          <p:nvPr/>
        </p:nvSpPr>
        <p:spPr>
          <a:xfrm>
            <a:off x="5587353" y="3598464"/>
            <a:ext cx="3312925" cy="164276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pPr>
            <a:r>
              <a:rPr lang="en-US" sz="2000" b="1">
                <a:latin typeface="Arial"/>
                <a:ea typeface="ＭＳ Ｐゴシック"/>
                <a:cs typeface="Arial"/>
              </a:rPr>
              <a:t>Goal: </a:t>
            </a:r>
            <a:r>
              <a:rPr lang="en-US" sz="2000">
                <a:latin typeface="Arial"/>
                <a:ea typeface="ＭＳ Ｐゴシック"/>
                <a:cs typeface="Arial"/>
              </a:rPr>
              <a:t>Build a generative system that assists in producing critiques and evaluations of academic papers automatically</a:t>
            </a:r>
            <a:endParaRPr lang="en-US" sz="2000">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5"/>
          <p:cNvSpPr>
            <a:spLocks noChangeArrowheads="1"/>
          </p:cNvSpPr>
          <p:nvPr/>
        </p:nvSpPr>
        <p:spPr bwMode="auto">
          <a:xfrm>
            <a:off x="373063" y="152400"/>
            <a:ext cx="6853237"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ja-JP" sz="3600">
                <a:solidFill>
                  <a:srgbClr val="4D4D4D"/>
                </a:solidFill>
                <a:latin typeface="Georgia" pitchFamily="18" charset="0"/>
                <a:ea typeface="PMingLiU" pitchFamily="18" charset="-120"/>
              </a:rPr>
              <a:t>Background</a:t>
            </a:r>
            <a:endParaRPr lang="en-US" altLang="zh-TW" sz="3600">
              <a:solidFill>
                <a:srgbClr val="4D4D4D"/>
              </a:solidFill>
              <a:latin typeface="Georgia" pitchFamily="18" charset="0"/>
              <a:ea typeface="PMingLiU" pitchFamily="18" charset="-120"/>
            </a:endParaRPr>
          </a:p>
        </p:txBody>
      </p:sp>
      <p:pic>
        <p:nvPicPr>
          <p:cNvPr id="2" name="Picture 1">
            <a:extLst>
              <a:ext uri="{FF2B5EF4-FFF2-40B4-BE49-F238E27FC236}">
                <a16:creationId xmlns:a16="http://schemas.microsoft.com/office/drawing/2014/main" id="{31ED350D-E487-AB09-0B29-62AB0DEF66C5}"/>
              </a:ext>
            </a:extLst>
          </p:cNvPr>
          <p:cNvPicPr>
            <a:picLocks noChangeAspect="1"/>
          </p:cNvPicPr>
          <p:nvPr/>
        </p:nvPicPr>
        <p:blipFill>
          <a:blip r:embed="rId3"/>
          <a:stretch>
            <a:fillRect/>
          </a:stretch>
        </p:blipFill>
        <p:spPr>
          <a:xfrm>
            <a:off x="1140966" y="2951703"/>
            <a:ext cx="952500" cy="952500"/>
          </a:xfrm>
          <a:prstGeom prst="rect">
            <a:avLst/>
          </a:prstGeom>
        </p:spPr>
      </p:pic>
      <p:pic>
        <p:nvPicPr>
          <p:cNvPr id="3" name="Picture 2">
            <a:extLst>
              <a:ext uri="{FF2B5EF4-FFF2-40B4-BE49-F238E27FC236}">
                <a16:creationId xmlns:a16="http://schemas.microsoft.com/office/drawing/2014/main" id="{A82E3C80-70F8-CD96-3188-19AEFD7CDE11}"/>
              </a:ext>
            </a:extLst>
          </p:cNvPr>
          <p:cNvPicPr>
            <a:picLocks noChangeAspect="1"/>
          </p:cNvPicPr>
          <p:nvPr/>
        </p:nvPicPr>
        <p:blipFill>
          <a:blip r:embed="rId4"/>
          <a:stretch>
            <a:fillRect/>
          </a:stretch>
        </p:blipFill>
        <p:spPr>
          <a:xfrm>
            <a:off x="4023626" y="2951703"/>
            <a:ext cx="952500" cy="952500"/>
          </a:xfrm>
          <a:prstGeom prst="rect">
            <a:avLst/>
          </a:prstGeom>
        </p:spPr>
      </p:pic>
      <p:pic>
        <p:nvPicPr>
          <p:cNvPr id="4" name="Picture 3">
            <a:extLst>
              <a:ext uri="{FF2B5EF4-FFF2-40B4-BE49-F238E27FC236}">
                <a16:creationId xmlns:a16="http://schemas.microsoft.com/office/drawing/2014/main" id="{986F9483-17FA-3159-2F74-800B714FA9E9}"/>
              </a:ext>
            </a:extLst>
          </p:cNvPr>
          <p:cNvPicPr>
            <a:picLocks noChangeAspect="1"/>
          </p:cNvPicPr>
          <p:nvPr/>
        </p:nvPicPr>
        <p:blipFill>
          <a:blip r:embed="rId5"/>
          <a:stretch>
            <a:fillRect/>
          </a:stretch>
        </p:blipFill>
        <p:spPr>
          <a:xfrm>
            <a:off x="6906286" y="2951703"/>
            <a:ext cx="952500" cy="952500"/>
          </a:xfrm>
          <a:prstGeom prst="rect">
            <a:avLst/>
          </a:prstGeom>
        </p:spPr>
      </p:pic>
      <p:sp>
        <p:nvSpPr>
          <p:cNvPr id="6" name="TextBox 5">
            <a:extLst>
              <a:ext uri="{FF2B5EF4-FFF2-40B4-BE49-F238E27FC236}">
                <a16:creationId xmlns:a16="http://schemas.microsoft.com/office/drawing/2014/main" id="{7C9DBCBA-73AF-9765-1E14-EFB0CAB0BED9}"/>
              </a:ext>
            </a:extLst>
          </p:cNvPr>
          <p:cNvSpPr txBox="1"/>
          <p:nvPr/>
        </p:nvSpPr>
        <p:spPr>
          <a:xfrm>
            <a:off x="513266" y="2071928"/>
            <a:ext cx="2202256"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latin typeface="Arial"/>
                <a:ea typeface="ＭＳ Ｐゴシック"/>
                <a:cs typeface="Arial"/>
              </a:rPr>
              <a:t>Rise of </a:t>
            </a:r>
            <a:r>
              <a:rPr lang="en-US" sz="2000" b="1" err="1">
                <a:latin typeface="Arial"/>
                <a:ea typeface="ＭＳ Ｐゴシック"/>
                <a:cs typeface="Arial"/>
              </a:rPr>
              <a:t>GenAI</a:t>
            </a:r>
            <a:r>
              <a:rPr lang="en-US" sz="2000" b="1">
                <a:latin typeface="Arial"/>
                <a:ea typeface="ＭＳ Ｐゴシック"/>
                <a:cs typeface="Arial"/>
              </a:rPr>
              <a:t> in Research Tasks</a:t>
            </a:r>
            <a:endParaRPr lang="en-US" sz="2000" b="1">
              <a:cs typeface="Arial"/>
            </a:endParaRPr>
          </a:p>
        </p:txBody>
      </p:sp>
      <p:sp>
        <p:nvSpPr>
          <p:cNvPr id="7" name="TextBox 6">
            <a:extLst>
              <a:ext uri="{FF2B5EF4-FFF2-40B4-BE49-F238E27FC236}">
                <a16:creationId xmlns:a16="http://schemas.microsoft.com/office/drawing/2014/main" id="{9215A6E1-4626-A97A-4EE3-59416D5216F7}"/>
              </a:ext>
            </a:extLst>
          </p:cNvPr>
          <p:cNvSpPr txBox="1"/>
          <p:nvPr/>
        </p:nvSpPr>
        <p:spPr>
          <a:xfrm>
            <a:off x="3310363" y="2071928"/>
            <a:ext cx="2518207"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latin typeface="Arial"/>
                <a:ea typeface="ＭＳ Ｐゴシック"/>
                <a:cs typeface="Arial"/>
              </a:rPr>
              <a:t>Academic Writing vs. Critique</a:t>
            </a:r>
            <a:endParaRPr lang="en-US"/>
          </a:p>
        </p:txBody>
      </p:sp>
      <p:sp>
        <p:nvSpPr>
          <p:cNvPr id="8" name="TextBox 7">
            <a:extLst>
              <a:ext uri="{FF2B5EF4-FFF2-40B4-BE49-F238E27FC236}">
                <a16:creationId xmlns:a16="http://schemas.microsoft.com/office/drawing/2014/main" id="{2F3D00BE-96C9-A5F3-7E03-45F350B7E913}"/>
              </a:ext>
            </a:extLst>
          </p:cNvPr>
          <p:cNvSpPr txBox="1"/>
          <p:nvPr/>
        </p:nvSpPr>
        <p:spPr>
          <a:xfrm>
            <a:off x="6284022" y="2071928"/>
            <a:ext cx="2202256"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latin typeface="Arial"/>
                <a:ea typeface="ＭＳ Ｐゴシック"/>
                <a:cs typeface="Arial"/>
              </a:rPr>
              <a:t>Why This Matters Now</a:t>
            </a:r>
            <a:endParaRPr lang="en-US"/>
          </a:p>
        </p:txBody>
      </p:sp>
      <p:sp>
        <p:nvSpPr>
          <p:cNvPr id="9" name="TextBox 8">
            <a:extLst>
              <a:ext uri="{FF2B5EF4-FFF2-40B4-BE49-F238E27FC236}">
                <a16:creationId xmlns:a16="http://schemas.microsoft.com/office/drawing/2014/main" id="{F6DE9536-7DBE-B3D5-1548-91B8F91CF187}"/>
              </a:ext>
            </a:extLst>
          </p:cNvPr>
          <p:cNvSpPr txBox="1"/>
          <p:nvPr/>
        </p:nvSpPr>
        <p:spPr>
          <a:xfrm>
            <a:off x="146482" y="4071380"/>
            <a:ext cx="2927293"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a:latin typeface="Arial"/>
                <a:ea typeface="ＭＳ Ｐゴシック"/>
                <a:cs typeface="Arial"/>
              </a:rPr>
              <a:t>In academic contexts, these models are being used for:</a:t>
            </a:r>
            <a:endParaRPr lang="en-US" sz="1600">
              <a:cs typeface="Arial"/>
            </a:endParaRPr>
          </a:p>
          <a:p>
            <a:pPr marL="285750" indent="-285750" algn="ctr">
              <a:buFont typeface="Arial"/>
              <a:buChar char="•"/>
            </a:pPr>
            <a:r>
              <a:rPr lang="en-US" sz="1600">
                <a:latin typeface="Arial"/>
                <a:ea typeface="ＭＳ Ｐゴシック"/>
                <a:cs typeface="Arial"/>
              </a:rPr>
              <a:t>Abstract generation</a:t>
            </a:r>
            <a:endParaRPr lang="en-US" sz="1600">
              <a:cs typeface="Arial"/>
            </a:endParaRPr>
          </a:p>
          <a:p>
            <a:pPr marL="285750" indent="-285750" algn="ctr">
              <a:buFont typeface="Arial"/>
              <a:buChar char="•"/>
            </a:pPr>
            <a:r>
              <a:rPr lang="en-US" sz="1600">
                <a:latin typeface="Arial"/>
                <a:ea typeface="ＭＳ Ｐゴシック"/>
                <a:cs typeface="Arial"/>
              </a:rPr>
              <a:t>Literature reviews</a:t>
            </a:r>
            <a:endParaRPr lang="en-US" sz="1600">
              <a:cs typeface="Arial"/>
            </a:endParaRPr>
          </a:p>
          <a:p>
            <a:pPr marL="285750" indent="-285750" algn="ctr">
              <a:buFont typeface="Arial"/>
              <a:buChar char="•"/>
            </a:pPr>
            <a:r>
              <a:rPr lang="en-US" sz="1600">
                <a:latin typeface="Arial"/>
                <a:ea typeface="ＭＳ Ｐゴシック"/>
                <a:cs typeface="Arial"/>
              </a:rPr>
              <a:t>Simplifying complex papers for broader audiences</a:t>
            </a:r>
            <a:endParaRPr lang="en-US" sz="1600">
              <a:cs typeface="Arial"/>
            </a:endParaRPr>
          </a:p>
          <a:p>
            <a:pPr marL="285750" indent="-285750" algn="ctr">
              <a:buFont typeface="Arial"/>
              <a:buChar char="•"/>
            </a:pPr>
            <a:r>
              <a:rPr lang="en-US" sz="1600">
                <a:latin typeface="Arial"/>
                <a:ea typeface="ＭＳ Ｐゴシック"/>
                <a:cs typeface="Arial"/>
              </a:rPr>
              <a:t>Drafting responses to reviewers</a:t>
            </a:r>
            <a:endParaRPr lang="en-US" sz="1600">
              <a:cs typeface="Arial"/>
            </a:endParaRPr>
          </a:p>
          <a:p>
            <a:pPr algn="ctr"/>
            <a:endParaRPr lang="en-US" sz="1600">
              <a:cs typeface="Arial"/>
            </a:endParaRPr>
          </a:p>
        </p:txBody>
      </p:sp>
      <p:sp>
        <p:nvSpPr>
          <p:cNvPr id="5" name="TextBox 4">
            <a:extLst>
              <a:ext uri="{FF2B5EF4-FFF2-40B4-BE49-F238E27FC236}">
                <a16:creationId xmlns:a16="http://schemas.microsoft.com/office/drawing/2014/main" id="{9392FAAD-A40F-FD61-F597-F3FD8A938671}"/>
              </a:ext>
            </a:extLst>
          </p:cNvPr>
          <p:cNvSpPr txBox="1"/>
          <p:nvPr/>
        </p:nvSpPr>
        <p:spPr>
          <a:xfrm>
            <a:off x="3106340" y="4071380"/>
            <a:ext cx="2927293"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latin typeface="Arial"/>
                <a:ea typeface="ＭＳ Ｐゴシック"/>
                <a:cs typeface="Arial"/>
              </a:rPr>
              <a:t>Writing</a:t>
            </a:r>
            <a:r>
              <a:rPr lang="en-US" sz="1600">
                <a:latin typeface="Arial"/>
                <a:ea typeface="ＭＳ Ｐゴシック"/>
                <a:cs typeface="Arial"/>
              </a:rPr>
              <a:t>: Focuses on communicating knowledge and finings</a:t>
            </a:r>
          </a:p>
          <a:p>
            <a:pPr algn="ctr"/>
            <a:r>
              <a:rPr lang="en-US" sz="1600" b="1">
                <a:latin typeface="Arial"/>
                <a:ea typeface="ＭＳ Ｐゴシック"/>
                <a:cs typeface="Arial"/>
              </a:rPr>
              <a:t>Critique</a:t>
            </a:r>
            <a:r>
              <a:rPr lang="en-US" sz="1600">
                <a:latin typeface="Arial"/>
                <a:ea typeface="ＭＳ Ｐゴシック"/>
                <a:cs typeface="Arial"/>
              </a:rPr>
              <a:t>: Involves evaluating arguments, identifying gaps, and assessing novelty, clarity, and methodology</a:t>
            </a:r>
          </a:p>
          <a:p>
            <a:pPr algn="ctr"/>
            <a:endParaRPr lang="en-US" sz="1600">
              <a:cs typeface="Arial"/>
            </a:endParaRPr>
          </a:p>
        </p:txBody>
      </p:sp>
      <p:sp>
        <p:nvSpPr>
          <p:cNvPr id="10" name="TextBox 9">
            <a:extLst>
              <a:ext uri="{FF2B5EF4-FFF2-40B4-BE49-F238E27FC236}">
                <a16:creationId xmlns:a16="http://schemas.microsoft.com/office/drawing/2014/main" id="{9C39B9A3-D4AB-E1B8-6FE5-5610BE573BAF}"/>
              </a:ext>
            </a:extLst>
          </p:cNvPr>
          <p:cNvSpPr txBox="1"/>
          <p:nvPr/>
        </p:nvSpPr>
        <p:spPr>
          <a:xfrm>
            <a:off x="5921191" y="4071380"/>
            <a:ext cx="2927293"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ctr">
              <a:buFont typeface="Arial"/>
              <a:buChar char="•"/>
            </a:pPr>
            <a:r>
              <a:rPr lang="en-US" sz="1600">
                <a:latin typeface="Arial"/>
                <a:ea typeface="ＭＳ Ｐゴシック"/>
                <a:cs typeface="Arial"/>
              </a:rPr>
              <a:t>Explosion in the number of research papers</a:t>
            </a:r>
          </a:p>
          <a:p>
            <a:pPr marL="285750" indent="-285750" algn="ctr">
              <a:buFont typeface="Arial"/>
              <a:buChar char="•"/>
            </a:pPr>
            <a:r>
              <a:rPr lang="en-US" sz="1600">
                <a:latin typeface="Arial"/>
                <a:ea typeface="ＭＳ Ｐゴシック"/>
                <a:cs typeface="Arial"/>
              </a:rPr>
              <a:t>Peer review processes are under strain</a:t>
            </a:r>
            <a:endParaRPr lang="en-US" sz="1600">
              <a:cs typeface="Arial"/>
            </a:endParaRPr>
          </a:p>
          <a:p>
            <a:pPr marL="285750" indent="-285750" algn="ctr">
              <a:buFont typeface="Arial"/>
              <a:buChar char="•"/>
            </a:pPr>
            <a:r>
              <a:rPr lang="en-US" sz="1600">
                <a:latin typeface="Arial"/>
                <a:ea typeface="ＭＳ Ｐゴシック"/>
                <a:cs typeface="Arial"/>
              </a:rPr>
              <a:t>Early-stage researchers and non-native English speakers lack access to high-quality </a:t>
            </a:r>
            <a:r>
              <a:rPr lang="en-US" sz="1600" err="1">
                <a:latin typeface="Arial"/>
                <a:ea typeface="ＭＳ Ｐゴシック"/>
                <a:cs typeface="Arial"/>
              </a:rPr>
              <a:t>critie</a:t>
            </a:r>
            <a:r>
              <a:rPr lang="en-US" sz="1600">
                <a:latin typeface="Arial"/>
                <a:ea typeface="ＭＳ Ｐゴシック"/>
                <a:cs typeface="Arial"/>
              </a:rPr>
              <a:t> and feedback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5"/>
          <p:cNvSpPr>
            <a:spLocks noChangeArrowheads="1"/>
          </p:cNvSpPr>
          <p:nvPr/>
        </p:nvSpPr>
        <p:spPr bwMode="auto">
          <a:xfrm>
            <a:off x="373063" y="152400"/>
            <a:ext cx="6853237"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defRPr/>
            </a:pPr>
            <a:r>
              <a:rPr lang="en-US" altLang="zh-TW" sz="3600">
                <a:solidFill>
                  <a:srgbClr val="4D4D4D"/>
                </a:solidFill>
                <a:latin typeface="Georgia" charset="0"/>
                <a:ea typeface="新細明體" charset="0"/>
                <a:cs typeface="新細明體" charset="0"/>
              </a:rPr>
              <a:t>Related Work</a:t>
            </a:r>
          </a:p>
        </p:txBody>
      </p:sp>
      <p:sp>
        <p:nvSpPr>
          <p:cNvPr id="2" name="Slide Number Placeholder 1"/>
          <p:cNvSpPr>
            <a:spLocks noGrp="1"/>
          </p:cNvSpPr>
          <p:nvPr>
            <p:ph type="sldNum" sz="quarter" idx="12"/>
          </p:nvPr>
        </p:nvSpPr>
        <p:spPr/>
        <p:txBody>
          <a:bodyPr/>
          <a:lstStyle/>
          <a:p>
            <a:fld id="{B95760C2-38E4-496F-933D-2305F303D3F1}" type="slidenum">
              <a:rPr lang="zh-TW" altLang="en-US" smtClean="0"/>
              <a:pPr/>
              <a:t>4</a:t>
            </a:fld>
            <a:endParaRPr lang="en-US" altLang="zh-TW"/>
          </a:p>
        </p:txBody>
      </p:sp>
      <p:pic>
        <p:nvPicPr>
          <p:cNvPr id="3" name="Picture 2" descr="A screenshot of a book review&#10;&#10;AI-generated content may be incorrect.">
            <a:extLst>
              <a:ext uri="{FF2B5EF4-FFF2-40B4-BE49-F238E27FC236}">
                <a16:creationId xmlns:a16="http://schemas.microsoft.com/office/drawing/2014/main" id="{19416855-7A06-95FA-8AAA-0E4A956A04B2}"/>
              </a:ext>
            </a:extLst>
          </p:cNvPr>
          <p:cNvPicPr>
            <a:picLocks noChangeAspect="1"/>
          </p:cNvPicPr>
          <p:nvPr/>
        </p:nvPicPr>
        <p:blipFill>
          <a:blip r:embed="rId3"/>
          <a:stretch>
            <a:fillRect/>
          </a:stretch>
        </p:blipFill>
        <p:spPr>
          <a:xfrm>
            <a:off x="771525" y="2191408"/>
            <a:ext cx="3021330" cy="1954530"/>
          </a:xfrm>
          <a:prstGeom prst="rect">
            <a:avLst/>
          </a:prstGeom>
        </p:spPr>
      </p:pic>
      <p:pic>
        <p:nvPicPr>
          <p:cNvPr id="4" name="Picture 3" descr="A close-up of a paper&#10;&#10;AI-generated content may be incorrect.">
            <a:extLst>
              <a:ext uri="{FF2B5EF4-FFF2-40B4-BE49-F238E27FC236}">
                <a16:creationId xmlns:a16="http://schemas.microsoft.com/office/drawing/2014/main" id="{04C80F0F-9C22-2C72-F4AA-33495B8C15BE}"/>
              </a:ext>
            </a:extLst>
          </p:cNvPr>
          <p:cNvPicPr>
            <a:picLocks noChangeAspect="1"/>
          </p:cNvPicPr>
          <p:nvPr/>
        </p:nvPicPr>
        <p:blipFill>
          <a:blip r:embed="rId4"/>
          <a:stretch>
            <a:fillRect/>
          </a:stretch>
        </p:blipFill>
        <p:spPr>
          <a:xfrm>
            <a:off x="4742330" y="2192275"/>
            <a:ext cx="3624675" cy="1955865"/>
          </a:xfrm>
          <a:prstGeom prst="rect">
            <a:avLst/>
          </a:prstGeom>
        </p:spPr>
      </p:pic>
      <p:sp>
        <p:nvSpPr>
          <p:cNvPr id="6" name="TextBox 5">
            <a:extLst>
              <a:ext uri="{FF2B5EF4-FFF2-40B4-BE49-F238E27FC236}">
                <a16:creationId xmlns:a16="http://schemas.microsoft.com/office/drawing/2014/main" id="{6C1B7270-2BE6-7E48-7B3F-A8B00B28F00C}"/>
              </a:ext>
            </a:extLst>
          </p:cNvPr>
          <p:cNvSpPr txBox="1"/>
          <p:nvPr/>
        </p:nvSpPr>
        <p:spPr>
          <a:xfrm>
            <a:off x="602754" y="4349793"/>
            <a:ext cx="3365593" cy="23698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err="1">
                <a:latin typeface="Arial"/>
                <a:ea typeface="ＭＳ Ｐゴシック"/>
                <a:cs typeface="Arial"/>
              </a:rPr>
              <a:t>SciReviewGen</a:t>
            </a:r>
            <a:endParaRPr lang="en-US" sz="2000">
              <a:cs typeface="Arial" pitchFamily="34" charset="0"/>
            </a:endParaRPr>
          </a:p>
          <a:p>
            <a:pPr algn="ctr"/>
            <a:endParaRPr lang="en-US" sz="2000" b="1">
              <a:cs typeface="Arial"/>
            </a:endParaRPr>
          </a:p>
          <a:p>
            <a:pPr algn="ctr"/>
            <a:r>
              <a:rPr lang="en-US">
                <a:latin typeface="Arial"/>
                <a:ea typeface="ＭＳ Ｐゴシック"/>
                <a:cs typeface="Arial"/>
              </a:rPr>
              <a:t>Uses prompt-based generation with LLMs to simulate peer reviews</a:t>
            </a:r>
            <a:endParaRPr lang="en-US">
              <a:cs typeface="Arial"/>
            </a:endParaRPr>
          </a:p>
          <a:p>
            <a:pPr algn="ctr"/>
            <a:r>
              <a:rPr lang="en-US">
                <a:latin typeface="Arial"/>
                <a:ea typeface="ＭＳ Ｐゴシック"/>
                <a:cs typeface="Arial"/>
              </a:rPr>
              <a:t>Generic outputs, lack of domain specificity, and struggles with technical depth</a:t>
            </a:r>
          </a:p>
        </p:txBody>
      </p:sp>
      <p:sp>
        <p:nvSpPr>
          <p:cNvPr id="7" name="TextBox 6">
            <a:extLst>
              <a:ext uri="{FF2B5EF4-FFF2-40B4-BE49-F238E27FC236}">
                <a16:creationId xmlns:a16="http://schemas.microsoft.com/office/drawing/2014/main" id="{23284144-DA45-755A-D121-FD453C5637B0}"/>
              </a:ext>
            </a:extLst>
          </p:cNvPr>
          <p:cNvSpPr txBox="1"/>
          <p:nvPr/>
        </p:nvSpPr>
        <p:spPr>
          <a:xfrm>
            <a:off x="5451351" y="4349793"/>
            <a:ext cx="2202256" cy="17851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latin typeface="Arial"/>
                <a:ea typeface="ＭＳ Ｐゴシック"/>
                <a:cs typeface="Arial"/>
              </a:rPr>
              <a:t>Claim Extraction</a:t>
            </a:r>
          </a:p>
          <a:p>
            <a:pPr algn="ctr"/>
            <a:endParaRPr lang="en-US" b="1">
              <a:cs typeface="Arial"/>
            </a:endParaRPr>
          </a:p>
          <a:p>
            <a:pPr algn="ctr"/>
            <a:r>
              <a:rPr lang="en-US">
                <a:latin typeface="Arial"/>
                <a:ea typeface="ＭＳ Ｐゴシック"/>
                <a:cs typeface="Arial"/>
              </a:rPr>
              <a:t>Extract claims, evidence, and reasoning from scientific text</a:t>
            </a:r>
            <a:endParaRPr lang="en-US">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5"/>
          <p:cNvSpPr>
            <a:spLocks noChangeArrowheads="1"/>
          </p:cNvSpPr>
          <p:nvPr/>
        </p:nvSpPr>
        <p:spPr bwMode="auto">
          <a:xfrm>
            <a:off x="373063" y="152400"/>
            <a:ext cx="6853237"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ja-JP" sz="3600">
                <a:solidFill>
                  <a:srgbClr val="4D4D4D"/>
                </a:solidFill>
                <a:latin typeface="Georgia" pitchFamily="18" charset="0"/>
                <a:ea typeface="PMingLiU" pitchFamily="18" charset="-120"/>
              </a:rPr>
              <a:t>Claim / Target Task</a:t>
            </a:r>
            <a:endParaRPr lang="en-US" altLang="zh-TW" sz="3600">
              <a:solidFill>
                <a:srgbClr val="4D4D4D"/>
              </a:solidFill>
              <a:latin typeface="Georgia" pitchFamily="18" charset="0"/>
              <a:ea typeface="PMingLiU" pitchFamily="18" charset="-120"/>
            </a:endParaRPr>
          </a:p>
        </p:txBody>
      </p:sp>
      <p:sp>
        <p:nvSpPr>
          <p:cNvPr id="2" name="Slide Number Placeholder 1"/>
          <p:cNvSpPr>
            <a:spLocks noGrp="1"/>
          </p:cNvSpPr>
          <p:nvPr>
            <p:ph type="sldNum" sz="quarter" idx="12"/>
          </p:nvPr>
        </p:nvSpPr>
        <p:spPr/>
        <p:txBody>
          <a:bodyPr/>
          <a:lstStyle/>
          <a:p>
            <a:fld id="{B95760C2-38E4-496F-933D-2305F303D3F1}" type="slidenum">
              <a:rPr lang="zh-TW" altLang="en-US" smtClean="0"/>
              <a:pPr/>
              <a:t>5</a:t>
            </a:fld>
            <a:endParaRPr lang="en-US" altLang="zh-TW"/>
          </a:p>
        </p:txBody>
      </p:sp>
      <p:sp>
        <p:nvSpPr>
          <p:cNvPr id="4" name="TextBox 3">
            <a:extLst>
              <a:ext uri="{FF2B5EF4-FFF2-40B4-BE49-F238E27FC236}">
                <a16:creationId xmlns:a16="http://schemas.microsoft.com/office/drawing/2014/main" id="{89885935-425D-C661-56AA-6BE84E105336}"/>
              </a:ext>
            </a:extLst>
          </p:cNvPr>
          <p:cNvSpPr txBox="1"/>
          <p:nvPr/>
        </p:nvSpPr>
        <p:spPr>
          <a:xfrm>
            <a:off x="372670" y="1711090"/>
            <a:ext cx="828355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a:latin typeface="Arial"/>
                <a:ea typeface="ＭＳ Ｐゴシック"/>
                <a:cs typeface="Arial"/>
              </a:rPr>
              <a:t>A fine-tuned or prompt-engineered generative language model that can produce </a:t>
            </a:r>
            <a:r>
              <a:rPr lang="en-US" b="1" i="1">
                <a:latin typeface="Arial"/>
                <a:ea typeface="ＭＳ Ｐゴシック"/>
                <a:cs typeface="Arial"/>
              </a:rPr>
              <a:t>structured, context-aware, and domain relevant critiques</a:t>
            </a:r>
            <a:r>
              <a:rPr lang="en-US" i="1">
                <a:latin typeface="Arial"/>
                <a:ea typeface="ＭＳ Ｐゴシック"/>
                <a:cs typeface="Arial"/>
              </a:rPr>
              <a:t> of academic papers that approximate or augment human peer review</a:t>
            </a:r>
          </a:p>
        </p:txBody>
      </p:sp>
      <p:cxnSp>
        <p:nvCxnSpPr>
          <p:cNvPr id="5" name="Straight Connector 4">
            <a:extLst>
              <a:ext uri="{FF2B5EF4-FFF2-40B4-BE49-F238E27FC236}">
                <a16:creationId xmlns:a16="http://schemas.microsoft.com/office/drawing/2014/main" id="{BB4FFEAF-0515-0910-D94E-167353FB9EEA}"/>
              </a:ext>
            </a:extLst>
          </p:cNvPr>
          <p:cNvCxnSpPr/>
          <p:nvPr/>
        </p:nvCxnSpPr>
        <p:spPr>
          <a:xfrm>
            <a:off x="4475747" y="3284622"/>
            <a:ext cx="0" cy="2779295"/>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3CBC289-DBF1-B154-9943-BCE384A2A987}"/>
              </a:ext>
            </a:extLst>
          </p:cNvPr>
          <p:cNvSpPr txBox="1"/>
          <p:nvPr/>
        </p:nvSpPr>
        <p:spPr>
          <a:xfrm>
            <a:off x="777734" y="2930969"/>
            <a:ext cx="279564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latin typeface="Arial"/>
                <a:ea typeface="ＭＳ Ｐゴシック"/>
                <a:cs typeface="Arial"/>
              </a:rPr>
              <a:t>Input</a:t>
            </a:r>
          </a:p>
        </p:txBody>
      </p:sp>
      <p:sp>
        <p:nvSpPr>
          <p:cNvPr id="8" name="TextBox 7">
            <a:extLst>
              <a:ext uri="{FF2B5EF4-FFF2-40B4-BE49-F238E27FC236}">
                <a16:creationId xmlns:a16="http://schemas.microsoft.com/office/drawing/2014/main" id="{0EC6DE03-883D-8D9C-3620-EF42188B2814}"/>
              </a:ext>
            </a:extLst>
          </p:cNvPr>
          <p:cNvSpPr txBox="1"/>
          <p:nvPr/>
        </p:nvSpPr>
        <p:spPr>
          <a:xfrm>
            <a:off x="5155377" y="2930969"/>
            <a:ext cx="279564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latin typeface="Arial"/>
                <a:ea typeface="ＭＳ Ｐゴシック"/>
                <a:cs typeface="Arial"/>
              </a:rPr>
              <a:t>Output</a:t>
            </a:r>
          </a:p>
        </p:txBody>
      </p:sp>
      <p:sp>
        <p:nvSpPr>
          <p:cNvPr id="9" name="TextBox 8">
            <a:extLst>
              <a:ext uri="{FF2B5EF4-FFF2-40B4-BE49-F238E27FC236}">
                <a16:creationId xmlns:a16="http://schemas.microsoft.com/office/drawing/2014/main" id="{AA1B55B7-2A0A-21CF-8D7D-39EA946071F9}"/>
              </a:ext>
            </a:extLst>
          </p:cNvPr>
          <p:cNvSpPr txBox="1"/>
          <p:nvPr/>
        </p:nvSpPr>
        <p:spPr>
          <a:xfrm>
            <a:off x="317932" y="3429000"/>
            <a:ext cx="3706632"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a:latin typeface="Arial"/>
                <a:ea typeface="ＭＳ Ｐゴシック"/>
                <a:cs typeface="Arial"/>
              </a:rPr>
              <a:t>A scientific paper (or sections such as abstract, introduction, methods)</a:t>
            </a:r>
          </a:p>
          <a:p>
            <a:pPr marL="285750" indent="-285750">
              <a:buFont typeface="Arial" panose="020B0604020202020204" pitchFamily="34" charset="0"/>
              <a:buChar char="•"/>
            </a:pPr>
            <a:r>
              <a:rPr lang="en-US">
                <a:latin typeface="Arial"/>
                <a:ea typeface="ＭＳ Ｐゴシック"/>
                <a:cs typeface="Arial"/>
              </a:rPr>
              <a:t>Optional metadata (e.g. field, citation context, author-provided summary)</a:t>
            </a:r>
          </a:p>
        </p:txBody>
      </p:sp>
      <p:sp>
        <p:nvSpPr>
          <p:cNvPr id="10" name="TextBox 9">
            <a:extLst>
              <a:ext uri="{FF2B5EF4-FFF2-40B4-BE49-F238E27FC236}">
                <a16:creationId xmlns:a16="http://schemas.microsoft.com/office/drawing/2014/main" id="{C9116968-3671-EBA0-DFC2-677D8BEFE552}"/>
              </a:ext>
            </a:extLst>
          </p:cNvPr>
          <p:cNvSpPr txBox="1"/>
          <p:nvPr/>
        </p:nvSpPr>
        <p:spPr>
          <a:xfrm>
            <a:off x="4699884" y="3425400"/>
            <a:ext cx="3706632"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a:latin typeface="Arial"/>
                <a:ea typeface="ＭＳ Ｐゴシック"/>
                <a:cs typeface="Arial"/>
              </a:rPr>
              <a:t>Concise summary</a:t>
            </a:r>
          </a:p>
          <a:p>
            <a:pPr marL="285750" indent="-285750">
              <a:buFont typeface="Arial" panose="020B0604020202020204" pitchFamily="34" charset="0"/>
              <a:buChar char="•"/>
            </a:pPr>
            <a:r>
              <a:rPr lang="en-US">
                <a:latin typeface="Arial"/>
                <a:ea typeface="ＭＳ Ｐゴシック"/>
                <a:cs typeface="Arial"/>
              </a:rPr>
              <a:t>Identified Strengths and Contributions</a:t>
            </a:r>
          </a:p>
          <a:p>
            <a:pPr marL="285750" indent="-285750">
              <a:buFont typeface="Arial" panose="020B0604020202020204" pitchFamily="34" charset="0"/>
              <a:buChar char="•"/>
            </a:pPr>
            <a:r>
              <a:rPr lang="en-US">
                <a:latin typeface="Arial"/>
                <a:ea typeface="ＭＳ Ｐゴシック"/>
                <a:cs typeface="Arial"/>
              </a:rPr>
              <a:t>Weaknesses and Gaps</a:t>
            </a:r>
          </a:p>
          <a:p>
            <a:pPr marL="285750" indent="-285750">
              <a:buFont typeface="Arial" panose="020B0604020202020204" pitchFamily="34" charset="0"/>
              <a:buChar char="•"/>
            </a:pPr>
            <a:r>
              <a:rPr lang="en-US">
                <a:latin typeface="Arial"/>
                <a:ea typeface="ＭＳ Ｐゴシック"/>
                <a:cs typeface="Arial"/>
              </a:rPr>
              <a:t>Suggestions for Improvement</a:t>
            </a:r>
          </a:p>
          <a:p>
            <a:pPr marL="285750" indent="-285750">
              <a:buFont typeface="Arial" panose="020B0604020202020204" pitchFamily="34" charset="0"/>
              <a:buChar char="•"/>
            </a:pPr>
            <a:r>
              <a:rPr lang="en-US">
                <a:latin typeface="Arial"/>
                <a:ea typeface="ＭＳ Ｐゴシック"/>
                <a:cs typeface="Arial"/>
              </a:rPr>
              <a:t>Ratings for clarity, novelty, and methodology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5"/>
          <p:cNvSpPr>
            <a:spLocks noChangeArrowheads="1"/>
          </p:cNvSpPr>
          <p:nvPr/>
        </p:nvSpPr>
        <p:spPr bwMode="auto">
          <a:xfrm>
            <a:off x="373063" y="152400"/>
            <a:ext cx="8770937"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ja-JP" sz="3600">
                <a:solidFill>
                  <a:srgbClr val="4D4D4D"/>
                </a:solidFill>
                <a:latin typeface="Georgia" pitchFamily="18" charset="0"/>
                <a:ea typeface="PMingLiU" pitchFamily="18" charset="-120"/>
              </a:rPr>
              <a:t>An Intuitive Figure Showing WHY Claim</a:t>
            </a:r>
            <a:endParaRPr lang="en-US" altLang="zh-TW" sz="3600">
              <a:solidFill>
                <a:srgbClr val="4D4D4D"/>
              </a:solidFill>
              <a:latin typeface="Georgia" pitchFamily="18" charset="0"/>
              <a:ea typeface="PMingLiU" pitchFamily="18" charset="-120"/>
            </a:endParaRPr>
          </a:p>
        </p:txBody>
      </p:sp>
      <p:sp>
        <p:nvSpPr>
          <p:cNvPr id="2" name="Slide Number Placeholder 1"/>
          <p:cNvSpPr>
            <a:spLocks noGrp="1"/>
          </p:cNvSpPr>
          <p:nvPr>
            <p:ph type="sldNum" sz="quarter" idx="12"/>
          </p:nvPr>
        </p:nvSpPr>
        <p:spPr/>
        <p:txBody>
          <a:bodyPr/>
          <a:lstStyle/>
          <a:p>
            <a:fld id="{B95760C2-38E4-496F-933D-2305F303D3F1}" type="slidenum">
              <a:rPr lang="zh-TW" altLang="en-US" smtClean="0"/>
              <a:pPr/>
              <a:t>6</a:t>
            </a:fld>
            <a:endParaRPr lang="en-US" altLang="zh-TW"/>
          </a:p>
        </p:txBody>
      </p:sp>
      <p:sp>
        <p:nvSpPr>
          <p:cNvPr id="3" name="Rounded Rectangle 2">
            <a:extLst>
              <a:ext uri="{FF2B5EF4-FFF2-40B4-BE49-F238E27FC236}">
                <a16:creationId xmlns:a16="http://schemas.microsoft.com/office/drawing/2014/main" id="{503AC1A7-F95D-116A-C6D4-8A1140794CDE}"/>
              </a:ext>
            </a:extLst>
          </p:cNvPr>
          <p:cNvSpPr/>
          <p:nvPr/>
        </p:nvSpPr>
        <p:spPr>
          <a:xfrm>
            <a:off x="1013791" y="1862000"/>
            <a:ext cx="2941983" cy="127220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Simple Prompt</a:t>
            </a:r>
          </a:p>
          <a:p>
            <a:pPr algn="ctr"/>
            <a:r>
              <a:rPr lang="en-US">
                <a:solidFill>
                  <a:schemeClr val="tx1"/>
                </a:solidFill>
              </a:rPr>
              <a:t>“Generate a literature review for this paper”</a:t>
            </a:r>
          </a:p>
        </p:txBody>
      </p:sp>
      <p:sp>
        <p:nvSpPr>
          <p:cNvPr id="4" name="Rounded Rectangle 3">
            <a:extLst>
              <a:ext uri="{FF2B5EF4-FFF2-40B4-BE49-F238E27FC236}">
                <a16:creationId xmlns:a16="http://schemas.microsoft.com/office/drawing/2014/main" id="{ABA08F30-D3FF-7DC9-1CA4-1645EC5347B8}"/>
              </a:ext>
            </a:extLst>
          </p:cNvPr>
          <p:cNvSpPr/>
          <p:nvPr/>
        </p:nvSpPr>
        <p:spPr>
          <a:xfrm>
            <a:off x="5068958" y="1862000"/>
            <a:ext cx="2941983" cy="1272208"/>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Structured Prompt</a:t>
            </a:r>
          </a:p>
          <a:p>
            <a:pPr algn="ctr"/>
            <a:r>
              <a:rPr lang="en-US" sz="1400" b="1">
                <a:solidFill>
                  <a:schemeClr val="bg1"/>
                </a:solidFill>
              </a:rPr>
              <a:t>“</a:t>
            </a:r>
            <a:r>
              <a:rPr lang="en-US" sz="1400">
                <a:solidFill>
                  <a:schemeClr val="bg1"/>
                </a:solidFill>
              </a:rPr>
              <a:t>You are an academic with vast knowledge, generate a literature review in JSON format with summary, contributions, etc.”</a:t>
            </a:r>
            <a:endParaRPr lang="en-US" sz="1400" b="1">
              <a:solidFill>
                <a:schemeClr val="bg1"/>
              </a:solidFill>
            </a:endParaRPr>
          </a:p>
        </p:txBody>
      </p:sp>
      <p:sp>
        <p:nvSpPr>
          <p:cNvPr id="5" name="Rounded Rectangle 4">
            <a:extLst>
              <a:ext uri="{FF2B5EF4-FFF2-40B4-BE49-F238E27FC236}">
                <a16:creationId xmlns:a16="http://schemas.microsoft.com/office/drawing/2014/main" id="{BABCAC07-B688-9FE1-A5FD-317B54A93352}"/>
              </a:ext>
            </a:extLst>
          </p:cNvPr>
          <p:cNvSpPr/>
          <p:nvPr/>
        </p:nvSpPr>
        <p:spPr>
          <a:xfrm>
            <a:off x="1013790" y="3980827"/>
            <a:ext cx="2941983" cy="19843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This paper introduces/discusses a new method and repots good results.</a:t>
            </a:r>
          </a:p>
        </p:txBody>
      </p:sp>
      <p:sp>
        <p:nvSpPr>
          <p:cNvPr id="6" name="Rounded Rectangle 5">
            <a:extLst>
              <a:ext uri="{FF2B5EF4-FFF2-40B4-BE49-F238E27FC236}">
                <a16:creationId xmlns:a16="http://schemas.microsoft.com/office/drawing/2014/main" id="{E7DD6A24-A78A-F367-FDDE-A31C880BB8F2}"/>
              </a:ext>
            </a:extLst>
          </p:cNvPr>
          <p:cNvSpPr/>
          <p:nvPr/>
        </p:nvSpPr>
        <p:spPr>
          <a:xfrm>
            <a:off x="5068957" y="3980826"/>
            <a:ext cx="2941983" cy="1984375"/>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{“summary”: “This paper proposes…”</a:t>
            </a:r>
          </a:p>
          <a:p>
            <a:pPr algn="ctr"/>
            <a:r>
              <a:rPr lang="en-US"/>
              <a:t>“contributions”: “It introduces a new transformer variant”</a:t>
            </a:r>
          </a:p>
        </p:txBody>
      </p:sp>
      <p:cxnSp>
        <p:nvCxnSpPr>
          <p:cNvPr id="8" name="Straight Arrow Connector 7">
            <a:extLst>
              <a:ext uri="{FF2B5EF4-FFF2-40B4-BE49-F238E27FC236}">
                <a16:creationId xmlns:a16="http://schemas.microsoft.com/office/drawing/2014/main" id="{5140AFE7-9E93-5B93-4F5E-6AA3D31A009E}"/>
              </a:ext>
            </a:extLst>
          </p:cNvPr>
          <p:cNvCxnSpPr>
            <a:cxnSpLocks/>
            <a:stCxn id="3" idx="2"/>
            <a:endCxn id="5" idx="0"/>
          </p:cNvCxnSpPr>
          <p:nvPr/>
        </p:nvCxnSpPr>
        <p:spPr>
          <a:xfrm flipH="1">
            <a:off x="2484782" y="3134208"/>
            <a:ext cx="1" cy="846619"/>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10" name="Straight Arrow Connector 9">
            <a:extLst>
              <a:ext uri="{FF2B5EF4-FFF2-40B4-BE49-F238E27FC236}">
                <a16:creationId xmlns:a16="http://schemas.microsoft.com/office/drawing/2014/main" id="{225A857F-FB27-52AB-65BC-C7C7795D33C2}"/>
              </a:ext>
            </a:extLst>
          </p:cNvPr>
          <p:cNvCxnSpPr>
            <a:cxnSpLocks/>
          </p:cNvCxnSpPr>
          <p:nvPr/>
        </p:nvCxnSpPr>
        <p:spPr>
          <a:xfrm flipH="1">
            <a:off x="6539946" y="3134208"/>
            <a:ext cx="1" cy="846619"/>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20754489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5"/>
          <p:cNvSpPr>
            <a:spLocks noChangeArrowheads="1"/>
          </p:cNvSpPr>
          <p:nvPr/>
        </p:nvSpPr>
        <p:spPr bwMode="auto">
          <a:xfrm>
            <a:off x="373063" y="152400"/>
            <a:ext cx="6853237"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ja-JP" sz="3600">
                <a:solidFill>
                  <a:srgbClr val="4D4D4D"/>
                </a:solidFill>
                <a:latin typeface="Georgia" pitchFamily="18" charset="0"/>
                <a:ea typeface="PMingLiU" pitchFamily="18" charset="-120"/>
              </a:rPr>
              <a:t>Proposed Solution</a:t>
            </a:r>
            <a:endParaRPr lang="en-US" altLang="zh-TW" sz="3600">
              <a:solidFill>
                <a:srgbClr val="4D4D4D"/>
              </a:solidFill>
              <a:latin typeface="Georgia" pitchFamily="18" charset="0"/>
              <a:ea typeface="PMingLiU" pitchFamily="18" charset="-120"/>
            </a:endParaRPr>
          </a:p>
        </p:txBody>
      </p:sp>
      <p:sp>
        <p:nvSpPr>
          <p:cNvPr id="2" name="AutoShape 2" descr="Inline image 1"/>
          <p:cNvSpPr>
            <a:spLocks noChangeAspect="1" noChangeArrowheads="1"/>
          </p:cNvSpPr>
          <p:nvPr/>
        </p:nvSpPr>
        <p:spPr bwMode="auto">
          <a:xfrm>
            <a:off x="155575" y="-144463"/>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10" descr="https://www.uni-marburg.de/sprachenzentrum/sprachen-tandem/icons/classic-timer-icon"/>
          <p:cNvSpPr>
            <a:spLocks noChangeAspect="1" noChangeArrowheads="1"/>
          </p:cNvSpPr>
          <p:nvPr/>
        </p:nvSpPr>
        <p:spPr bwMode="auto">
          <a:xfrm>
            <a:off x="307975" y="7937"/>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B2FE87E7-5A97-DDFD-B25A-87FEAC03CC07}"/>
              </a:ext>
            </a:extLst>
          </p:cNvPr>
          <p:cNvSpPr txBox="1"/>
          <p:nvPr/>
        </p:nvSpPr>
        <p:spPr>
          <a:xfrm>
            <a:off x="4572000" y="2126974"/>
            <a:ext cx="4035287" cy="3970318"/>
          </a:xfrm>
          <a:prstGeom prst="rect">
            <a:avLst/>
          </a:prstGeom>
          <a:noFill/>
        </p:spPr>
        <p:txBody>
          <a:bodyPr wrap="square" rtlCol="0">
            <a:spAutoFit/>
          </a:bodyPr>
          <a:lstStyle/>
          <a:p>
            <a:pPr marL="285750" indent="-285750">
              <a:buFont typeface="Arial" panose="020B0604020202020204" pitchFamily="34" charset="0"/>
              <a:buChar char="•"/>
            </a:pPr>
            <a:r>
              <a:rPr lang="en-US" b="1"/>
              <a:t>Modular Pipeline: </a:t>
            </a:r>
            <a:r>
              <a:rPr lang="en-US"/>
              <a:t>Breaks down paper -&gt; metadata -&gt; structured prompt -&gt; review</a:t>
            </a:r>
            <a:endParaRPr lang="en-US" b="1"/>
          </a:p>
          <a:p>
            <a:pPr marL="285750" indent="-285750">
              <a:buFont typeface="Arial" panose="020B0604020202020204" pitchFamily="34" charset="0"/>
              <a:buChar char="•"/>
            </a:pPr>
            <a:r>
              <a:rPr lang="en-US" b="1"/>
              <a:t>Structured Prompting: </a:t>
            </a:r>
            <a:r>
              <a:rPr lang="en-US"/>
              <a:t>Uses a handcrafted, section-wise prompt covering Summary, Contributions, Weaknesses, etc.</a:t>
            </a:r>
            <a:endParaRPr lang="en-US" b="1"/>
          </a:p>
          <a:p>
            <a:pPr marL="285750" indent="-285750">
              <a:buFont typeface="Arial" panose="020B0604020202020204" pitchFamily="34" charset="0"/>
              <a:buChar char="•"/>
            </a:pPr>
            <a:r>
              <a:rPr lang="en-US" b="1"/>
              <a:t>Improved Evaluation: </a:t>
            </a:r>
            <a:r>
              <a:rPr lang="en-US"/>
              <a:t>Compared to baseline, better completeness, depth, and relevance across sections</a:t>
            </a:r>
            <a:endParaRPr lang="en-US" b="1"/>
          </a:p>
          <a:p>
            <a:pPr marL="285750" indent="-285750">
              <a:buFont typeface="Arial" panose="020B0604020202020204" pitchFamily="34" charset="0"/>
              <a:buChar char="•"/>
            </a:pPr>
            <a:r>
              <a:rPr lang="en-US" b="1"/>
              <a:t>Output Format: </a:t>
            </a:r>
            <a:r>
              <a:rPr lang="en-US"/>
              <a:t>JSON + PDF/DOCX for easy human reading and future dataset creation</a:t>
            </a:r>
            <a:endParaRPr lang="en-US" b="1"/>
          </a:p>
        </p:txBody>
      </p:sp>
      <p:pic>
        <p:nvPicPr>
          <p:cNvPr id="5" name="Picture 4" descr="A black background with a black square&#10;&#10;AI-generated content may be incorrect.">
            <a:extLst>
              <a:ext uri="{FF2B5EF4-FFF2-40B4-BE49-F238E27FC236}">
                <a16:creationId xmlns:a16="http://schemas.microsoft.com/office/drawing/2014/main" id="{09B9EC42-4116-C8FA-9388-84B735023018}"/>
              </a:ext>
            </a:extLst>
          </p:cNvPr>
          <p:cNvPicPr>
            <a:picLocks noChangeAspect="1"/>
          </p:cNvPicPr>
          <p:nvPr/>
        </p:nvPicPr>
        <p:blipFill>
          <a:blip r:embed="rId3"/>
          <a:stretch>
            <a:fillRect/>
          </a:stretch>
        </p:blipFill>
        <p:spPr>
          <a:xfrm>
            <a:off x="823790" y="2517952"/>
            <a:ext cx="746071" cy="746071"/>
          </a:xfrm>
          <a:prstGeom prst="rect">
            <a:avLst/>
          </a:prstGeom>
        </p:spPr>
      </p:pic>
      <p:pic>
        <p:nvPicPr>
          <p:cNvPr id="6" name="Picture 5" descr="A black background with a black square&#10;&#10;AI-generated content may be incorrect.">
            <a:extLst>
              <a:ext uri="{FF2B5EF4-FFF2-40B4-BE49-F238E27FC236}">
                <a16:creationId xmlns:a16="http://schemas.microsoft.com/office/drawing/2014/main" id="{370B8746-88FA-17BA-738C-0EF510E85A8C}"/>
              </a:ext>
            </a:extLst>
          </p:cNvPr>
          <p:cNvPicPr>
            <a:picLocks noChangeAspect="1"/>
          </p:cNvPicPr>
          <p:nvPr/>
        </p:nvPicPr>
        <p:blipFill>
          <a:blip r:embed="rId4"/>
          <a:stretch>
            <a:fillRect/>
          </a:stretch>
        </p:blipFill>
        <p:spPr>
          <a:xfrm>
            <a:off x="3050208" y="2517953"/>
            <a:ext cx="746070" cy="746070"/>
          </a:xfrm>
          <a:prstGeom prst="rect">
            <a:avLst/>
          </a:prstGeom>
        </p:spPr>
      </p:pic>
      <p:pic>
        <p:nvPicPr>
          <p:cNvPr id="7" name="Picture 6" descr="A black background with a black square&#10;&#10;AI-generated content may be incorrect.">
            <a:extLst>
              <a:ext uri="{FF2B5EF4-FFF2-40B4-BE49-F238E27FC236}">
                <a16:creationId xmlns:a16="http://schemas.microsoft.com/office/drawing/2014/main" id="{7E20CA20-DF06-F74C-2772-717DC5DBFD1A}"/>
              </a:ext>
            </a:extLst>
          </p:cNvPr>
          <p:cNvPicPr>
            <a:picLocks noChangeAspect="1"/>
          </p:cNvPicPr>
          <p:nvPr/>
        </p:nvPicPr>
        <p:blipFill>
          <a:blip r:embed="rId5"/>
          <a:stretch>
            <a:fillRect/>
          </a:stretch>
        </p:blipFill>
        <p:spPr>
          <a:xfrm>
            <a:off x="3048763" y="4615583"/>
            <a:ext cx="746070" cy="746070"/>
          </a:xfrm>
          <a:prstGeom prst="rect">
            <a:avLst/>
          </a:prstGeom>
        </p:spPr>
      </p:pic>
      <p:pic>
        <p:nvPicPr>
          <p:cNvPr id="8" name="Picture 7" descr="A black background with a black square&#10;&#10;AI-generated content may be incorrect.">
            <a:extLst>
              <a:ext uri="{FF2B5EF4-FFF2-40B4-BE49-F238E27FC236}">
                <a16:creationId xmlns:a16="http://schemas.microsoft.com/office/drawing/2014/main" id="{F5886F37-BE57-B3FE-27F0-C72E4C285757}"/>
              </a:ext>
            </a:extLst>
          </p:cNvPr>
          <p:cNvPicPr>
            <a:picLocks noChangeAspect="1"/>
          </p:cNvPicPr>
          <p:nvPr/>
        </p:nvPicPr>
        <p:blipFill>
          <a:blip r:embed="rId6"/>
          <a:stretch>
            <a:fillRect/>
          </a:stretch>
        </p:blipFill>
        <p:spPr>
          <a:xfrm>
            <a:off x="823791" y="4615583"/>
            <a:ext cx="746070" cy="746070"/>
          </a:xfrm>
          <a:prstGeom prst="rect">
            <a:avLst/>
          </a:prstGeom>
        </p:spPr>
      </p:pic>
      <p:cxnSp>
        <p:nvCxnSpPr>
          <p:cNvPr id="18" name="Straight Arrow Connector 17">
            <a:extLst>
              <a:ext uri="{FF2B5EF4-FFF2-40B4-BE49-F238E27FC236}">
                <a16:creationId xmlns:a16="http://schemas.microsoft.com/office/drawing/2014/main" id="{C1400A96-049A-E99F-D061-3AEE9807E9A3}"/>
              </a:ext>
            </a:extLst>
          </p:cNvPr>
          <p:cNvCxnSpPr/>
          <p:nvPr/>
        </p:nvCxnSpPr>
        <p:spPr>
          <a:xfrm>
            <a:off x="1782501" y="2905246"/>
            <a:ext cx="1145894" cy="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19" name="Straight Arrow Connector 18">
            <a:extLst>
              <a:ext uri="{FF2B5EF4-FFF2-40B4-BE49-F238E27FC236}">
                <a16:creationId xmlns:a16="http://schemas.microsoft.com/office/drawing/2014/main" id="{D80725B9-F6F5-2B19-6638-63EF608A24D2}"/>
              </a:ext>
            </a:extLst>
          </p:cNvPr>
          <p:cNvCxnSpPr>
            <a:cxnSpLocks/>
          </p:cNvCxnSpPr>
          <p:nvPr/>
        </p:nvCxnSpPr>
        <p:spPr>
          <a:xfrm flipH="1">
            <a:off x="1782501" y="5048491"/>
            <a:ext cx="1145894" cy="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20" name="Straight Arrow Connector 19">
            <a:extLst>
              <a:ext uri="{FF2B5EF4-FFF2-40B4-BE49-F238E27FC236}">
                <a16:creationId xmlns:a16="http://schemas.microsoft.com/office/drawing/2014/main" id="{40990822-20A1-82A0-E03C-B29864C779BF}"/>
              </a:ext>
            </a:extLst>
          </p:cNvPr>
          <p:cNvCxnSpPr>
            <a:cxnSpLocks/>
          </p:cNvCxnSpPr>
          <p:nvPr/>
        </p:nvCxnSpPr>
        <p:spPr>
          <a:xfrm rot="16200000" flipH="1">
            <a:off x="2848850" y="3939803"/>
            <a:ext cx="1145894" cy="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
        <p:nvSpPr>
          <p:cNvPr id="21" name="TextBox 20">
            <a:extLst>
              <a:ext uri="{FF2B5EF4-FFF2-40B4-BE49-F238E27FC236}">
                <a16:creationId xmlns:a16="http://schemas.microsoft.com/office/drawing/2014/main" id="{3D314C66-4BB8-7666-392A-4CA41F4B909E}"/>
              </a:ext>
            </a:extLst>
          </p:cNvPr>
          <p:cNvSpPr txBox="1"/>
          <p:nvPr/>
        </p:nvSpPr>
        <p:spPr>
          <a:xfrm>
            <a:off x="373063" y="2004617"/>
            <a:ext cx="1390124" cy="369332"/>
          </a:xfrm>
          <a:prstGeom prst="rect">
            <a:avLst/>
          </a:prstGeom>
          <a:noFill/>
        </p:spPr>
        <p:txBody>
          <a:bodyPr wrap="none" rtlCol="0">
            <a:spAutoFit/>
          </a:bodyPr>
          <a:lstStyle/>
          <a:p>
            <a:r>
              <a:rPr lang="en-US"/>
              <a:t>PDF Parser</a:t>
            </a:r>
          </a:p>
        </p:txBody>
      </p:sp>
      <p:sp>
        <p:nvSpPr>
          <p:cNvPr id="22" name="TextBox 21">
            <a:extLst>
              <a:ext uri="{FF2B5EF4-FFF2-40B4-BE49-F238E27FC236}">
                <a16:creationId xmlns:a16="http://schemas.microsoft.com/office/drawing/2014/main" id="{5C337F20-55C9-6519-AA4B-7ED48193C8DC}"/>
              </a:ext>
            </a:extLst>
          </p:cNvPr>
          <p:cNvSpPr txBox="1"/>
          <p:nvPr/>
        </p:nvSpPr>
        <p:spPr>
          <a:xfrm>
            <a:off x="2406135" y="2018388"/>
            <a:ext cx="2031325" cy="369332"/>
          </a:xfrm>
          <a:prstGeom prst="rect">
            <a:avLst/>
          </a:prstGeom>
          <a:noFill/>
        </p:spPr>
        <p:txBody>
          <a:bodyPr wrap="none" rtlCol="0">
            <a:spAutoFit/>
          </a:bodyPr>
          <a:lstStyle/>
          <a:p>
            <a:r>
              <a:rPr lang="en-US"/>
              <a:t>Prompt Generator</a:t>
            </a:r>
          </a:p>
        </p:txBody>
      </p:sp>
      <p:sp>
        <p:nvSpPr>
          <p:cNvPr id="23" name="TextBox 22">
            <a:extLst>
              <a:ext uri="{FF2B5EF4-FFF2-40B4-BE49-F238E27FC236}">
                <a16:creationId xmlns:a16="http://schemas.microsoft.com/office/drawing/2014/main" id="{07CA44BB-8961-046D-13CD-0DFC2F2CC83D}"/>
              </a:ext>
            </a:extLst>
          </p:cNvPr>
          <p:cNvSpPr txBox="1"/>
          <p:nvPr/>
        </p:nvSpPr>
        <p:spPr>
          <a:xfrm>
            <a:off x="2611317" y="5491886"/>
            <a:ext cx="1620957" cy="369332"/>
          </a:xfrm>
          <a:prstGeom prst="rect">
            <a:avLst/>
          </a:prstGeom>
          <a:noFill/>
        </p:spPr>
        <p:txBody>
          <a:bodyPr wrap="none" rtlCol="0">
            <a:spAutoFit/>
          </a:bodyPr>
          <a:lstStyle/>
          <a:p>
            <a:r>
              <a:rPr lang="en-US"/>
              <a:t>JSON Review</a:t>
            </a:r>
          </a:p>
        </p:txBody>
      </p:sp>
      <p:sp>
        <p:nvSpPr>
          <p:cNvPr id="24" name="TextBox 23">
            <a:extLst>
              <a:ext uri="{FF2B5EF4-FFF2-40B4-BE49-F238E27FC236}">
                <a16:creationId xmlns:a16="http://schemas.microsoft.com/office/drawing/2014/main" id="{79DD951D-F9EE-AF85-DB5B-072EA476A0C5}"/>
              </a:ext>
            </a:extLst>
          </p:cNvPr>
          <p:cNvSpPr txBox="1"/>
          <p:nvPr/>
        </p:nvSpPr>
        <p:spPr>
          <a:xfrm>
            <a:off x="386346" y="5508418"/>
            <a:ext cx="1992853" cy="369332"/>
          </a:xfrm>
          <a:prstGeom prst="rect">
            <a:avLst/>
          </a:prstGeom>
          <a:noFill/>
        </p:spPr>
        <p:txBody>
          <a:bodyPr wrap="none" rtlCol="0">
            <a:spAutoFit/>
          </a:bodyPr>
          <a:lstStyle/>
          <a:p>
            <a:r>
              <a:rPr lang="en-US"/>
              <a:t>Formatted Output</a:t>
            </a:r>
          </a:p>
        </p:txBody>
      </p:sp>
    </p:spTree>
    <p:extLst>
      <p:ext uri="{BB962C8B-B14F-4D97-AF65-F5344CB8AC3E}">
        <p14:creationId xmlns:p14="http://schemas.microsoft.com/office/powerpoint/2010/main" val="945773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036C4-CD5C-2C30-D176-F7BDD68D7426}"/>
            </a:ext>
          </a:extLst>
        </p:cNvPr>
        <p:cNvGrpSpPr/>
        <p:nvPr/>
      </p:nvGrpSpPr>
      <p:grpSpPr>
        <a:xfrm>
          <a:off x="0" y="0"/>
          <a:ext cx="0" cy="0"/>
          <a:chOff x="0" y="0"/>
          <a:chExt cx="0" cy="0"/>
        </a:xfrm>
      </p:grpSpPr>
      <p:sp>
        <p:nvSpPr>
          <p:cNvPr id="3074" name="Rectangle 19">
            <a:extLst>
              <a:ext uri="{FF2B5EF4-FFF2-40B4-BE49-F238E27FC236}">
                <a16:creationId xmlns:a16="http://schemas.microsoft.com/office/drawing/2014/main" id="{DACE5946-28C7-4275-8CB1-B5843D464837}"/>
              </a:ext>
            </a:extLst>
          </p:cNvPr>
          <p:cNvSpPr>
            <a:spLocks noChangeArrowheads="1"/>
          </p:cNvSpPr>
          <p:nvPr/>
        </p:nvSpPr>
        <p:spPr bwMode="auto">
          <a:xfrm>
            <a:off x="373063" y="152400"/>
            <a:ext cx="8389937"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lnSpc>
                <a:spcPct val="150000"/>
              </a:lnSpc>
              <a:defRPr/>
            </a:pPr>
            <a:r>
              <a:rPr lang="en-US" altLang="zh-TW" sz="3200">
                <a:solidFill>
                  <a:srgbClr val="4D4D4D"/>
                </a:solidFill>
                <a:latin typeface="Georgia" pitchFamily="18" charset="0"/>
                <a:ea typeface="PMingLiU" pitchFamily="18" charset="-120"/>
              </a:rPr>
              <a:t>Implementation: System Component Overview</a:t>
            </a:r>
          </a:p>
        </p:txBody>
      </p:sp>
      <p:sp>
        <p:nvSpPr>
          <p:cNvPr id="3075" name="Content Placeholder 1">
            <a:extLst>
              <a:ext uri="{FF2B5EF4-FFF2-40B4-BE49-F238E27FC236}">
                <a16:creationId xmlns:a16="http://schemas.microsoft.com/office/drawing/2014/main" id="{C81451E8-96A2-41DB-3EC7-D42FF972DD7E}"/>
              </a:ext>
            </a:extLst>
          </p:cNvPr>
          <p:cNvSpPr>
            <a:spLocks noGrp="1"/>
          </p:cNvSpPr>
          <p:nvPr>
            <p:ph/>
          </p:nvPr>
        </p:nvSpPr>
        <p:spPr>
          <a:xfrm>
            <a:off x="4005072" y="1767713"/>
            <a:ext cx="4757928" cy="4419600"/>
          </a:xfrm>
        </p:spPr>
        <p:txBody>
          <a:bodyPr/>
          <a:lstStyle/>
          <a:p>
            <a:pPr eaLnBrk="1" hangingPunct="1">
              <a:lnSpc>
                <a:spcPct val="150000"/>
              </a:lnSpc>
              <a:buFont typeface="Wingdings" charset="0"/>
              <a:buChar char="§"/>
              <a:defRPr/>
            </a:pPr>
            <a:r>
              <a:rPr lang="en-US" altLang="zh-TW" sz="2000" err="1">
                <a:solidFill>
                  <a:srgbClr val="4D4D4D"/>
                </a:solidFill>
                <a:latin typeface="Georgia" charset="0"/>
                <a:ea typeface="新細明體" charset="0"/>
                <a:cs typeface="新細明體" charset="0"/>
              </a:rPr>
              <a:t>PaperParser</a:t>
            </a:r>
            <a:r>
              <a:rPr lang="en-US" altLang="zh-TW" sz="2000">
                <a:solidFill>
                  <a:srgbClr val="4D4D4D"/>
                </a:solidFill>
                <a:latin typeface="Georgia" charset="0"/>
                <a:ea typeface="新細明體" charset="0"/>
                <a:cs typeface="新細明體" charset="0"/>
              </a:rPr>
              <a:t>: extracts text</a:t>
            </a:r>
          </a:p>
          <a:p>
            <a:pPr eaLnBrk="1" hangingPunct="1">
              <a:lnSpc>
                <a:spcPct val="150000"/>
              </a:lnSpc>
              <a:buFont typeface="Wingdings" charset="0"/>
              <a:buChar char="§"/>
              <a:defRPr/>
            </a:pPr>
            <a:r>
              <a:rPr lang="en-US" altLang="zh-TW" sz="2000" err="1">
                <a:solidFill>
                  <a:srgbClr val="4D4D4D"/>
                </a:solidFill>
                <a:latin typeface="Georgia" charset="0"/>
                <a:ea typeface="新細明體" charset="0"/>
                <a:cs typeface="新細明體" charset="0"/>
              </a:rPr>
              <a:t>PromptBuilder</a:t>
            </a:r>
            <a:r>
              <a:rPr lang="en-US" altLang="zh-TW" sz="2000">
                <a:solidFill>
                  <a:srgbClr val="4D4D4D"/>
                </a:solidFill>
                <a:latin typeface="Georgia" charset="0"/>
                <a:ea typeface="新細明體" charset="0"/>
                <a:cs typeface="新細明體" charset="0"/>
              </a:rPr>
              <a:t>: generates prompts</a:t>
            </a:r>
          </a:p>
          <a:p>
            <a:pPr eaLnBrk="1" hangingPunct="1">
              <a:lnSpc>
                <a:spcPct val="150000"/>
              </a:lnSpc>
              <a:buFont typeface="Wingdings" charset="0"/>
              <a:buChar char="§"/>
              <a:defRPr/>
            </a:pPr>
            <a:r>
              <a:rPr lang="en-US" altLang="zh-TW" sz="2000" err="1">
                <a:solidFill>
                  <a:srgbClr val="4D4D4D"/>
                </a:solidFill>
                <a:latin typeface="Georgia" charset="0"/>
                <a:ea typeface="新細明體" charset="0"/>
                <a:cs typeface="新細明體" charset="0"/>
              </a:rPr>
              <a:t>chunk_and_merge</a:t>
            </a:r>
            <a:r>
              <a:rPr lang="en-US" altLang="zh-TW" sz="2000">
                <a:solidFill>
                  <a:srgbClr val="4D4D4D"/>
                </a:solidFill>
                <a:latin typeface="Georgia" charset="0"/>
                <a:ea typeface="新細明體" charset="0"/>
                <a:cs typeface="新細明體" charset="0"/>
              </a:rPr>
              <a:t>: handles long inputs</a:t>
            </a:r>
          </a:p>
          <a:p>
            <a:pPr eaLnBrk="1" hangingPunct="1">
              <a:lnSpc>
                <a:spcPct val="150000"/>
              </a:lnSpc>
              <a:buFont typeface="Wingdings" charset="0"/>
              <a:buChar char="§"/>
              <a:defRPr/>
            </a:pPr>
            <a:r>
              <a:rPr lang="en-US" altLang="zh-TW" sz="2000" err="1">
                <a:solidFill>
                  <a:srgbClr val="4D4D4D"/>
                </a:solidFill>
                <a:latin typeface="Georgia" charset="0"/>
                <a:ea typeface="新細明體" charset="0"/>
                <a:cs typeface="新細明體" charset="0"/>
              </a:rPr>
              <a:t>PaperReviewer</a:t>
            </a:r>
            <a:r>
              <a:rPr lang="en-US" altLang="zh-TW" sz="2000">
                <a:solidFill>
                  <a:srgbClr val="4D4D4D"/>
                </a:solidFill>
                <a:latin typeface="Georgia" charset="0"/>
                <a:ea typeface="新細明體" charset="0"/>
                <a:cs typeface="新細明體" charset="0"/>
              </a:rPr>
              <a:t>: sends LLM calls</a:t>
            </a:r>
          </a:p>
          <a:p>
            <a:pPr eaLnBrk="1" hangingPunct="1">
              <a:lnSpc>
                <a:spcPct val="150000"/>
              </a:lnSpc>
              <a:buFont typeface="Wingdings" charset="0"/>
              <a:buChar char="§"/>
              <a:defRPr/>
            </a:pPr>
            <a:r>
              <a:rPr lang="en-US" altLang="zh-TW" sz="2000">
                <a:solidFill>
                  <a:srgbClr val="4D4D4D"/>
                </a:solidFill>
                <a:latin typeface="Georgia" charset="0"/>
                <a:ea typeface="新細明體" charset="0"/>
                <a:cs typeface="新細明體" charset="0"/>
              </a:rPr>
              <a:t>Evaluator: computes ROUGE/</a:t>
            </a:r>
            <a:r>
              <a:rPr lang="en-US" altLang="zh-TW" sz="2000" err="1">
                <a:solidFill>
                  <a:srgbClr val="4D4D4D"/>
                </a:solidFill>
                <a:latin typeface="Georgia" charset="0"/>
                <a:ea typeface="新細明體" charset="0"/>
                <a:cs typeface="新細明體" charset="0"/>
              </a:rPr>
              <a:t>BERTScore</a:t>
            </a:r>
            <a:endParaRPr lang="en-US" altLang="zh-TW" sz="2000">
              <a:solidFill>
                <a:srgbClr val="4D4D4D"/>
              </a:solidFill>
              <a:latin typeface="Georgia" charset="0"/>
              <a:ea typeface="新細明體" charset="0"/>
              <a:cs typeface="新細明體" charset="0"/>
            </a:endParaRPr>
          </a:p>
        </p:txBody>
      </p:sp>
      <p:sp>
        <p:nvSpPr>
          <p:cNvPr id="2" name="Slide Number Placeholder 1">
            <a:extLst>
              <a:ext uri="{FF2B5EF4-FFF2-40B4-BE49-F238E27FC236}">
                <a16:creationId xmlns:a16="http://schemas.microsoft.com/office/drawing/2014/main" id="{C60BDD56-C617-1258-EC3D-A31E9499B851}"/>
              </a:ext>
            </a:extLst>
          </p:cNvPr>
          <p:cNvSpPr>
            <a:spLocks noGrp="1"/>
          </p:cNvSpPr>
          <p:nvPr>
            <p:ph type="sldNum" sz="quarter" idx="12"/>
          </p:nvPr>
        </p:nvSpPr>
        <p:spPr/>
        <p:txBody>
          <a:bodyPr/>
          <a:lstStyle/>
          <a:p>
            <a:fld id="{B95760C2-38E4-496F-933D-2305F303D3F1}" type="slidenum">
              <a:rPr lang="zh-TW" altLang="en-US" smtClean="0"/>
              <a:pPr/>
              <a:t>8</a:t>
            </a:fld>
            <a:endParaRPr lang="en-US" altLang="zh-TW"/>
          </a:p>
        </p:txBody>
      </p:sp>
      <p:pic>
        <p:nvPicPr>
          <p:cNvPr id="3" name="Picture 2">
            <a:extLst>
              <a:ext uri="{FF2B5EF4-FFF2-40B4-BE49-F238E27FC236}">
                <a16:creationId xmlns:a16="http://schemas.microsoft.com/office/drawing/2014/main" id="{2CF4131E-6ED7-A592-00B8-DF8F3B46685A}"/>
              </a:ext>
            </a:extLst>
          </p:cNvPr>
          <p:cNvPicPr>
            <a:picLocks noChangeAspect="1"/>
          </p:cNvPicPr>
          <p:nvPr/>
        </p:nvPicPr>
        <p:blipFill>
          <a:blip r:embed="rId3"/>
          <a:stretch>
            <a:fillRect/>
          </a:stretch>
        </p:blipFill>
        <p:spPr>
          <a:xfrm>
            <a:off x="635981" y="1953768"/>
            <a:ext cx="3216594" cy="4041648"/>
          </a:xfrm>
          <a:prstGeom prst="rect">
            <a:avLst/>
          </a:prstGeom>
        </p:spPr>
      </p:pic>
    </p:spTree>
    <p:extLst>
      <p:ext uri="{BB962C8B-B14F-4D97-AF65-F5344CB8AC3E}">
        <p14:creationId xmlns:p14="http://schemas.microsoft.com/office/powerpoint/2010/main" val="1520713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9"/>
          <p:cNvSpPr>
            <a:spLocks noChangeArrowheads="1"/>
          </p:cNvSpPr>
          <p:nvPr/>
        </p:nvSpPr>
        <p:spPr bwMode="auto">
          <a:xfrm>
            <a:off x="373063" y="152400"/>
            <a:ext cx="8389937"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lnSpc>
                <a:spcPct val="150000"/>
              </a:lnSpc>
              <a:defRPr/>
            </a:pPr>
            <a:r>
              <a:rPr lang="en-US" altLang="zh-TW" sz="3200">
                <a:solidFill>
                  <a:srgbClr val="4D4D4D"/>
                </a:solidFill>
                <a:latin typeface="Georgia" pitchFamily="18" charset="0"/>
                <a:ea typeface="PMingLiU" pitchFamily="18" charset="-120"/>
              </a:rPr>
              <a:t>Implementation: Prompt Engineering</a:t>
            </a:r>
          </a:p>
        </p:txBody>
      </p:sp>
      <p:pic>
        <p:nvPicPr>
          <p:cNvPr id="3" name="Content Placeholder 2">
            <a:extLst>
              <a:ext uri="{FF2B5EF4-FFF2-40B4-BE49-F238E27FC236}">
                <a16:creationId xmlns:a16="http://schemas.microsoft.com/office/drawing/2014/main" id="{5B771B4D-BE2F-C804-FEAE-E945C33C2FD0}"/>
              </a:ext>
            </a:extLst>
          </p:cNvPr>
          <p:cNvPicPr>
            <a:picLocks noGrp="1" noChangeAspect="1"/>
          </p:cNvPicPr>
          <p:nvPr>
            <p:ph/>
          </p:nvPr>
        </p:nvPicPr>
        <p:blipFill>
          <a:blip r:embed="rId3"/>
          <a:stretch>
            <a:fillRect/>
          </a:stretch>
        </p:blipFill>
        <p:spPr>
          <a:xfrm>
            <a:off x="373063" y="1845500"/>
            <a:ext cx="4148636" cy="2325751"/>
          </a:xfrm>
          <a:prstGeom prst="rect">
            <a:avLst/>
          </a:prstGeom>
        </p:spPr>
      </p:pic>
      <p:sp>
        <p:nvSpPr>
          <p:cNvPr id="2" name="Slide Number Placeholder 1"/>
          <p:cNvSpPr>
            <a:spLocks noGrp="1"/>
          </p:cNvSpPr>
          <p:nvPr>
            <p:ph type="sldNum" sz="quarter" idx="12"/>
          </p:nvPr>
        </p:nvSpPr>
        <p:spPr/>
        <p:txBody>
          <a:bodyPr/>
          <a:lstStyle/>
          <a:p>
            <a:fld id="{B95760C2-38E4-496F-933D-2305F303D3F1}" type="slidenum">
              <a:rPr lang="zh-TW" altLang="en-US" smtClean="0"/>
              <a:pPr/>
              <a:t>9</a:t>
            </a:fld>
            <a:endParaRPr lang="en-US" altLang="zh-TW"/>
          </a:p>
        </p:txBody>
      </p:sp>
      <p:sp>
        <p:nvSpPr>
          <p:cNvPr id="4" name="TextBox 3">
            <a:extLst>
              <a:ext uri="{FF2B5EF4-FFF2-40B4-BE49-F238E27FC236}">
                <a16:creationId xmlns:a16="http://schemas.microsoft.com/office/drawing/2014/main" id="{3E70BC87-34CA-A3A3-F353-FECC91B85CA6}"/>
              </a:ext>
            </a:extLst>
          </p:cNvPr>
          <p:cNvSpPr txBox="1"/>
          <p:nvPr/>
        </p:nvSpPr>
        <p:spPr>
          <a:xfrm>
            <a:off x="4828032" y="1845500"/>
            <a:ext cx="3858768" cy="5078313"/>
          </a:xfrm>
          <a:prstGeom prst="rect">
            <a:avLst/>
          </a:prstGeom>
          <a:noFill/>
        </p:spPr>
        <p:txBody>
          <a:bodyPr wrap="square" rtlCol="0">
            <a:spAutoFit/>
          </a:bodyPr>
          <a:lstStyle/>
          <a:p>
            <a:r>
              <a:rPr lang="en-US" b="1"/>
              <a:t>Motivation</a:t>
            </a:r>
          </a:p>
          <a:p>
            <a:r>
              <a:rPr lang="en-US"/>
              <a:t>-   Generic prompts yield vague or shallow outputs</a:t>
            </a:r>
          </a:p>
          <a:p>
            <a:pPr marL="285750" indent="-285750">
              <a:buFontTx/>
              <a:buChar char="-"/>
            </a:pPr>
            <a:r>
              <a:rPr lang="en-US"/>
              <a:t>Our goal: enforce structure, completeness, and academic toned</a:t>
            </a:r>
          </a:p>
          <a:p>
            <a:r>
              <a:rPr lang="en-US" b="1"/>
              <a:t>Structured Prompt Design</a:t>
            </a:r>
          </a:p>
          <a:p>
            <a:r>
              <a:rPr lang="en-US"/>
              <a:t>-   Summary, Key Contributions, Technical Soundness, Reproducibility, etc.</a:t>
            </a:r>
          </a:p>
          <a:p>
            <a:r>
              <a:rPr lang="en-US" b="1"/>
              <a:t>Execution</a:t>
            </a:r>
            <a:endParaRPr lang="en-US"/>
          </a:p>
          <a:p>
            <a:pPr marL="285750" indent="-285750">
              <a:buFontTx/>
              <a:buChar char="-"/>
            </a:pPr>
            <a:r>
              <a:rPr lang="en-US"/>
              <a:t>Used GPT-4.1 for response generation</a:t>
            </a:r>
          </a:p>
          <a:p>
            <a:r>
              <a:rPr lang="en-US" b="1"/>
              <a:t>Outcome</a:t>
            </a:r>
          </a:p>
          <a:p>
            <a:r>
              <a:rPr lang="en-US"/>
              <a:t>- Significantly more complete, well-organized, and insightful reviews</a:t>
            </a:r>
          </a:p>
          <a:p>
            <a:pPr marL="285750" indent="-285750">
              <a:buFontTx/>
              <a:buChar char="-"/>
            </a:pPr>
            <a:endParaRPr lang="en-US" b="1"/>
          </a:p>
          <a:p>
            <a:endParaRPr lang="en-US" b="1"/>
          </a:p>
        </p:txBody>
      </p:sp>
      <p:pic>
        <p:nvPicPr>
          <p:cNvPr id="5" name="Picture 4">
            <a:extLst>
              <a:ext uri="{FF2B5EF4-FFF2-40B4-BE49-F238E27FC236}">
                <a16:creationId xmlns:a16="http://schemas.microsoft.com/office/drawing/2014/main" id="{9131346A-5997-1177-5D71-80FCA4841A64}"/>
              </a:ext>
            </a:extLst>
          </p:cNvPr>
          <p:cNvPicPr>
            <a:picLocks noChangeAspect="1"/>
          </p:cNvPicPr>
          <p:nvPr/>
        </p:nvPicPr>
        <p:blipFill>
          <a:blip r:embed="rId4"/>
          <a:stretch>
            <a:fillRect/>
          </a:stretch>
        </p:blipFill>
        <p:spPr>
          <a:xfrm>
            <a:off x="243931" y="4384656"/>
            <a:ext cx="4406900" cy="20066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9"/>
          <p:cNvSpPr>
            <a:spLocks noChangeArrowheads="1"/>
          </p:cNvSpPr>
          <p:nvPr/>
        </p:nvSpPr>
        <p:spPr bwMode="auto">
          <a:xfrm>
            <a:off x="373063" y="152400"/>
            <a:ext cx="6853237"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lnSpc>
                <a:spcPct val="150000"/>
              </a:lnSpc>
              <a:defRPr/>
            </a:pPr>
            <a:r>
              <a:rPr lang="en-US" altLang="zh-TW" sz="3600">
                <a:solidFill>
                  <a:srgbClr val="4D4D4D"/>
                </a:solidFill>
                <a:latin typeface="Georgia" pitchFamily="18" charset="0"/>
                <a:ea typeface="PMingLiU" pitchFamily="18" charset="-120"/>
              </a:rPr>
              <a:t>Data Summary</a:t>
            </a:r>
          </a:p>
        </p:txBody>
      </p:sp>
      <p:sp>
        <p:nvSpPr>
          <p:cNvPr id="3075" name="Content Placeholder 1"/>
          <p:cNvSpPr>
            <a:spLocks noGrp="1"/>
          </p:cNvSpPr>
          <p:nvPr>
            <p:ph/>
          </p:nvPr>
        </p:nvSpPr>
        <p:spPr>
          <a:xfrm>
            <a:off x="457200" y="1432496"/>
            <a:ext cx="8229600" cy="4419600"/>
          </a:xfrm>
        </p:spPr>
        <p:txBody>
          <a:bodyPr/>
          <a:lstStyle/>
          <a:p>
            <a:pPr eaLnBrk="1" hangingPunct="1">
              <a:lnSpc>
                <a:spcPct val="150000"/>
              </a:lnSpc>
              <a:buFont typeface="Wingdings" charset="0"/>
              <a:buChar char="§"/>
              <a:defRPr/>
            </a:pPr>
            <a:r>
              <a:rPr lang="en-US" altLang="zh-TW" sz="1600">
                <a:solidFill>
                  <a:srgbClr val="4D4D4D"/>
                </a:solidFill>
                <a:latin typeface="Georgia" charset="0"/>
                <a:ea typeface="新細明體" charset="0"/>
                <a:cs typeface="新細明體" charset="0"/>
              </a:rPr>
              <a:t>Corpus</a:t>
            </a:r>
          </a:p>
          <a:p>
            <a:pPr lvl="1" eaLnBrk="1" hangingPunct="1">
              <a:lnSpc>
                <a:spcPct val="150000"/>
              </a:lnSpc>
              <a:buFont typeface="Wingdings" charset="0"/>
              <a:buChar char="§"/>
              <a:defRPr/>
            </a:pPr>
            <a:r>
              <a:rPr lang="en-US" altLang="zh-TW" sz="1200">
                <a:solidFill>
                  <a:srgbClr val="4D4D4D"/>
                </a:solidFill>
                <a:latin typeface="Georgia" charset="0"/>
                <a:ea typeface="新細明體" charset="0"/>
                <a:cs typeface="新細明體" charset="0"/>
              </a:rPr>
              <a:t>10 academic papers from </a:t>
            </a:r>
            <a:r>
              <a:rPr lang="en-US" altLang="zh-TW" sz="1200" err="1">
                <a:solidFill>
                  <a:srgbClr val="4D4D4D"/>
                </a:solidFill>
                <a:latin typeface="Georgia" charset="0"/>
                <a:ea typeface="新細明體" charset="0"/>
                <a:cs typeface="新細明體" charset="0"/>
              </a:rPr>
              <a:t>arXiv</a:t>
            </a:r>
            <a:r>
              <a:rPr lang="en-US" altLang="zh-TW" sz="1200">
                <a:solidFill>
                  <a:srgbClr val="4D4D4D"/>
                </a:solidFill>
                <a:latin typeface="Georgia" charset="0"/>
                <a:ea typeface="新細明體" charset="0"/>
                <a:cs typeface="新細明體" charset="0"/>
              </a:rPr>
              <a:t> (Computer Science fields)</a:t>
            </a:r>
          </a:p>
          <a:p>
            <a:pPr lvl="1" eaLnBrk="1" hangingPunct="1">
              <a:lnSpc>
                <a:spcPct val="150000"/>
              </a:lnSpc>
              <a:buFont typeface="Wingdings" charset="0"/>
              <a:buChar char="§"/>
              <a:defRPr/>
            </a:pPr>
            <a:r>
              <a:rPr lang="en-US" altLang="zh-TW" sz="1200">
                <a:solidFill>
                  <a:srgbClr val="4D4D4D"/>
                </a:solidFill>
                <a:latin typeface="Georgia" charset="0"/>
                <a:ea typeface="新細明體" charset="0"/>
                <a:cs typeface="新細明體" charset="0"/>
              </a:rPr>
              <a:t>10 structured reviews generates using our prompt-engineered GPT-4.1 pipeline</a:t>
            </a:r>
          </a:p>
          <a:p>
            <a:pPr eaLnBrk="1" hangingPunct="1">
              <a:lnSpc>
                <a:spcPct val="150000"/>
              </a:lnSpc>
              <a:buFont typeface="Wingdings" charset="0"/>
              <a:buChar char="§"/>
              <a:defRPr/>
            </a:pPr>
            <a:r>
              <a:rPr lang="en-US" altLang="zh-TW" sz="1600">
                <a:solidFill>
                  <a:srgbClr val="4D4D4D"/>
                </a:solidFill>
                <a:latin typeface="Georgia" charset="0"/>
                <a:ea typeface="新細明體" charset="0"/>
                <a:cs typeface="新細明體" charset="0"/>
              </a:rPr>
              <a:t>Paper Details</a:t>
            </a:r>
          </a:p>
          <a:p>
            <a:pPr lvl="1" eaLnBrk="1" hangingPunct="1">
              <a:lnSpc>
                <a:spcPct val="150000"/>
              </a:lnSpc>
              <a:buFont typeface="Wingdings" charset="0"/>
              <a:buChar char="§"/>
              <a:defRPr/>
            </a:pPr>
            <a:r>
              <a:rPr lang="en-US" altLang="zh-TW" sz="1200">
                <a:solidFill>
                  <a:srgbClr val="4D4D4D"/>
                </a:solidFill>
                <a:latin typeface="Georgia" charset="0"/>
                <a:ea typeface="新細明體" charset="0"/>
                <a:cs typeface="新細明體" charset="0"/>
              </a:rPr>
              <a:t>Fields: Machine Learning, NLP, Security, etc.</a:t>
            </a:r>
          </a:p>
          <a:p>
            <a:pPr lvl="1" eaLnBrk="1" hangingPunct="1">
              <a:lnSpc>
                <a:spcPct val="150000"/>
              </a:lnSpc>
              <a:buFont typeface="Wingdings" charset="0"/>
              <a:buChar char="§"/>
              <a:defRPr/>
            </a:pPr>
            <a:r>
              <a:rPr lang="en-US" altLang="zh-TW" sz="1200">
                <a:solidFill>
                  <a:srgbClr val="4D4D4D"/>
                </a:solidFill>
                <a:latin typeface="Georgia" charset="0"/>
                <a:ea typeface="新細明體" charset="0"/>
                <a:cs typeface="新細明體" charset="0"/>
              </a:rPr>
              <a:t>Format: PDFs converted to raw text</a:t>
            </a:r>
          </a:p>
          <a:p>
            <a:pPr lvl="1" eaLnBrk="1" hangingPunct="1">
              <a:lnSpc>
                <a:spcPct val="150000"/>
              </a:lnSpc>
              <a:buFont typeface="Wingdings" charset="0"/>
              <a:buChar char="§"/>
              <a:defRPr/>
            </a:pPr>
            <a:r>
              <a:rPr lang="en-US" altLang="zh-TW" sz="1200">
                <a:solidFill>
                  <a:srgbClr val="4D4D4D"/>
                </a:solidFill>
                <a:latin typeface="Georgia" charset="0"/>
                <a:ea typeface="新細明體" charset="0"/>
                <a:cs typeface="新細明體" charset="0"/>
              </a:rPr>
              <a:t>Sections extracted: Abstract, Introduction, etc.</a:t>
            </a:r>
          </a:p>
          <a:p>
            <a:pPr eaLnBrk="1" hangingPunct="1">
              <a:lnSpc>
                <a:spcPct val="150000"/>
              </a:lnSpc>
              <a:buFont typeface="Wingdings" charset="0"/>
              <a:buChar char="§"/>
              <a:defRPr/>
            </a:pPr>
            <a:r>
              <a:rPr lang="en-US" altLang="zh-TW" sz="1600">
                <a:solidFill>
                  <a:srgbClr val="4D4D4D"/>
                </a:solidFill>
                <a:latin typeface="Georgia" charset="0"/>
                <a:ea typeface="新細明體" charset="0"/>
                <a:cs typeface="新細明體" charset="0"/>
              </a:rPr>
              <a:t>Review Structure</a:t>
            </a:r>
          </a:p>
          <a:p>
            <a:pPr lvl="1" eaLnBrk="1" hangingPunct="1">
              <a:lnSpc>
                <a:spcPct val="150000"/>
              </a:lnSpc>
              <a:buFont typeface="Wingdings" charset="0"/>
              <a:buChar char="§"/>
              <a:defRPr/>
            </a:pPr>
            <a:r>
              <a:rPr lang="en-US" altLang="zh-TW" sz="1200">
                <a:solidFill>
                  <a:srgbClr val="4D4D4D"/>
                </a:solidFill>
                <a:latin typeface="Georgia" charset="0"/>
                <a:ea typeface="新細明體" charset="0"/>
                <a:cs typeface="新細明體" charset="0"/>
              </a:rPr>
              <a:t>Each review contains: summary, contributions, technical soundness, reproducibility, impact, strengths, weaknesses, suggestions, related work</a:t>
            </a:r>
          </a:p>
          <a:p>
            <a:pPr eaLnBrk="1" hangingPunct="1">
              <a:lnSpc>
                <a:spcPct val="150000"/>
              </a:lnSpc>
              <a:buFont typeface="Wingdings" charset="0"/>
              <a:buChar char="§"/>
              <a:defRPr/>
            </a:pPr>
            <a:r>
              <a:rPr lang="en-US" altLang="zh-TW" sz="1600">
                <a:solidFill>
                  <a:srgbClr val="4D4D4D"/>
                </a:solidFill>
                <a:latin typeface="Georgia" charset="0"/>
                <a:ea typeface="新細明體" charset="0"/>
                <a:cs typeface="新細明體" charset="0"/>
              </a:rPr>
              <a:t>Metrics Extracted</a:t>
            </a:r>
          </a:p>
          <a:p>
            <a:pPr lvl="1" eaLnBrk="1" hangingPunct="1">
              <a:lnSpc>
                <a:spcPct val="150000"/>
              </a:lnSpc>
              <a:buFont typeface="Wingdings" charset="0"/>
              <a:buChar char="§"/>
              <a:defRPr/>
            </a:pPr>
            <a:r>
              <a:rPr lang="en-US" altLang="zh-TW" sz="1200">
                <a:solidFill>
                  <a:srgbClr val="4D4D4D"/>
                </a:solidFill>
                <a:latin typeface="Georgia" charset="0"/>
                <a:ea typeface="新細明體" charset="0"/>
                <a:cs typeface="新細明體" charset="0"/>
              </a:rPr>
              <a:t>ROGUE-L F1</a:t>
            </a:r>
          </a:p>
          <a:p>
            <a:pPr lvl="1" eaLnBrk="1" hangingPunct="1">
              <a:lnSpc>
                <a:spcPct val="150000"/>
              </a:lnSpc>
              <a:buFont typeface="Wingdings" charset="0"/>
              <a:buChar char="§"/>
              <a:defRPr/>
            </a:pPr>
            <a:r>
              <a:rPr lang="en-US" altLang="zh-TW" sz="1200">
                <a:solidFill>
                  <a:srgbClr val="4D4D4D"/>
                </a:solidFill>
                <a:latin typeface="Georgia" charset="0"/>
                <a:ea typeface="新細明體" charset="0"/>
                <a:cs typeface="新細明體" charset="0"/>
              </a:rPr>
              <a:t>BLEU</a:t>
            </a:r>
          </a:p>
          <a:p>
            <a:pPr lvl="1" eaLnBrk="1" hangingPunct="1">
              <a:lnSpc>
                <a:spcPct val="150000"/>
              </a:lnSpc>
              <a:buFont typeface="Wingdings" charset="0"/>
              <a:buChar char="§"/>
              <a:defRPr/>
            </a:pPr>
            <a:r>
              <a:rPr lang="en-US" altLang="zh-TW" sz="1200" err="1">
                <a:solidFill>
                  <a:srgbClr val="4D4D4D"/>
                </a:solidFill>
                <a:latin typeface="Georgia" charset="0"/>
                <a:ea typeface="新細明體" charset="0"/>
                <a:cs typeface="新細明體" charset="0"/>
              </a:rPr>
              <a:t>BERTScore</a:t>
            </a:r>
            <a:r>
              <a:rPr lang="en-US" altLang="zh-TW" sz="1200">
                <a:solidFill>
                  <a:srgbClr val="4D4D4D"/>
                </a:solidFill>
                <a:latin typeface="Georgia" charset="0"/>
                <a:ea typeface="新細明體" charset="0"/>
                <a:cs typeface="新細明體" charset="0"/>
              </a:rPr>
              <a:t> F1</a:t>
            </a:r>
          </a:p>
          <a:p>
            <a:pPr lvl="1" eaLnBrk="1" hangingPunct="1">
              <a:lnSpc>
                <a:spcPct val="150000"/>
              </a:lnSpc>
              <a:buFont typeface="Wingdings" charset="0"/>
              <a:buChar char="§"/>
              <a:defRPr/>
            </a:pPr>
            <a:r>
              <a:rPr lang="en-US" altLang="zh-TW" sz="1200">
                <a:solidFill>
                  <a:srgbClr val="4D4D4D"/>
                </a:solidFill>
                <a:latin typeface="Georgia" charset="0"/>
                <a:ea typeface="新細明體" charset="0"/>
                <a:cs typeface="新細明體" charset="0"/>
              </a:rPr>
              <a:t>SBERT Cosine Similarity</a:t>
            </a:r>
          </a:p>
          <a:p>
            <a:pPr lvl="1" eaLnBrk="1" hangingPunct="1">
              <a:lnSpc>
                <a:spcPct val="150000"/>
              </a:lnSpc>
              <a:buFont typeface="Wingdings" charset="0"/>
              <a:buChar char="§"/>
              <a:defRPr/>
            </a:pPr>
            <a:r>
              <a:rPr lang="en-US" altLang="zh-TW" sz="1200">
                <a:solidFill>
                  <a:srgbClr val="4D4D4D"/>
                </a:solidFill>
                <a:latin typeface="Georgia" charset="0"/>
                <a:ea typeface="新細明體" charset="0"/>
                <a:cs typeface="新細明體" charset="0"/>
              </a:rPr>
              <a:t>Human Evaluation</a:t>
            </a:r>
          </a:p>
        </p:txBody>
      </p:sp>
      <p:sp>
        <p:nvSpPr>
          <p:cNvPr id="2" name="Slide Number Placeholder 1"/>
          <p:cNvSpPr>
            <a:spLocks noGrp="1"/>
          </p:cNvSpPr>
          <p:nvPr>
            <p:ph type="sldNum" sz="quarter" idx="12"/>
          </p:nvPr>
        </p:nvSpPr>
        <p:spPr/>
        <p:txBody>
          <a:bodyPr/>
          <a:lstStyle/>
          <a:p>
            <a:fld id="{B95760C2-38E4-496F-933D-2305F303D3F1}" type="slidenum">
              <a:rPr lang="zh-TW" altLang="en-US" smtClean="0"/>
              <a:pPr/>
              <a:t>10</a:t>
            </a:fld>
            <a:endParaRPr lang="en-US" altLang="zh-TW"/>
          </a:p>
        </p:txBody>
      </p:sp>
    </p:spTree>
    <p:extLst>
      <p:ext uri="{BB962C8B-B14F-4D97-AF65-F5344CB8AC3E}">
        <p14:creationId xmlns:p14="http://schemas.microsoft.com/office/powerpoint/2010/main" val="4610795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9"/>
          <p:cNvSpPr>
            <a:spLocks noChangeArrowheads="1"/>
          </p:cNvSpPr>
          <p:nvPr/>
        </p:nvSpPr>
        <p:spPr bwMode="auto">
          <a:xfrm>
            <a:off x="373063" y="152400"/>
            <a:ext cx="6853237"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lnSpc>
                <a:spcPct val="150000"/>
              </a:lnSpc>
              <a:defRPr/>
            </a:pPr>
            <a:r>
              <a:rPr lang="en-US" altLang="zh-TW" sz="3600">
                <a:solidFill>
                  <a:srgbClr val="4D4D4D"/>
                </a:solidFill>
                <a:latin typeface="Georgia" pitchFamily="18" charset="0"/>
                <a:ea typeface="PMingLiU" pitchFamily="18" charset="-120"/>
              </a:rPr>
              <a:t>Experimental Results</a:t>
            </a:r>
          </a:p>
        </p:txBody>
      </p:sp>
      <p:sp>
        <p:nvSpPr>
          <p:cNvPr id="2" name="Slide Number Placeholder 1"/>
          <p:cNvSpPr>
            <a:spLocks noGrp="1"/>
          </p:cNvSpPr>
          <p:nvPr>
            <p:ph type="sldNum" sz="quarter" idx="12"/>
          </p:nvPr>
        </p:nvSpPr>
        <p:spPr/>
        <p:txBody>
          <a:bodyPr/>
          <a:lstStyle/>
          <a:p>
            <a:fld id="{B95760C2-38E4-496F-933D-2305F303D3F1}" type="slidenum">
              <a:rPr lang="zh-TW" altLang="en-US" smtClean="0"/>
              <a:pPr/>
              <a:t>11</a:t>
            </a:fld>
            <a:endParaRPr lang="en-US" altLang="zh-TW"/>
          </a:p>
        </p:txBody>
      </p:sp>
      <p:graphicFrame>
        <p:nvGraphicFramePr>
          <p:cNvPr id="6" name="Table 5">
            <a:extLst>
              <a:ext uri="{FF2B5EF4-FFF2-40B4-BE49-F238E27FC236}">
                <a16:creationId xmlns:a16="http://schemas.microsoft.com/office/drawing/2014/main" id="{1B2C2E73-1788-041F-8D03-043D7A40C47C}"/>
              </a:ext>
            </a:extLst>
          </p:cNvPr>
          <p:cNvGraphicFramePr>
            <a:graphicFrameLocks noGrp="1"/>
          </p:cNvGraphicFramePr>
          <p:nvPr>
            <p:extLst>
              <p:ext uri="{D42A27DB-BD31-4B8C-83A1-F6EECF244321}">
                <p14:modId xmlns:p14="http://schemas.microsoft.com/office/powerpoint/2010/main" val="3106147333"/>
              </p:ext>
            </p:extLst>
          </p:nvPr>
        </p:nvGraphicFramePr>
        <p:xfrm>
          <a:off x="1145382" y="1719264"/>
          <a:ext cx="6853236" cy="4539048"/>
        </p:xfrm>
        <a:graphic>
          <a:graphicData uri="http://schemas.openxmlformats.org/drawingml/2006/table">
            <a:tbl>
              <a:tblPr/>
              <a:tblGrid>
                <a:gridCol w="1142206">
                  <a:extLst>
                    <a:ext uri="{9D8B030D-6E8A-4147-A177-3AD203B41FA5}">
                      <a16:colId xmlns:a16="http://schemas.microsoft.com/office/drawing/2014/main" val="902648885"/>
                    </a:ext>
                  </a:extLst>
                </a:gridCol>
                <a:gridCol w="1142206">
                  <a:extLst>
                    <a:ext uri="{9D8B030D-6E8A-4147-A177-3AD203B41FA5}">
                      <a16:colId xmlns:a16="http://schemas.microsoft.com/office/drawing/2014/main" val="2767826202"/>
                    </a:ext>
                  </a:extLst>
                </a:gridCol>
                <a:gridCol w="1142206">
                  <a:extLst>
                    <a:ext uri="{9D8B030D-6E8A-4147-A177-3AD203B41FA5}">
                      <a16:colId xmlns:a16="http://schemas.microsoft.com/office/drawing/2014/main" val="427761206"/>
                    </a:ext>
                  </a:extLst>
                </a:gridCol>
                <a:gridCol w="1142206">
                  <a:extLst>
                    <a:ext uri="{9D8B030D-6E8A-4147-A177-3AD203B41FA5}">
                      <a16:colId xmlns:a16="http://schemas.microsoft.com/office/drawing/2014/main" val="3237820583"/>
                    </a:ext>
                  </a:extLst>
                </a:gridCol>
                <a:gridCol w="1142206">
                  <a:extLst>
                    <a:ext uri="{9D8B030D-6E8A-4147-A177-3AD203B41FA5}">
                      <a16:colId xmlns:a16="http://schemas.microsoft.com/office/drawing/2014/main" val="2508068771"/>
                    </a:ext>
                  </a:extLst>
                </a:gridCol>
                <a:gridCol w="1142206">
                  <a:extLst>
                    <a:ext uri="{9D8B030D-6E8A-4147-A177-3AD203B41FA5}">
                      <a16:colId xmlns:a16="http://schemas.microsoft.com/office/drawing/2014/main" val="1686692450"/>
                    </a:ext>
                  </a:extLst>
                </a:gridCol>
              </a:tblGrid>
              <a:tr h="411451">
                <a:tc>
                  <a:txBody>
                    <a:bodyPr/>
                    <a:lstStyle/>
                    <a:p>
                      <a:pPr algn="ctr"/>
                      <a:br>
                        <a:rPr lang="en-US" sz="1200" b="1">
                          <a:effectLst/>
                        </a:rPr>
                      </a:br>
                      <a:endParaRPr lang="en-US" sz="1200" b="1">
                        <a:effectLst/>
                      </a:endParaRPr>
                    </a:p>
                  </a:txBody>
                  <a:tcPr marL="58779" marR="58779" marT="29389" marB="29389" anchor="ctr">
                    <a:lnL>
                      <a:noFill/>
                    </a:lnL>
                    <a:lnR>
                      <a:noFill/>
                    </a:lnR>
                    <a:lnT>
                      <a:noFill/>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1200" b="1">
                          <a:effectLst/>
                        </a:rPr>
                        <a:t>Paper ID</a:t>
                      </a:r>
                    </a:p>
                  </a:txBody>
                  <a:tcPr marL="58779" marR="58779" marT="29389" marB="29389"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200" b="1">
                          <a:effectLst/>
                        </a:rPr>
                        <a:t>ROGUE-L F1</a:t>
                      </a:r>
                    </a:p>
                  </a:txBody>
                  <a:tcPr marL="58779" marR="58779" marT="29389" marB="29389"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200" b="1">
                          <a:effectLst/>
                        </a:rPr>
                        <a:t>BLEU</a:t>
                      </a:r>
                    </a:p>
                  </a:txBody>
                  <a:tcPr marL="58779" marR="58779" marT="29389" marB="29389"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sz="1200" b="1" err="1">
                          <a:effectLst/>
                        </a:rPr>
                        <a:t>BERTScore</a:t>
                      </a:r>
                      <a:endParaRPr lang="en-US" sz="1200" b="1">
                        <a:effectLst/>
                      </a:endParaRPr>
                    </a:p>
                  </a:txBody>
                  <a:tcPr marL="58779" marR="58779" marT="29389" marB="29389"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effectLst/>
                        </a:rPr>
                        <a:t>SBERT Cosine</a:t>
                      </a:r>
                    </a:p>
                  </a:txBody>
                  <a:tcPr marL="58779" marR="58779" marT="29389" marB="29389" anchor="ctr">
                    <a:lnL>
                      <a:noFill/>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73063538"/>
                  </a:ext>
                </a:extLst>
              </a:tr>
              <a:tr h="411451">
                <a:tc>
                  <a:txBody>
                    <a:bodyPr/>
                    <a:lstStyle/>
                    <a:p>
                      <a:pPr fontAlgn="ctr"/>
                      <a:r>
                        <a:rPr lang="en-US" sz="1200" b="1">
                          <a:effectLst/>
                        </a:rPr>
                        <a:t>0</a:t>
                      </a:r>
                    </a:p>
                  </a:txBody>
                  <a:tcPr marL="58779" marR="58779" marT="29389" marB="29389" anchor="ctr">
                    <a:lnL>
                      <a:noFill/>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r"/>
                      <a:r>
                        <a:rPr lang="en-US" sz="1200">
                          <a:effectLst/>
                        </a:rPr>
                        <a:t>2406.11036v1</a:t>
                      </a:r>
                    </a:p>
                  </a:txBody>
                  <a:tcPr marL="58779" marR="58779" marT="29389" marB="29389" anchor="ctr">
                    <a:lnL>
                      <a:noFill/>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r"/>
                      <a:r>
                        <a:rPr lang="en-US" sz="1200">
                          <a:effectLst/>
                        </a:rPr>
                        <a:t>0.0606</a:t>
                      </a:r>
                    </a:p>
                  </a:txBody>
                  <a:tcPr marL="58779" marR="58779" marT="29389" marB="29389" anchor="ctr">
                    <a:lnL>
                      <a:noFill/>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r"/>
                      <a:r>
                        <a:rPr lang="en-US" sz="1200">
                          <a:effectLst/>
                        </a:rPr>
                        <a:t>0.0028</a:t>
                      </a:r>
                    </a:p>
                  </a:txBody>
                  <a:tcPr marL="58779" marR="58779" marT="29389" marB="29389" anchor="ctr">
                    <a:lnL>
                      <a:noFill/>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r"/>
                      <a:r>
                        <a:rPr lang="en-US" sz="1200">
                          <a:effectLst/>
                        </a:rPr>
                        <a:t>0.8168</a:t>
                      </a:r>
                    </a:p>
                  </a:txBody>
                  <a:tcPr marL="58779" marR="58779" marT="29389" marB="29389" anchor="ctr">
                    <a:lnL>
                      <a:noFill/>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r"/>
                      <a:r>
                        <a:rPr lang="en-US" sz="1200">
                          <a:effectLst/>
                        </a:rPr>
                        <a:t>0.4119</a:t>
                      </a:r>
                    </a:p>
                  </a:txBody>
                  <a:tcPr marL="58779" marR="58779" marT="29389" marB="29389" anchor="ctr">
                    <a:lnL>
                      <a:noFill/>
                    </a:lnL>
                    <a:lnR>
                      <a:noFill/>
                    </a:lnR>
                    <a:lnT w="12700" cap="flat" cmpd="sng" algn="ctr">
                      <a:solidFill>
                        <a:schemeClr val="tx1"/>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2750539856"/>
                  </a:ext>
                </a:extLst>
              </a:tr>
              <a:tr h="411451">
                <a:tc>
                  <a:txBody>
                    <a:bodyPr/>
                    <a:lstStyle/>
                    <a:p>
                      <a:pPr fontAlgn="ctr"/>
                      <a:r>
                        <a:rPr lang="en-US" sz="1200" b="1">
                          <a:effectLst/>
                        </a:rPr>
                        <a:t>1</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2401.04334v1</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0.0503</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0.0025</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0.8270</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0.3283</a:t>
                      </a:r>
                    </a:p>
                  </a:txBody>
                  <a:tcPr marL="58779" marR="58779" marT="29389" marB="29389" anchor="ctr">
                    <a:lnL>
                      <a:noFill/>
                    </a:lnL>
                    <a:lnR>
                      <a:noFill/>
                    </a:lnR>
                    <a:lnT>
                      <a:noFill/>
                    </a:lnT>
                    <a:lnB>
                      <a:noFill/>
                    </a:lnB>
                    <a:solidFill>
                      <a:srgbClr val="FFFFFF"/>
                    </a:solidFill>
                  </a:tcPr>
                </a:tc>
                <a:extLst>
                  <a:ext uri="{0D108BD9-81ED-4DB2-BD59-A6C34878D82A}">
                    <a16:rowId xmlns:a16="http://schemas.microsoft.com/office/drawing/2014/main" val="1577552076"/>
                  </a:ext>
                </a:extLst>
              </a:tr>
              <a:tr h="411451">
                <a:tc>
                  <a:txBody>
                    <a:bodyPr/>
                    <a:lstStyle/>
                    <a:p>
                      <a:pPr fontAlgn="ctr"/>
                      <a:r>
                        <a:rPr lang="en-US" sz="1200" b="1">
                          <a:effectLst/>
                        </a:rPr>
                        <a:t>2</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2402.13457v2</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0.0000</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0.0000</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0.7775</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0.1358</a:t>
                      </a:r>
                    </a:p>
                  </a:txBody>
                  <a:tcPr marL="58779" marR="58779" marT="29389" marB="29389" anchor="ctr">
                    <a:lnL>
                      <a:noFill/>
                    </a:lnL>
                    <a:lnR>
                      <a:noFill/>
                    </a:lnR>
                    <a:lnT>
                      <a:noFill/>
                    </a:lnT>
                    <a:lnB>
                      <a:noFill/>
                    </a:lnB>
                    <a:solidFill>
                      <a:srgbClr val="FFFFFF"/>
                    </a:solidFill>
                  </a:tcPr>
                </a:tc>
                <a:extLst>
                  <a:ext uri="{0D108BD9-81ED-4DB2-BD59-A6C34878D82A}">
                    <a16:rowId xmlns:a16="http://schemas.microsoft.com/office/drawing/2014/main" val="815745662"/>
                  </a:ext>
                </a:extLst>
              </a:tr>
              <a:tr h="411451">
                <a:tc>
                  <a:txBody>
                    <a:bodyPr/>
                    <a:lstStyle/>
                    <a:p>
                      <a:pPr fontAlgn="ctr"/>
                      <a:r>
                        <a:rPr lang="en-US" sz="1200" b="1">
                          <a:effectLst/>
                        </a:rPr>
                        <a:t>3</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2309.06180v1</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0.0000</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0.0000</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0.7748</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0.0572</a:t>
                      </a:r>
                    </a:p>
                  </a:txBody>
                  <a:tcPr marL="58779" marR="58779" marT="29389" marB="29389" anchor="ctr">
                    <a:lnL>
                      <a:noFill/>
                    </a:lnL>
                    <a:lnR>
                      <a:noFill/>
                    </a:lnR>
                    <a:lnT>
                      <a:noFill/>
                    </a:lnT>
                    <a:lnB>
                      <a:noFill/>
                    </a:lnB>
                    <a:solidFill>
                      <a:srgbClr val="FFFFFF"/>
                    </a:solidFill>
                  </a:tcPr>
                </a:tc>
                <a:extLst>
                  <a:ext uri="{0D108BD9-81ED-4DB2-BD59-A6C34878D82A}">
                    <a16:rowId xmlns:a16="http://schemas.microsoft.com/office/drawing/2014/main" val="1337443022"/>
                  </a:ext>
                </a:extLst>
              </a:tr>
              <a:tr h="411451">
                <a:tc>
                  <a:txBody>
                    <a:bodyPr/>
                    <a:lstStyle/>
                    <a:p>
                      <a:pPr fontAlgn="ctr"/>
                      <a:r>
                        <a:rPr lang="en-US" sz="1200" b="1">
                          <a:effectLst/>
                        </a:rPr>
                        <a:t>4</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2305.14992v2</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0.0505</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0.0074</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0.8041</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0.4033</a:t>
                      </a:r>
                    </a:p>
                  </a:txBody>
                  <a:tcPr marL="58779" marR="58779" marT="29389" marB="29389" anchor="ctr">
                    <a:lnL>
                      <a:noFill/>
                    </a:lnL>
                    <a:lnR>
                      <a:noFill/>
                    </a:lnR>
                    <a:lnT>
                      <a:noFill/>
                    </a:lnT>
                    <a:lnB>
                      <a:noFill/>
                    </a:lnB>
                    <a:solidFill>
                      <a:srgbClr val="FFFFFF"/>
                    </a:solidFill>
                  </a:tcPr>
                </a:tc>
                <a:extLst>
                  <a:ext uri="{0D108BD9-81ED-4DB2-BD59-A6C34878D82A}">
                    <a16:rowId xmlns:a16="http://schemas.microsoft.com/office/drawing/2014/main" val="721209158"/>
                  </a:ext>
                </a:extLst>
              </a:tr>
              <a:tr h="411451">
                <a:tc>
                  <a:txBody>
                    <a:bodyPr/>
                    <a:lstStyle/>
                    <a:p>
                      <a:pPr fontAlgn="ctr"/>
                      <a:r>
                        <a:rPr lang="en-US" sz="1200" b="1">
                          <a:effectLst/>
                        </a:rPr>
                        <a:t>5</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2402.03300v3</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0.0098</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0.0000</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0.7722</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0.1725</a:t>
                      </a:r>
                    </a:p>
                  </a:txBody>
                  <a:tcPr marL="58779" marR="58779" marT="29389" marB="29389" anchor="ctr">
                    <a:lnL>
                      <a:noFill/>
                    </a:lnL>
                    <a:lnR>
                      <a:noFill/>
                    </a:lnR>
                    <a:lnT>
                      <a:noFill/>
                    </a:lnT>
                    <a:lnB>
                      <a:noFill/>
                    </a:lnB>
                    <a:solidFill>
                      <a:srgbClr val="FFFFFF"/>
                    </a:solidFill>
                  </a:tcPr>
                </a:tc>
                <a:extLst>
                  <a:ext uri="{0D108BD9-81ED-4DB2-BD59-A6C34878D82A}">
                    <a16:rowId xmlns:a16="http://schemas.microsoft.com/office/drawing/2014/main" val="2606555718"/>
                  </a:ext>
                </a:extLst>
              </a:tr>
              <a:tr h="411451">
                <a:tc>
                  <a:txBody>
                    <a:bodyPr/>
                    <a:lstStyle/>
                    <a:p>
                      <a:pPr fontAlgn="ctr"/>
                      <a:r>
                        <a:rPr lang="en-US" sz="1200" b="1">
                          <a:effectLst/>
                        </a:rPr>
                        <a:t>6</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2309.00071v2</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0.0103</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0.0020</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0.7776</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0.0526</a:t>
                      </a:r>
                    </a:p>
                  </a:txBody>
                  <a:tcPr marL="58779" marR="58779" marT="29389" marB="29389" anchor="ctr">
                    <a:lnL>
                      <a:noFill/>
                    </a:lnL>
                    <a:lnR>
                      <a:noFill/>
                    </a:lnR>
                    <a:lnT>
                      <a:noFill/>
                    </a:lnT>
                    <a:lnB>
                      <a:noFill/>
                    </a:lnB>
                    <a:solidFill>
                      <a:srgbClr val="FFFFFF"/>
                    </a:solidFill>
                  </a:tcPr>
                </a:tc>
                <a:extLst>
                  <a:ext uri="{0D108BD9-81ED-4DB2-BD59-A6C34878D82A}">
                    <a16:rowId xmlns:a16="http://schemas.microsoft.com/office/drawing/2014/main" val="1835875489"/>
                  </a:ext>
                </a:extLst>
              </a:tr>
              <a:tr h="411451">
                <a:tc>
                  <a:txBody>
                    <a:bodyPr/>
                    <a:lstStyle/>
                    <a:p>
                      <a:pPr fontAlgn="ctr"/>
                      <a:r>
                        <a:rPr lang="en-US" sz="1200" b="1">
                          <a:effectLst/>
                        </a:rPr>
                        <a:t>7</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2312.07104v2</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0.0302</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0.0020</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0.8107</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0.4455</a:t>
                      </a:r>
                    </a:p>
                  </a:txBody>
                  <a:tcPr marL="58779" marR="58779" marT="29389" marB="29389" anchor="ctr">
                    <a:lnL>
                      <a:noFill/>
                    </a:lnL>
                    <a:lnR>
                      <a:noFill/>
                    </a:lnR>
                    <a:lnT>
                      <a:noFill/>
                    </a:lnT>
                    <a:lnB>
                      <a:noFill/>
                    </a:lnB>
                    <a:solidFill>
                      <a:srgbClr val="FFFFFF"/>
                    </a:solidFill>
                  </a:tcPr>
                </a:tc>
                <a:extLst>
                  <a:ext uri="{0D108BD9-81ED-4DB2-BD59-A6C34878D82A}">
                    <a16:rowId xmlns:a16="http://schemas.microsoft.com/office/drawing/2014/main" val="1274709367"/>
                  </a:ext>
                </a:extLst>
              </a:tr>
              <a:tr h="411451">
                <a:tc>
                  <a:txBody>
                    <a:bodyPr/>
                    <a:lstStyle/>
                    <a:p>
                      <a:pPr fontAlgn="ctr"/>
                      <a:r>
                        <a:rPr lang="en-US" sz="1200" b="1">
                          <a:effectLst/>
                        </a:rPr>
                        <a:t>8</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2406.11931v1</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0.0506</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0.0042</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0.8269</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0.6027</a:t>
                      </a:r>
                    </a:p>
                  </a:txBody>
                  <a:tcPr marL="58779" marR="58779" marT="29389" marB="29389" anchor="ctr">
                    <a:lnL>
                      <a:noFill/>
                    </a:lnL>
                    <a:lnR>
                      <a:noFill/>
                    </a:lnR>
                    <a:lnT>
                      <a:noFill/>
                    </a:lnT>
                    <a:lnB>
                      <a:noFill/>
                    </a:lnB>
                    <a:solidFill>
                      <a:srgbClr val="FFFFFF"/>
                    </a:solidFill>
                  </a:tcPr>
                </a:tc>
                <a:extLst>
                  <a:ext uri="{0D108BD9-81ED-4DB2-BD59-A6C34878D82A}">
                    <a16:rowId xmlns:a16="http://schemas.microsoft.com/office/drawing/2014/main" val="1560166942"/>
                  </a:ext>
                </a:extLst>
              </a:tr>
              <a:tr h="411451">
                <a:tc>
                  <a:txBody>
                    <a:bodyPr/>
                    <a:lstStyle/>
                    <a:p>
                      <a:pPr fontAlgn="ctr"/>
                      <a:r>
                        <a:rPr lang="en-US" sz="1200" b="1">
                          <a:effectLst/>
                        </a:rPr>
                        <a:t>9</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2402.00157v4</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0.0120</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0.0000</a:t>
                      </a:r>
                    </a:p>
                  </a:txBody>
                  <a:tcPr marL="58779" marR="58779" marT="29389" marB="29389" anchor="ctr">
                    <a:lnL>
                      <a:noFill/>
                    </a:lnL>
                    <a:lnR>
                      <a:noFill/>
                    </a:lnR>
                    <a:lnT>
                      <a:noFill/>
                    </a:lnT>
                    <a:lnB>
                      <a:noFill/>
                    </a:lnB>
                    <a:solidFill>
                      <a:srgbClr val="FFFFFF"/>
                    </a:solidFill>
                  </a:tcPr>
                </a:tc>
                <a:tc>
                  <a:txBody>
                    <a:bodyPr/>
                    <a:lstStyle/>
                    <a:p>
                      <a:pPr algn="r"/>
                      <a:r>
                        <a:rPr lang="en-US" sz="1200">
                          <a:effectLst/>
                        </a:rPr>
                        <a:t>0.7786</a:t>
                      </a:r>
                    </a:p>
                  </a:txBody>
                  <a:tcPr marL="58779" marR="58779" marT="29389" marB="29389" anchor="ctr">
                    <a:lnL>
                      <a:noFill/>
                    </a:lnL>
                    <a:lnR>
                      <a:noFill/>
                    </a:lnR>
                    <a:lnT>
                      <a:noFill/>
                    </a:lnT>
                    <a:lnB>
                      <a:noFill/>
                    </a:lnB>
                    <a:solidFill>
                      <a:srgbClr val="FFFFFF"/>
                    </a:solidFill>
                  </a:tcPr>
                </a:tc>
                <a:tc>
                  <a:txBody>
                    <a:bodyPr/>
                    <a:lstStyle/>
                    <a:p>
                      <a:pPr algn="r"/>
                      <a:r>
                        <a:rPr lang="en-US" sz="1200" dirty="0">
                          <a:effectLst/>
                        </a:rPr>
                        <a:t>0.3587</a:t>
                      </a:r>
                    </a:p>
                  </a:txBody>
                  <a:tcPr marL="58779" marR="58779" marT="29389" marB="29389" anchor="ctr">
                    <a:lnL>
                      <a:noFill/>
                    </a:lnL>
                    <a:lnR>
                      <a:noFill/>
                    </a:lnR>
                    <a:lnT>
                      <a:noFill/>
                    </a:lnT>
                    <a:lnB>
                      <a:noFill/>
                    </a:lnB>
                    <a:solidFill>
                      <a:srgbClr val="FFFFFF"/>
                    </a:solidFill>
                  </a:tcPr>
                </a:tc>
                <a:extLst>
                  <a:ext uri="{0D108BD9-81ED-4DB2-BD59-A6C34878D82A}">
                    <a16:rowId xmlns:a16="http://schemas.microsoft.com/office/drawing/2014/main" val="2869070078"/>
                  </a:ext>
                </a:extLst>
              </a:tr>
            </a:tbl>
          </a:graphicData>
        </a:graphic>
      </p:graphicFrame>
    </p:spTree>
    <p:extLst>
      <p:ext uri="{BB962C8B-B14F-4D97-AF65-F5344CB8AC3E}">
        <p14:creationId xmlns:p14="http://schemas.microsoft.com/office/powerpoint/2010/main" val="6498858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50977-3903-CCF1-6A7E-0141277C8622}"/>
            </a:ext>
          </a:extLst>
        </p:cNvPr>
        <p:cNvGrpSpPr/>
        <p:nvPr/>
      </p:nvGrpSpPr>
      <p:grpSpPr>
        <a:xfrm>
          <a:off x="0" y="0"/>
          <a:ext cx="0" cy="0"/>
          <a:chOff x="0" y="0"/>
          <a:chExt cx="0" cy="0"/>
        </a:xfrm>
      </p:grpSpPr>
      <p:sp>
        <p:nvSpPr>
          <p:cNvPr id="3074" name="Rectangle 19">
            <a:extLst>
              <a:ext uri="{FF2B5EF4-FFF2-40B4-BE49-F238E27FC236}">
                <a16:creationId xmlns:a16="http://schemas.microsoft.com/office/drawing/2014/main" id="{DFD1B8E2-55B2-5F76-8EFB-4BB705FEF90C}"/>
              </a:ext>
            </a:extLst>
          </p:cNvPr>
          <p:cNvSpPr>
            <a:spLocks noChangeArrowheads="1"/>
          </p:cNvSpPr>
          <p:nvPr/>
        </p:nvSpPr>
        <p:spPr bwMode="auto">
          <a:xfrm>
            <a:off x="373063" y="152400"/>
            <a:ext cx="6853237"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lnSpc>
                <a:spcPct val="150000"/>
              </a:lnSpc>
              <a:defRPr/>
            </a:pPr>
            <a:r>
              <a:rPr lang="en-US" altLang="zh-TW" sz="3600">
                <a:solidFill>
                  <a:srgbClr val="4D4D4D"/>
                </a:solidFill>
                <a:latin typeface="Georgia" pitchFamily="18" charset="0"/>
                <a:ea typeface="PMingLiU" pitchFamily="18" charset="-120"/>
              </a:rPr>
              <a:t>Experimental Results</a:t>
            </a:r>
          </a:p>
        </p:txBody>
      </p:sp>
      <p:sp>
        <p:nvSpPr>
          <p:cNvPr id="2" name="Slide Number Placeholder 1">
            <a:extLst>
              <a:ext uri="{FF2B5EF4-FFF2-40B4-BE49-F238E27FC236}">
                <a16:creationId xmlns:a16="http://schemas.microsoft.com/office/drawing/2014/main" id="{CAA88FE5-2224-7B64-72F7-9C73885CC9CC}"/>
              </a:ext>
            </a:extLst>
          </p:cNvPr>
          <p:cNvSpPr>
            <a:spLocks noGrp="1"/>
          </p:cNvSpPr>
          <p:nvPr>
            <p:ph type="sldNum" sz="quarter" idx="12"/>
          </p:nvPr>
        </p:nvSpPr>
        <p:spPr/>
        <p:txBody>
          <a:bodyPr/>
          <a:lstStyle/>
          <a:p>
            <a:fld id="{B95760C2-38E4-496F-933D-2305F303D3F1}" type="slidenum">
              <a:rPr lang="zh-TW" altLang="en-US" smtClean="0"/>
              <a:pPr/>
              <a:t>12</a:t>
            </a:fld>
            <a:endParaRPr lang="en-US" altLang="zh-TW"/>
          </a:p>
        </p:txBody>
      </p:sp>
      <p:graphicFrame>
        <p:nvGraphicFramePr>
          <p:cNvPr id="3" name="Table 2">
            <a:extLst>
              <a:ext uri="{FF2B5EF4-FFF2-40B4-BE49-F238E27FC236}">
                <a16:creationId xmlns:a16="http://schemas.microsoft.com/office/drawing/2014/main" id="{BB3CD895-9321-E6E1-6239-42307DC07603}"/>
              </a:ext>
            </a:extLst>
          </p:cNvPr>
          <p:cNvGraphicFramePr>
            <a:graphicFrameLocks noGrp="1"/>
          </p:cNvGraphicFramePr>
          <p:nvPr>
            <p:extLst>
              <p:ext uri="{D42A27DB-BD31-4B8C-83A1-F6EECF244321}">
                <p14:modId xmlns:p14="http://schemas.microsoft.com/office/powerpoint/2010/main" val="2459721584"/>
              </p:ext>
            </p:extLst>
          </p:nvPr>
        </p:nvGraphicFramePr>
        <p:xfrm>
          <a:off x="704340" y="1691578"/>
          <a:ext cx="7735320" cy="4411509"/>
        </p:xfrm>
        <a:graphic>
          <a:graphicData uri="http://schemas.openxmlformats.org/drawingml/2006/table">
            <a:tbl>
              <a:tblPr/>
              <a:tblGrid>
                <a:gridCol w="773532">
                  <a:extLst>
                    <a:ext uri="{9D8B030D-6E8A-4147-A177-3AD203B41FA5}">
                      <a16:colId xmlns:a16="http://schemas.microsoft.com/office/drawing/2014/main" val="13294367"/>
                    </a:ext>
                  </a:extLst>
                </a:gridCol>
                <a:gridCol w="773532">
                  <a:extLst>
                    <a:ext uri="{9D8B030D-6E8A-4147-A177-3AD203B41FA5}">
                      <a16:colId xmlns:a16="http://schemas.microsoft.com/office/drawing/2014/main" val="164575505"/>
                    </a:ext>
                  </a:extLst>
                </a:gridCol>
                <a:gridCol w="773532">
                  <a:extLst>
                    <a:ext uri="{9D8B030D-6E8A-4147-A177-3AD203B41FA5}">
                      <a16:colId xmlns:a16="http://schemas.microsoft.com/office/drawing/2014/main" val="3376272918"/>
                    </a:ext>
                  </a:extLst>
                </a:gridCol>
                <a:gridCol w="773532">
                  <a:extLst>
                    <a:ext uri="{9D8B030D-6E8A-4147-A177-3AD203B41FA5}">
                      <a16:colId xmlns:a16="http://schemas.microsoft.com/office/drawing/2014/main" val="3500136974"/>
                    </a:ext>
                  </a:extLst>
                </a:gridCol>
                <a:gridCol w="773532">
                  <a:extLst>
                    <a:ext uri="{9D8B030D-6E8A-4147-A177-3AD203B41FA5}">
                      <a16:colId xmlns:a16="http://schemas.microsoft.com/office/drawing/2014/main" val="478399921"/>
                    </a:ext>
                  </a:extLst>
                </a:gridCol>
                <a:gridCol w="773532">
                  <a:extLst>
                    <a:ext uri="{9D8B030D-6E8A-4147-A177-3AD203B41FA5}">
                      <a16:colId xmlns:a16="http://schemas.microsoft.com/office/drawing/2014/main" val="352850652"/>
                    </a:ext>
                  </a:extLst>
                </a:gridCol>
                <a:gridCol w="773532">
                  <a:extLst>
                    <a:ext uri="{9D8B030D-6E8A-4147-A177-3AD203B41FA5}">
                      <a16:colId xmlns:a16="http://schemas.microsoft.com/office/drawing/2014/main" val="1581146188"/>
                    </a:ext>
                  </a:extLst>
                </a:gridCol>
                <a:gridCol w="773532">
                  <a:extLst>
                    <a:ext uri="{9D8B030D-6E8A-4147-A177-3AD203B41FA5}">
                      <a16:colId xmlns:a16="http://schemas.microsoft.com/office/drawing/2014/main" val="4275390158"/>
                    </a:ext>
                  </a:extLst>
                </a:gridCol>
                <a:gridCol w="773532">
                  <a:extLst>
                    <a:ext uri="{9D8B030D-6E8A-4147-A177-3AD203B41FA5}">
                      <a16:colId xmlns:a16="http://schemas.microsoft.com/office/drawing/2014/main" val="457076697"/>
                    </a:ext>
                  </a:extLst>
                </a:gridCol>
                <a:gridCol w="773532">
                  <a:extLst>
                    <a:ext uri="{9D8B030D-6E8A-4147-A177-3AD203B41FA5}">
                      <a16:colId xmlns:a16="http://schemas.microsoft.com/office/drawing/2014/main" val="1585674428"/>
                    </a:ext>
                  </a:extLst>
                </a:gridCol>
              </a:tblGrid>
              <a:tr h="704359">
                <a:tc>
                  <a:txBody>
                    <a:bodyPr/>
                    <a:lstStyle/>
                    <a:p>
                      <a:pPr algn="ctr"/>
                      <a:endParaRPr lang="en-US" sz="700" b="1">
                        <a:effectLst/>
                      </a:endParaRPr>
                    </a:p>
                  </a:txBody>
                  <a:tcPr marL="38033" marR="38033" marT="19017" marB="19017"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br>
                        <a:rPr lang="en-US" sz="700" b="1">
                          <a:effectLst/>
                        </a:rPr>
                      </a:br>
                      <a:r>
                        <a:rPr lang="en-US" sz="700" b="1">
                          <a:effectLst/>
                        </a:rPr>
                        <a:t>Paper ID</a:t>
                      </a:r>
                    </a:p>
                  </a:txBody>
                  <a:tcPr marL="38033" marR="38033" marT="19017" marB="19017"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r>
                        <a:rPr lang="en-US" sz="700" b="1">
                          <a:effectLst/>
                        </a:rPr>
                        <a:t>ROUGE-L (Main)</a:t>
                      </a:r>
                    </a:p>
                  </a:txBody>
                  <a:tcPr marL="38033" marR="38033" marT="19017" marB="19017"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r>
                        <a:rPr lang="en-US" sz="700" b="1">
                          <a:effectLst/>
                        </a:rPr>
                        <a:t>BLEU (Main)</a:t>
                      </a:r>
                    </a:p>
                  </a:txBody>
                  <a:tcPr marL="38033" marR="38033" marT="19017" marB="19017"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r>
                        <a:rPr lang="en-US" sz="700" b="1" err="1">
                          <a:effectLst/>
                        </a:rPr>
                        <a:t>BERTScore</a:t>
                      </a:r>
                      <a:r>
                        <a:rPr lang="en-US" sz="700" b="1">
                          <a:effectLst/>
                        </a:rPr>
                        <a:t> F1 (Main)</a:t>
                      </a:r>
                    </a:p>
                  </a:txBody>
                  <a:tcPr marL="38033" marR="38033" marT="19017" marB="19017"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r>
                        <a:rPr lang="en-US" sz="700" b="1">
                          <a:effectLst/>
                        </a:rPr>
                        <a:t>SBERT Cosine (Main)</a:t>
                      </a:r>
                    </a:p>
                  </a:txBody>
                  <a:tcPr marL="38033" marR="38033" marT="19017" marB="19017"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r>
                        <a:rPr lang="en-US" sz="700" b="1">
                          <a:effectLst/>
                        </a:rPr>
                        <a:t>ROUGE-L (Baseline)</a:t>
                      </a:r>
                    </a:p>
                  </a:txBody>
                  <a:tcPr marL="38033" marR="38033" marT="19017" marB="19017"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r>
                        <a:rPr lang="en-US" sz="700" b="1">
                          <a:effectLst/>
                        </a:rPr>
                        <a:t>BLEU (Baseline)</a:t>
                      </a:r>
                    </a:p>
                  </a:txBody>
                  <a:tcPr marL="38033" marR="38033" marT="19017" marB="19017"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r>
                        <a:rPr lang="en-US" sz="700" b="1" err="1">
                          <a:effectLst/>
                        </a:rPr>
                        <a:t>BERTScore</a:t>
                      </a:r>
                      <a:r>
                        <a:rPr lang="en-US" sz="700" b="1">
                          <a:effectLst/>
                        </a:rPr>
                        <a:t> F1 (Baseline)</a:t>
                      </a:r>
                    </a:p>
                  </a:txBody>
                  <a:tcPr marL="38033" marR="38033" marT="19017" marB="19017"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r>
                        <a:rPr lang="en-US" sz="700" b="1">
                          <a:effectLst/>
                        </a:rPr>
                        <a:t>SBERT Cosine (Baseline)</a:t>
                      </a:r>
                    </a:p>
                  </a:txBody>
                  <a:tcPr marL="38033" marR="38033" marT="19017" marB="19017"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491886"/>
                  </a:ext>
                </a:extLst>
              </a:tr>
              <a:tr h="370715">
                <a:tc>
                  <a:txBody>
                    <a:bodyPr/>
                    <a:lstStyle/>
                    <a:p>
                      <a:pPr algn="ctr" fontAlgn="ctr"/>
                      <a:r>
                        <a:rPr lang="en-US" sz="700" b="1">
                          <a:effectLst/>
                        </a:rPr>
                        <a:t>0</a:t>
                      </a:r>
                    </a:p>
                  </a:txBody>
                  <a:tcPr marL="38033" marR="38033" marT="19017" marB="19017"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r>
                        <a:rPr lang="en-US" sz="700">
                          <a:effectLst/>
                        </a:rPr>
                        <a:t>2406.11036v1</a:t>
                      </a:r>
                    </a:p>
                  </a:txBody>
                  <a:tcPr marL="38033" marR="38033" marT="19017" marB="19017"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r>
                        <a:rPr lang="en-US" sz="700">
                          <a:effectLst/>
                        </a:rPr>
                        <a:t>0.0606</a:t>
                      </a:r>
                    </a:p>
                  </a:txBody>
                  <a:tcPr marL="58779" marR="58779" marT="29389" marB="29389"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r>
                        <a:rPr lang="en-US" sz="700">
                          <a:effectLst/>
                        </a:rPr>
                        <a:t>0.0028</a:t>
                      </a:r>
                    </a:p>
                  </a:txBody>
                  <a:tcPr marL="58779" marR="58779" marT="29389" marB="29389"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r>
                        <a:rPr lang="en-US" sz="700">
                          <a:effectLst/>
                        </a:rPr>
                        <a:t>0.8132</a:t>
                      </a:r>
                    </a:p>
                  </a:txBody>
                  <a:tcPr marL="38033" marR="38033" marT="19017" marB="19017"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r>
                        <a:rPr lang="en-US" sz="700">
                          <a:effectLst/>
                        </a:rPr>
                        <a:t>0.1780</a:t>
                      </a:r>
                    </a:p>
                  </a:txBody>
                  <a:tcPr marL="38033" marR="38033" marT="19017" marB="19017"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r>
                        <a:rPr lang="en-US" sz="700">
                          <a:effectLst/>
                        </a:rPr>
                        <a:t>0.0506</a:t>
                      </a:r>
                    </a:p>
                  </a:txBody>
                  <a:tcPr marL="38033" marR="38033" marT="19017" marB="19017"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r>
                        <a:rPr lang="en-US" sz="700">
                          <a:effectLst/>
                        </a:rPr>
                        <a:t>0.0150</a:t>
                      </a:r>
                    </a:p>
                  </a:txBody>
                  <a:tcPr marL="38033" marR="38033" marT="19017" marB="19017"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r>
                        <a:rPr lang="en-US" sz="700">
                          <a:effectLst/>
                        </a:rPr>
                        <a:t>0.8297</a:t>
                      </a:r>
                    </a:p>
                  </a:txBody>
                  <a:tcPr marL="38033" marR="38033" marT="19017" marB="19017"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r>
                        <a:rPr lang="en-US" sz="700">
                          <a:effectLst/>
                        </a:rPr>
                        <a:t>0.4532</a:t>
                      </a:r>
                    </a:p>
                  </a:txBody>
                  <a:tcPr marL="38033" marR="38033" marT="19017" marB="19017"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470700080"/>
                  </a:ext>
                </a:extLst>
              </a:tr>
              <a:tr h="370715">
                <a:tc>
                  <a:txBody>
                    <a:bodyPr/>
                    <a:lstStyle/>
                    <a:p>
                      <a:pPr algn="ctr" fontAlgn="ctr"/>
                      <a:r>
                        <a:rPr lang="en-US" sz="700" b="1">
                          <a:effectLst/>
                        </a:rPr>
                        <a:t>1</a:t>
                      </a:r>
                    </a:p>
                  </a:txBody>
                  <a:tcPr marL="38033" marR="38033" marT="19017" marB="19017" anchor="ctr">
                    <a:lnL>
                      <a:noFill/>
                    </a:lnL>
                    <a:lnR>
                      <a:noFill/>
                    </a:lnR>
                    <a:lnT>
                      <a:noFill/>
                    </a:lnT>
                    <a:lnB>
                      <a:noFill/>
                    </a:lnB>
                    <a:noFill/>
                  </a:tcPr>
                </a:tc>
                <a:tc>
                  <a:txBody>
                    <a:bodyPr/>
                    <a:lstStyle/>
                    <a:p>
                      <a:pPr algn="ctr"/>
                      <a:r>
                        <a:rPr lang="en-US" sz="700">
                          <a:effectLst/>
                        </a:rPr>
                        <a:t>2401.04334v1</a:t>
                      </a:r>
                    </a:p>
                  </a:txBody>
                  <a:tcPr marL="38033" marR="38033" marT="19017" marB="19017" anchor="ctr">
                    <a:lnL>
                      <a:noFill/>
                    </a:lnL>
                    <a:lnR>
                      <a:noFill/>
                    </a:lnR>
                    <a:lnT>
                      <a:noFill/>
                    </a:lnT>
                    <a:lnB>
                      <a:noFill/>
                    </a:lnB>
                    <a:noFill/>
                  </a:tcPr>
                </a:tc>
                <a:tc>
                  <a:txBody>
                    <a:bodyPr/>
                    <a:lstStyle/>
                    <a:p>
                      <a:pPr algn="ctr"/>
                      <a:r>
                        <a:rPr lang="en-US" sz="700">
                          <a:effectLst/>
                        </a:rPr>
                        <a:t>0.2000</a:t>
                      </a:r>
                    </a:p>
                  </a:txBody>
                  <a:tcPr marL="38033" marR="38033" marT="19017" marB="19017" anchor="ctr">
                    <a:lnL>
                      <a:noFill/>
                    </a:lnL>
                    <a:lnR>
                      <a:noFill/>
                    </a:lnR>
                    <a:lnT>
                      <a:noFill/>
                    </a:lnT>
                    <a:lnB>
                      <a:noFill/>
                    </a:lnB>
                    <a:noFill/>
                  </a:tcPr>
                </a:tc>
                <a:tc>
                  <a:txBody>
                    <a:bodyPr/>
                    <a:lstStyle/>
                    <a:p>
                      <a:pPr algn="ctr"/>
                      <a:r>
                        <a:rPr lang="en-US" sz="700">
                          <a:effectLst/>
                        </a:rPr>
                        <a:t>0.0000</a:t>
                      </a:r>
                    </a:p>
                  </a:txBody>
                  <a:tcPr marL="38033" marR="38033" marT="19017" marB="19017" anchor="ctr">
                    <a:lnL>
                      <a:noFill/>
                    </a:lnL>
                    <a:lnR>
                      <a:noFill/>
                    </a:lnR>
                    <a:lnT>
                      <a:noFill/>
                    </a:lnT>
                    <a:lnB>
                      <a:noFill/>
                    </a:lnB>
                    <a:noFill/>
                  </a:tcPr>
                </a:tc>
                <a:tc>
                  <a:txBody>
                    <a:bodyPr/>
                    <a:lstStyle/>
                    <a:p>
                      <a:pPr algn="ctr"/>
                      <a:r>
                        <a:rPr lang="en-US" sz="700">
                          <a:effectLst/>
                        </a:rPr>
                        <a:t>0.8348</a:t>
                      </a:r>
                    </a:p>
                  </a:txBody>
                  <a:tcPr marL="38033" marR="38033" marT="19017" marB="19017" anchor="ctr">
                    <a:lnL>
                      <a:noFill/>
                    </a:lnL>
                    <a:lnR>
                      <a:noFill/>
                    </a:lnR>
                    <a:lnT>
                      <a:noFill/>
                    </a:lnT>
                    <a:lnB>
                      <a:noFill/>
                    </a:lnB>
                    <a:noFill/>
                  </a:tcPr>
                </a:tc>
                <a:tc>
                  <a:txBody>
                    <a:bodyPr/>
                    <a:lstStyle/>
                    <a:p>
                      <a:pPr algn="ctr"/>
                      <a:r>
                        <a:rPr lang="en-US" sz="700">
                          <a:effectLst/>
                        </a:rPr>
                        <a:t>0.5689</a:t>
                      </a:r>
                    </a:p>
                  </a:txBody>
                  <a:tcPr marL="38033" marR="38033" marT="19017" marB="19017" anchor="ctr">
                    <a:lnL>
                      <a:noFill/>
                    </a:lnL>
                    <a:lnR>
                      <a:noFill/>
                    </a:lnR>
                    <a:lnT>
                      <a:noFill/>
                    </a:lnT>
                    <a:lnB>
                      <a:noFill/>
                    </a:lnB>
                    <a:noFill/>
                  </a:tcPr>
                </a:tc>
                <a:tc>
                  <a:txBody>
                    <a:bodyPr/>
                    <a:lstStyle/>
                    <a:p>
                      <a:pPr algn="ctr"/>
                      <a:r>
                        <a:rPr lang="en-US" sz="700">
                          <a:effectLst/>
                        </a:rPr>
                        <a:t>0.0567</a:t>
                      </a:r>
                    </a:p>
                  </a:txBody>
                  <a:tcPr marL="38033" marR="38033" marT="19017" marB="19017" anchor="ctr">
                    <a:lnL>
                      <a:noFill/>
                    </a:lnL>
                    <a:lnR>
                      <a:noFill/>
                    </a:lnR>
                    <a:lnT>
                      <a:noFill/>
                    </a:lnT>
                    <a:lnB>
                      <a:noFill/>
                    </a:lnB>
                    <a:noFill/>
                  </a:tcPr>
                </a:tc>
                <a:tc>
                  <a:txBody>
                    <a:bodyPr/>
                    <a:lstStyle/>
                    <a:p>
                      <a:pPr algn="ctr"/>
                      <a:r>
                        <a:rPr lang="en-US" sz="700">
                          <a:effectLst/>
                        </a:rPr>
                        <a:t>0.0052</a:t>
                      </a:r>
                    </a:p>
                  </a:txBody>
                  <a:tcPr marL="38033" marR="38033" marT="19017" marB="19017" anchor="ctr">
                    <a:lnL>
                      <a:noFill/>
                    </a:lnL>
                    <a:lnR>
                      <a:noFill/>
                    </a:lnR>
                    <a:lnT>
                      <a:noFill/>
                    </a:lnT>
                    <a:lnB>
                      <a:noFill/>
                    </a:lnB>
                    <a:noFill/>
                  </a:tcPr>
                </a:tc>
                <a:tc>
                  <a:txBody>
                    <a:bodyPr/>
                    <a:lstStyle/>
                    <a:p>
                      <a:pPr algn="ctr"/>
                      <a:r>
                        <a:rPr lang="en-US" sz="700">
                          <a:effectLst/>
                        </a:rPr>
                        <a:t>0.8239</a:t>
                      </a:r>
                    </a:p>
                  </a:txBody>
                  <a:tcPr marL="38033" marR="38033" marT="19017" marB="19017" anchor="ctr">
                    <a:lnL>
                      <a:noFill/>
                    </a:lnL>
                    <a:lnR>
                      <a:noFill/>
                    </a:lnR>
                    <a:lnT>
                      <a:noFill/>
                    </a:lnT>
                    <a:lnB>
                      <a:noFill/>
                    </a:lnB>
                    <a:noFill/>
                  </a:tcPr>
                </a:tc>
                <a:tc>
                  <a:txBody>
                    <a:bodyPr/>
                    <a:lstStyle/>
                    <a:p>
                      <a:pPr algn="ctr"/>
                      <a:r>
                        <a:rPr lang="en-US" sz="700">
                          <a:effectLst/>
                        </a:rPr>
                        <a:t>0.4418</a:t>
                      </a:r>
                    </a:p>
                  </a:txBody>
                  <a:tcPr marL="38033" marR="38033" marT="19017" marB="19017" anchor="ctr">
                    <a:lnL>
                      <a:noFill/>
                    </a:lnL>
                    <a:lnR>
                      <a:noFill/>
                    </a:lnR>
                    <a:lnT>
                      <a:noFill/>
                    </a:lnT>
                    <a:lnB>
                      <a:noFill/>
                    </a:lnB>
                    <a:noFill/>
                  </a:tcPr>
                </a:tc>
                <a:extLst>
                  <a:ext uri="{0D108BD9-81ED-4DB2-BD59-A6C34878D82A}">
                    <a16:rowId xmlns:a16="http://schemas.microsoft.com/office/drawing/2014/main" val="1668693403"/>
                  </a:ext>
                </a:extLst>
              </a:tr>
              <a:tr h="370715">
                <a:tc>
                  <a:txBody>
                    <a:bodyPr/>
                    <a:lstStyle/>
                    <a:p>
                      <a:pPr algn="ctr" fontAlgn="ctr"/>
                      <a:r>
                        <a:rPr lang="en-US" sz="700" b="1">
                          <a:effectLst/>
                        </a:rPr>
                        <a:t>2</a:t>
                      </a:r>
                    </a:p>
                  </a:txBody>
                  <a:tcPr marL="38033" marR="38033" marT="19017" marB="19017" anchor="ctr">
                    <a:lnL>
                      <a:noFill/>
                    </a:lnL>
                    <a:lnR>
                      <a:noFill/>
                    </a:lnR>
                    <a:lnT>
                      <a:noFill/>
                    </a:lnT>
                    <a:lnB>
                      <a:noFill/>
                    </a:lnB>
                    <a:noFill/>
                  </a:tcPr>
                </a:tc>
                <a:tc>
                  <a:txBody>
                    <a:bodyPr/>
                    <a:lstStyle/>
                    <a:p>
                      <a:pPr algn="ctr"/>
                      <a:r>
                        <a:rPr lang="en-US" sz="700">
                          <a:effectLst/>
                        </a:rPr>
                        <a:t>2402.13457v2</a:t>
                      </a:r>
                    </a:p>
                  </a:txBody>
                  <a:tcPr marL="38033" marR="38033" marT="19017" marB="19017" anchor="ctr">
                    <a:lnL>
                      <a:noFill/>
                    </a:lnL>
                    <a:lnR>
                      <a:noFill/>
                    </a:lnR>
                    <a:lnT>
                      <a:noFill/>
                    </a:lnT>
                    <a:lnB>
                      <a:noFill/>
                    </a:lnB>
                    <a:noFill/>
                  </a:tcPr>
                </a:tc>
                <a:tc>
                  <a:txBody>
                    <a:bodyPr/>
                    <a:lstStyle/>
                    <a:p>
                      <a:pPr algn="ctr"/>
                      <a:r>
                        <a:rPr lang="en-US" sz="700">
                          <a:effectLst/>
                        </a:rPr>
                        <a:t>0.2000</a:t>
                      </a:r>
                    </a:p>
                  </a:txBody>
                  <a:tcPr marL="38033" marR="38033" marT="19017" marB="19017" anchor="ctr">
                    <a:lnL>
                      <a:noFill/>
                    </a:lnL>
                    <a:lnR>
                      <a:noFill/>
                    </a:lnR>
                    <a:lnT>
                      <a:noFill/>
                    </a:lnT>
                    <a:lnB>
                      <a:noFill/>
                    </a:lnB>
                    <a:noFill/>
                  </a:tcPr>
                </a:tc>
                <a:tc>
                  <a:txBody>
                    <a:bodyPr/>
                    <a:lstStyle/>
                    <a:p>
                      <a:pPr algn="ctr"/>
                      <a:r>
                        <a:rPr lang="en-US" sz="700">
                          <a:effectLst/>
                        </a:rPr>
                        <a:t>0.0176</a:t>
                      </a:r>
                    </a:p>
                  </a:txBody>
                  <a:tcPr marL="38033" marR="38033" marT="19017" marB="19017" anchor="ctr">
                    <a:lnL>
                      <a:noFill/>
                    </a:lnL>
                    <a:lnR>
                      <a:noFill/>
                    </a:lnR>
                    <a:lnT>
                      <a:noFill/>
                    </a:lnT>
                    <a:lnB>
                      <a:noFill/>
                    </a:lnB>
                    <a:noFill/>
                  </a:tcPr>
                </a:tc>
                <a:tc>
                  <a:txBody>
                    <a:bodyPr/>
                    <a:lstStyle/>
                    <a:p>
                      <a:pPr algn="ctr"/>
                      <a:r>
                        <a:rPr lang="en-US" sz="700">
                          <a:effectLst/>
                        </a:rPr>
                        <a:t>0.8406</a:t>
                      </a:r>
                    </a:p>
                  </a:txBody>
                  <a:tcPr marL="38033" marR="38033" marT="19017" marB="19017" anchor="ctr">
                    <a:lnL>
                      <a:noFill/>
                    </a:lnL>
                    <a:lnR>
                      <a:noFill/>
                    </a:lnR>
                    <a:lnT>
                      <a:noFill/>
                    </a:lnT>
                    <a:lnB>
                      <a:noFill/>
                    </a:lnB>
                    <a:noFill/>
                  </a:tcPr>
                </a:tc>
                <a:tc>
                  <a:txBody>
                    <a:bodyPr/>
                    <a:lstStyle/>
                    <a:p>
                      <a:pPr algn="ctr"/>
                      <a:r>
                        <a:rPr lang="en-US" sz="700">
                          <a:effectLst/>
                        </a:rPr>
                        <a:t>0.1373</a:t>
                      </a:r>
                    </a:p>
                  </a:txBody>
                  <a:tcPr marL="38033" marR="38033" marT="19017" marB="19017" anchor="ctr">
                    <a:lnL>
                      <a:noFill/>
                    </a:lnL>
                    <a:lnR>
                      <a:noFill/>
                    </a:lnR>
                    <a:lnT>
                      <a:noFill/>
                    </a:lnT>
                    <a:lnB>
                      <a:noFill/>
                    </a:lnB>
                    <a:noFill/>
                  </a:tcPr>
                </a:tc>
                <a:tc>
                  <a:txBody>
                    <a:bodyPr/>
                    <a:lstStyle/>
                    <a:p>
                      <a:pPr algn="ctr"/>
                      <a:r>
                        <a:rPr lang="en-US" sz="700">
                          <a:effectLst/>
                        </a:rPr>
                        <a:t>0.0377</a:t>
                      </a:r>
                    </a:p>
                  </a:txBody>
                  <a:tcPr marL="38033" marR="38033" marT="19017" marB="19017" anchor="ctr">
                    <a:lnL>
                      <a:noFill/>
                    </a:lnL>
                    <a:lnR>
                      <a:noFill/>
                    </a:lnR>
                    <a:lnT>
                      <a:noFill/>
                    </a:lnT>
                    <a:lnB>
                      <a:noFill/>
                    </a:lnB>
                    <a:noFill/>
                  </a:tcPr>
                </a:tc>
                <a:tc>
                  <a:txBody>
                    <a:bodyPr/>
                    <a:lstStyle/>
                    <a:p>
                      <a:pPr algn="ctr"/>
                      <a:r>
                        <a:rPr lang="en-US" sz="700">
                          <a:effectLst/>
                        </a:rPr>
                        <a:t>0.0024</a:t>
                      </a:r>
                    </a:p>
                  </a:txBody>
                  <a:tcPr marL="38033" marR="38033" marT="19017" marB="19017" anchor="ctr">
                    <a:lnL>
                      <a:noFill/>
                    </a:lnL>
                    <a:lnR>
                      <a:noFill/>
                    </a:lnR>
                    <a:lnT>
                      <a:noFill/>
                    </a:lnT>
                    <a:lnB>
                      <a:noFill/>
                    </a:lnB>
                    <a:noFill/>
                  </a:tcPr>
                </a:tc>
                <a:tc>
                  <a:txBody>
                    <a:bodyPr/>
                    <a:lstStyle/>
                    <a:p>
                      <a:pPr algn="ctr"/>
                      <a:r>
                        <a:rPr lang="en-US" sz="700">
                          <a:effectLst/>
                        </a:rPr>
                        <a:t>0.8050</a:t>
                      </a:r>
                    </a:p>
                  </a:txBody>
                  <a:tcPr marL="38033" marR="38033" marT="19017" marB="19017" anchor="ctr">
                    <a:lnL>
                      <a:noFill/>
                    </a:lnL>
                    <a:lnR>
                      <a:noFill/>
                    </a:lnR>
                    <a:lnT>
                      <a:noFill/>
                    </a:lnT>
                    <a:lnB>
                      <a:noFill/>
                    </a:lnB>
                    <a:noFill/>
                  </a:tcPr>
                </a:tc>
                <a:tc>
                  <a:txBody>
                    <a:bodyPr/>
                    <a:lstStyle/>
                    <a:p>
                      <a:pPr algn="ctr"/>
                      <a:r>
                        <a:rPr lang="en-US" sz="700">
                          <a:effectLst/>
                        </a:rPr>
                        <a:t>0.2825</a:t>
                      </a:r>
                    </a:p>
                  </a:txBody>
                  <a:tcPr marL="38033" marR="38033" marT="19017" marB="19017" anchor="ctr">
                    <a:lnL>
                      <a:noFill/>
                    </a:lnL>
                    <a:lnR>
                      <a:noFill/>
                    </a:lnR>
                    <a:lnT>
                      <a:noFill/>
                    </a:lnT>
                    <a:lnB>
                      <a:noFill/>
                    </a:lnB>
                    <a:noFill/>
                  </a:tcPr>
                </a:tc>
                <a:extLst>
                  <a:ext uri="{0D108BD9-81ED-4DB2-BD59-A6C34878D82A}">
                    <a16:rowId xmlns:a16="http://schemas.microsoft.com/office/drawing/2014/main" val="4251721627"/>
                  </a:ext>
                </a:extLst>
              </a:tr>
              <a:tr h="370715">
                <a:tc>
                  <a:txBody>
                    <a:bodyPr/>
                    <a:lstStyle/>
                    <a:p>
                      <a:pPr algn="ctr" fontAlgn="ctr"/>
                      <a:r>
                        <a:rPr lang="en-US" sz="700" b="1">
                          <a:effectLst/>
                        </a:rPr>
                        <a:t>3</a:t>
                      </a:r>
                    </a:p>
                  </a:txBody>
                  <a:tcPr marL="38033" marR="38033" marT="19017" marB="19017" anchor="ctr">
                    <a:lnL>
                      <a:noFill/>
                    </a:lnL>
                    <a:lnR>
                      <a:noFill/>
                    </a:lnR>
                    <a:lnT>
                      <a:noFill/>
                    </a:lnT>
                    <a:lnB>
                      <a:noFill/>
                    </a:lnB>
                    <a:noFill/>
                  </a:tcPr>
                </a:tc>
                <a:tc>
                  <a:txBody>
                    <a:bodyPr/>
                    <a:lstStyle/>
                    <a:p>
                      <a:pPr algn="ctr"/>
                      <a:r>
                        <a:rPr lang="en-US" sz="700">
                          <a:effectLst/>
                        </a:rPr>
                        <a:t>2309.06180v1</a:t>
                      </a:r>
                    </a:p>
                  </a:txBody>
                  <a:tcPr marL="38033" marR="38033" marT="19017" marB="19017" anchor="ctr">
                    <a:lnL>
                      <a:noFill/>
                    </a:lnL>
                    <a:lnR>
                      <a:noFill/>
                    </a:lnR>
                    <a:lnT>
                      <a:noFill/>
                    </a:lnT>
                    <a:lnB>
                      <a:noFill/>
                    </a:lnB>
                    <a:noFill/>
                  </a:tcPr>
                </a:tc>
                <a:tc>
                  <a:txBody>
                    <a:bodyPr/>
                    <a:lstStyle/>
                    <a:p>
                      <a:pPr algn="ctr"/>
                      <a:r>
                        <a:rPr lang="en-US" sz="700">
                          <a:effectLst/>
                        </a:rPr>
                        <a:t>0.0000</a:t>
                      </a:r>
                    </a:p>
                  </a:txBody>
                  <a:tcPr marL="38033" marR="38033" marT="19017" marB="19017" anchor="ctr">
                    <a:lnL>
                      <a:noFill/>
                    </a:lnL>
                    <a:lnR>
                      <a:noFill/>
                    </a:lnR>
                    <a:lnT>
                      <a:noFill/>
                    </a:lnT>
                    <a:lnB>
                      <a:noFill/>
                    </a:lnB>
                    <a:noFill/>
                  </a:tcPr>
                </a:tc>
                <a:tc>
                  <a:txBody>
                    <a:bodyPr/>
                    <a:lstStyle/>
                    <a:p>
                      <a:pPr algn="ctr"/>
                      <a:r>
                        <a:rPr lang="en-US" sz="700">
                          <a:effectLst/>
                        </a:rPr>
                        <a:t>0.0000</a:t>
                      </a:r>
                    </a:p>
                  </a:txBody>
                  <a:tcPr marL="38033" marR="38033" marT="19017" marB="19017" anchor="ctr">
                    <a:lnL>
                      <a:noFill/>
                    </a:lnL>
                    <a:lnR>
                      <a:noFill/>
                    </a:lnR>
                    <a:lnT>
                      <a:noFill/>
                    </a:lnT>
                    <a:lnB>
                      <a:noFill/>
                    </a:lnB>
                    <a:noFill/>
                  </a:tcPr>
                </a:tc>
                <a:tc>
                  <a:txBody>
                    <a:bodyPr/>
                    <a:lstStyle/>
                    <a:p>
                      <a:pPr algn="ctr"/>
                      <a:r>
                        <a:rPr lang="en-US" sz="700">
                          <a:effectLst/>
                        </a:rPr>
                        <a:t>0.8157</a:t>
                      </a:r>
                    </a:p>
                  </a:txBody>
                  <a:tcPr marL="38033" marR="38033" marT="19017" marB="19017" anchor="ctr">
                    <a:lnL>
                      <a:noFill/>
                    </a:lnL>
                    <a:lnR>
                      <a:noFill/>
                    </a:lnR>
                    <a:lnT>
                      <a:noFill/>
                    </a:lnT>
                    <a:lnB>
                      <a:noFill/>
                    </a:lnB>
                    <a:noFill/>
                  </a:tcPr>
                </a:tc>
                <a:tc>
                  <a:txBody>
                    <a:bodyPr/>
                    <a:lstStyle/>
                    <a:p>
                      <a:pPr algn="ctr"/>
                      <a:r>
                        <a:rPr lang="en-US" sz="700">
                          <a:effectLst/>
                        </a:rPr>
                        <a:t>0.2107</a:t>
                      </a:r>
                    </a:p>
                  </a:txBody>
                  <a:tcPr marL="38033" marR="38033" marT="19017" marB="19017" anchor="ctr">
                    <a:lnL>
                      <a:noFill/>
                    </a:lnL>
                    <a:lnR>
                      <a:noFill/>
                    </a:lnR>
                    <a:lnT>
                      <a:noFill/>
                    </a:lnT>
                    <a:lnB>
                      <a:noFill/>
                    </a:lnB>
                    <a:noFill/>
                  </a:tcPr>
                </a:tc>
                <a:tc>
                  <a:txBody>
                    <a:bodyPr/>
                    <a:lstStyle/>
                    <a:p>
                      <a:pPr algn="ctr"/>
                      <a:r>
                        <a:rPr lang="en-US" sz="700">
                          <a:effectLst/>
                        </a:rPr>
                        <a:t>0.0795</a:t>
                      </a:r>
                    </a:p>
                  </a:txBody>
                  <a:tcPr marL="38033" marR="38033" marT="19017" marB="19017" anchor="ctr">
                    <a:lnL>
                      <a:noFill/>
                    </a:lnL>
                    <a:lnR>
                      <a:noFill/>
                    </a:lnR>
                    <a:lnT>
                      <a:noFill/>
                    </a:lnT>
                    <a:lnB>
                      <a:noFill/>
                    </a:lnB>
                    <a:noFill/>
                  </a:tcPr>
                </a:tc>
                <a:tc>
                  <a:txBody>
                    <a:bodyPr/>
                    <a:lstStyle/>
                    <a:p>
                      <a:pPr algn="ctr"/>
                      <a:r>
                        <a:rPr lang="en-US" sz="700">
                          <a:effectLst/>
                        </a:rPr>
                        <a:t>0.0248</a:t>
                      </a:r>
                    </a:p>
                  </a:txBody>
                  <a:tcPr marL="38033" marR="38033" marT="19017" marB="19017" anchor="ctr">
                    <a:lnL>
                      <a:noFill/>
                    </a:lnL>
                    <a:lnR>
                      <a:noFill/>
                    </a:lnR>
                    <a:lnT>
                      <a:noFill/>
                    </a:lnT>
                    <a:lnB>
                      <a:noFill/>
                    </a:lnB>
                    <a:noFill/>
                  </a:tcPr>
                </a:tc>
                <a:tc>
                  <a:txBody>
                    <a:bodyPr/>
                    <a:lstStyle/>
                    <a:p>
                      <a:pPr algn="ctr"/>
                      <a:r>
                        <a:rPr lang="en-US" sz="700">
                          <a:effectLst/>
                        </a:rPr>
                        <a:t>0.8414</a:t>
                      </a:r>
                    </a:p>
                  </a:txBody>
                  <a:tcPr marL="38033" marR="38033" marT="19017" marB="19017" anchor="ctr">
                    <a:lnL>
                      <a:noFill/>
                    </a:lnL>
                    <a:lnR>
                      <a:noFill/>
                    </a:lnR>
                    <a:lnT>
                      <a:noFill/>
                    </a:lnT>
                    <a:lnB>
                      <a:noFill/>
                    </a:lnB>
                    <a:noFill/>
                  </a:tcPr>
                </a:tc>
                <a:tc>
                  <a:txBody>
                    <a:bodyPr/>
                    <a:lstStyle/>
                    <a:p>
                      <a:pPr algn="ctr"/>
                      <a:r>
                        <a:rPr lang="en-US" sz="700">
                          <a:effectLst/>
                        </a:rPr>
                        <a:t>0.5107</a:t>
                      </a:r>
                    </a:p>
                  </a:txBody>
                  <a:tcPr marL="38033" marR="38033" marT="19017" marB="19017" anchor="ctr">
                    <a:lnL>
                      <a:noFill/>
                    </a:lnL>
                    <a:lnR>
                      <a:noFill/>
                    </a:lnR>
                    <a:lnT>
                      <a:noFill/>
                    </a:lnT>
                    <a:lnB>
                      <a:noFill/>
                    </a:lnB>
                    <a:noFill/>
                  </a:tcPr>
                </a:tc>
                <a:extLst>
                  <a:ext uri="{0D108BD9-81ED-4DB2-BD59-A6C34878D82A}">
                    <a16:rowId xmlns:a16="http://schemas.microsoft.com/office/drawing/2014/main" val="984724886"/>
                  </a:ext>
                </a:extLst>
              </a:tr>
              <a:tr h="370715">
                <a:tc>
                  <a:txBody>
                    <a:bodyPr/>
                    <a:lstStyle/>
                    <a:p>
                      <a:pPr algn="ctr" fontAlgn="ctr"/>
                      <a:r>
                        <a:rPr lang="en-US" sz="700" b="1">
                          <a:effectLst/>
                        </a:rPr>
                        <a:t>4</a:t>
                      </a:r>
                    </a:p>
                  </a:txBody>
                  <a:tcPr marL="38033" marR="38033" marT="19017" marB="19017" anchor="ctr">
                    <a:lnL>
                      <a:noFill/>
                    </a:lnL>
                    <a:lnR>
                      <a:noFill/>
                    </a:lnR>
                    <a:lnT>
                      <a:noFill/>
                    </a:lnT>
                    <a:lnB>
                      <a:noFill/>
                    </a:lnB>
                    <a:noFill/>
                  </a:tcPr>
                </a:tc>
                <a:tc>
                  <a:txBody>
                    <a:bodyPr/>
                    <a:lstStyle/>
                    <a:p>
                      <a:pPr algn="ctr"/>
                      <a:r>
                        <a:rPr lang="en-US" sz="700">
                          <a:effectLst/>
                        </a:rPr>
                        <a:t>2305.14992v2</a:t>
                      </a:r>
                    </a:p>
                  </a:txBody>
                  <a:tcPr marL="38033" marR="38033" marT="19017" marB="19017" anchor="ctr">
                    <a:lnL>
                      <a:noFill/>
                    </a:lnL>
                    <a:lnR>
                      <a:noFill/>
                    </a:lnR>
                    <a:lnT>
                      <a:noFill/>
                    </a:lnT>
                    <a:lnB>
                      <a:noFill/>
                    </a:lnB>
                    <a:noFill/>
                  </a:tcPr>
                </a:tc>
                <a:tc>
                  <a:txBody>
                    <a:bodyPr/>
                    <a:lstStyle/>
                    <a:p>
                      <a:pPr algn="ctr"/>
                      <a:r>
                        <a:rPr lang="en-US" sz="700">
                          <a:effectLst/>
                        </a:rPr>
                        <a:t>0.0505</a:t>
                      </a:r>
                    </a:p>
                  </a:txBody>
                  <a:tcPr marL="58779" marR="58779" marT="29389" marB="29389" anchor="ctr">
                    <a:lnL>
                      <a:noFill/>
                    </a:lnL>
                    <a:lnR>
                      <a:noFill/>
                    </a:lnR>
                    <a:lnT>
                      <a:noFill/>
                    </a:lnT>
                    <a:lnB>
                      <a:noFill/>
                    </a:lnB>
                    <a:noFill/>
                  </a:tcPr>
                </a:tc>
                <a:tc>
                  <a:txBody>
                    <a:bodyPr/>
                    <a:lstStyle/>
                    <a:p>
                      <a:pPr algn="ctr"/>
                      <a:r>
                        <a:rPr lang="en-US" sz="700">
                          <a:effectLst/>
                        </a:rPr>
                        <a:t>0.0074</a:t>
                      </a:r>
                    </a:p>
                  </a:txBody>
                  <a:tcPr marL="58779" marR="58779" marT="29389" marB="29389" anchor="ctr">
                    <a:lnL>
                      <a:noFill/>
                    </a:lnL>
                    <a:lnR>
                      <a:noFill/>
                    </a:lnR>
                    <a:lnT>
                      <a:noFill/>
                    </a:lnT>
                    <a:lnB>
                      <a:noFill/>
                    </a:lnB>
                    <a:noFill/>
                  </a:tcPr>
                </a:tc>
                <a:tc>
                  <a:txBody>
                    <a:bodyPr/>
                    <a:lstStyle/>
                    <a:p>
                      <a:pPr algn="ctr"/>
                      <a:r>
                        <a:rPr lang="en-US" sz="700">
                          <a:effectLst/>
                        </a:rPr>
                        <a:t>0.8313</a:t>
                      </a:r>
                    </a:p>
                  </a:txBody>
                  <a:tcPr marL="38033" marR="38033" marT="19017" marB="19017" anchor="ctr">
                    <a:lnL>
                      <a:noFill/>
                    </a:lnL>
                    <a:lnR>
                      <a:noFill/>
                    </a:lnR>
                    <a:lnT>
                      <a:noFill/>
                    </a:lnT>
                    <a:lnB>
                      <a:noFill/>
                    </a:lnB>
                    <a:noFill/>
                  </a:tcPr>
                </a:tc>
                <a:tc>
                  <a:txBody>
                    <a:bodyPr/>
                    <a:lstStyle/>
                    <a:p>
                      <a:pPr algn="ctr"/>
                      <a:r>
                        <a:rPr lang="en-US" sz="700">
                          <a:effectLst/>
                        </a:rPr>
                        <a:t>0.1022</a:t>
                      </a:r>
                    </a:p>
                  </a:txBody>
                  <a:tcPr marL="38033" marR="38033" marT="19017" marB="19017" anchor="ctr">
                    <a:lnL>
                      <a:noFill/>
                    </a:lnL>
                    <a:lnR>
                      <a:noFill/>
                    </a:lnR>
                    <a:lnT>
                      <a:noFill/>
                    </a:lnT>
                    <a:lnB>
                      <a:noFill/>
                    </a:lnB>
                    <a:noFill/>
                  </a:tcPr>
                </a:tc>
                <a:tc>
                  <a:txBody>
                    <a:bodyPr/>
                    <a:lstStyle/>
                    <a:p>
                      <a:pPr algn="ctr"/>
                      <a:r>
                        <a:rPr lang="en-US" sz="700">
                          <a:effectLst/>
                        </a:rPr>
                        <a:t>0.0503</a:t>
                      </a:r>
                    </a:p>
                  </a:txBody>
                  <a:tcPr marL="38033" marR="38033" marT="19017" marB="19017" anchor="ctr">
                    <a:lnL>
                      <a:noFill/>
                    </a:lnL>
                    <a:lnR>
                      <a:noFill/>
                    </a:lnR>
                    <a:lnT>
                      <a:noFill/>
                    </a:lnT>
                    <a:lnB>
                      <a:noFill/>
                    </a:lnB>
                    <a:noFill/>
                  </a:tcPr>
                </a:tc>
                <a:tc>
                  <a:txBody>
                    <a:bodyPr/>
                    <a:lstStyle/>
                    <a:p>
                      <a:pPr algn="ctr"/>
                      <a:r>
                        <a:rPr lang="en-US" sz="700">
                          <a:effectLst/>
                        </a:rPr>
                        <a:t>0.0047</a:t>
                      </a:r>
                    </a:p>
                  </a:txBody>
                  <a:tcPr marL="38033" marR="38033" marT="19017" marB="19017" anchor="ctr">
                    <a:lnL>
                      <a:noFill/>
                    </a:lnL>
                    <a:lnR>
                      <a:noFill/>
                    </a:lnR>
                    <a:lnT>
                      <a:noFill/>
                    </a:lnT>
                    <a:lnB>
                      <a:noFill/>
                    </a:lnB>
                    <a:noFill/>
                  </a:tcPr>
                </a:tc>
                <a:tc>
                  <a:txBody>
                    <a:bodyPr/>
                    <a:lstStyle/>
                    <a:p>
                      <a:pPr algn="ctr"/>
                      <a:r>
                        <a:rPr lang="en-US" sz="700">
                          <a:effectLst/>
                        </a:rPr>
                        <a:t>0.8349</a:t>
                      </a:r>
                    </a:p>
                  </a:txBody>
                  <a:tcPr marL="38033" marR="38033" marT="19017" marB="19017" anchor="ctr">
                    <a:lnL>
                      <a:noFill/>
                    </a:lnL>
                    <a:lnR>
                      <a:noFill/>
                    </a:lnR>
                    <a:lnT>
                      <a:noFill/>
                    </a:lnT>
                    <a:lnB>
                      <a:noFill/>
                    </a:lnB>
                    <a:noFill/>
                  </a:tcPr>
                </a:tc>
                <a:tc>
                  <a:txBody>
                    <a:bodyPr/>
                    <a:lstStyle/>
                    <a:p>
                      <a:pPr algn="ctr"/>
                      <a:r>
                        <a:rPr lang="en-US" sz="700">
                          <a:effectLst/>
                        </a:rPr>
                        <a:t>0.4763</a:t>
                      </a:r>
                    </a:p>
                  </a:txBody>
                  <a:tcPr marL="38033" marR="38033" marT="19017" marB="19017" anchor="ctr">
                    <a:lnL>
                      <a:noFill/>
                    </a:lnL>
                    <a:lnR>
                      <a:noFill/>
                    </a:lnR>
                    <a:lnT>
                      <a:noFill/>
                    </a:lnT>
                    <a:lnB>
                      <a:noFill/>
                    </a:lnB>
                    <a:noFill/>
                  </a:tcPr>
                </a:tc>
                <a:extLst>
                  <a:ext uri="{0D108BD9-81ED-4DB2-BD59-A6C34878D82A}">
                    <a16:rowId xmlns:a16="http://schemas.microsoft.com/office/drawing/2014/main" val="424215626"/>
                  </a:ext>
                </a:extLst>
              </a:tr>
              <a:tr h="370715">
                <a:tc>
                  <a:txBody>
                    <a:bodyPr/>
                    <a:lstStyle/>
                    <a:p>
                      <a:pPr algn="ctr" fontAlgn="ctr"/>
                      <a:r>
                        <a:rPr lang="en-US" sz="700" b="1">
                          <a:effectLst/>
                        </a:rPr>
                        <a:t>5</a:t>
                      </a:r>
                    </a:p>
                  </a:txBody>
                  <a:tcPr marL="38033" marR="38033" marT="19017" marB="19017" anchor="ctr">
                    <a:lnL>
                      <a:noFill/>
                    </a:lnL>
                    <a:lnR>
                      <a:noFill/>
                    </a:lnR>
                    <a:lnT>
                      <a:noFill/>
                    </a:lnT>
                    <a:lnB>
                      <a:noFill/>
                    </a:lnB>
                    <a:noFill/>
                  </a:tcPr>
                </a:tc>
                <a:tc>
                  <a:txBody>
                    <a:bodyPr/>
                    <a:lstStyle/>
                    <a:p>
                      <a:pPr algn="ctr"/>
                      <a:r>
                        <a:rPr lang="en-US" sz="700">
                          <a:effectLst/>
                        </a:rPr>
                        <a:t>2402.03300v3</a:t>
                      </a:r>
                    </a:p>
                  </a:txBody>
                  <a:tcPr marL="38033" marR="38033" marT="19017" marB="19017" anchor="ctr">
                    <a:lnL>
                      <a:noFill/>
                    </a:lnL>
                    <a:lnR>
                      <a:noFill/>
                    </a:lnR>
                    <a:lnT>
                      <a:noFill/>
                    </a:lnT>
                    <a:lnB>
                      <a:noFill/>
                    </a:lnB>
                    <a:noFill/>
                  </a:tcPr>
                </a:tc>
                <a:tc>
                  <a:txBody>
                    <a:bodyPr/>
                    <a:lstStyle/>
                    <a:p>
                      <a:pPr algn="ctr"/>
                      <a:r>
                        <a:rPr lang="en-US" sz="700">
                          <a:effectLst/>
                        </a:rPr>
                        <a:t>0.1600</a:t>
                      </a:r>
                    </a:p>
                  </a:txBody>
                  <a:tcPr marL="38033" marR="38033" marT="19017" marB="19017" anchor="ctr">
                    <a:lnL>
                      <a:noFill/>
                    </a:lnL>
                    <a:lnR>
                      <a:noFill/>
                    </a:lnR>
                    <a:lnT>
                      <a:noFill/>
                    </a:lnT>
                    <a:lnB>
                      <a:noFill/>
                    </a:lnB>
                    <a:noFill/>
                  </a:tcPr>
                </a:tc>
                <a:tc>
                  <a:txBody>
                    <a:bodyPr/>
                    <a:lstStyle/>
                    <a:p>
                      <a:pPr algn="ctr"/>
                      <a:r>
                        <a:rPr lang="en-US" sz="700">
                          <a:effectLst/>
                        </a:rPr>
                        <a:t>0.0486</a:t>
                      </a:r>
                    </a:p>
                  </a:txBody>
                  <a:tcPr marL="38033" marR="38033" marT="19017" marB="19017" anchor="ctr">
                    <a:lnL>
                      <a:noFill/>
                    </a:lnL>
                    <a:lnR>
                      <a:noFill/>
                    </a:lnR>
                    <a:lnT>
                      <a:noFill/>
                    </a:lnT>
                    <a:lnB>
                      <a:noFill/>
                    </a:lnB>
                    <a:noFill/>
                  </a:tcPr>
                </a:tc>
                <a:tc>
                  <a:txBody>
                    <a:bodyPr/>
                    <a:lstStyle/>
                    <a:p>
                      <a:pPr algn="ctr"/>
                      <a:r>
                        <a:rPr lang="en-US" sz="700">
                          <a:effectLst/>
                        </a:rPr>
                        <a:t>0.8625</a:t>
                      </a:r>
                    </a:p>
                  </a:txBody>
                  <a:tcPr marL="38033" marR="38033" marT="19017" marB="19017" anchor="ctr">
                    <a:lnL>
                      <a:noFill/>
                    </a:lnL>
                    <a:lnR>
                      <a:noFill/>
                    </a:lnR>
                    <a:lnT>
                      <a:noFill/>
                    </a:lnT>
                    <a:lnB>
                      <a:noFill/>
                    </a:lnB>
                    <a:noFill/>
                  </a:tcPr>
                </a:tc>
                <a:tc>
                  <a:txBody>
                    <a:bodyPr/>
                    <a:lstStyle/>
                    <a:p>
                      <a:pPr algn="ctr"/>
                      <a:r>
                        <a:rPr lang="en-US" sz="700">
                          <a:effectLst/>
                        </a:rPr>
                        <a:t>0.5374</a:t>
                      </a:r>
                    </a:p>
                  </a:txBody>
                  <a:tcPr marL="38033" marR="38033" marT="19017" marB="19017" anchor="ctr">
                    <a:lnL>
                      <a:noFill/>
                    </a:lnL>
                    <a:lnR>
                      <a:noFill/>
                    </a:lnR>
                    <a:lnT>
                      <a:noFill/>
                    </a:lnT>
                    <a:lnB>
                      <a:noFill/>
                    </a:lnB>
                    <a:noFill/>
                  </a:tcPr>
                </a:tc>
                <a:tc>
                  <a:txBody>
                    <a:bodyPr/>
                    <a:lstStyle/>
                    <a:p>
                      <a:pPr algn="ctr"/>
                      <a:r>
                        <a:rPr lang="en-US" sz="700">
                          <a:effectLst/>
                        </a:rPr>
                        <a:t>0.0784</a:t>
                      </a:r>
                    </a:p>
                  </a:txBody>
                  <a:tcPr marL="38033" marR="38033" marT="19017" marB="19017" anchor="ctr">
                    <a:lnL>
                      <a:noFill/>
                    </a:lnL>
                    <a:lnR>
                      <a:noFill/>
                    </a:lnR>
                    <a:lnT>
                      <a:noFill/>
                    </a:lnT>
                    <a:lnB>
                      <a:noFill/>
                    </a:lnB>
                    <a:noFill/>
                  </a:tcPr>
                </a:tc>
                <a:tc>
                  <a:txBody>
                    <a:bodyPr/>
                    <a:lstStyle/>
                    <a:p>
                      <a:pPr algn="ctr"/>
                      <a:r>
                        <a:rPr lang="en-US" sz="700">
                          <a:effectLst/>
                        </a:rPr>
                        <a:t>0.0070</a:t>
                      </a:r>
                    </a:p>
                  </a:txBody>
                  <a:tcPr marL="38033" marR="38033" marT="19017" marB="19017" anchor="ctr">
                    <a:lnL>
                      <a:noFill/>
                    </a:lnL>
                    <a:lnR>
                      <a:noFill/>
                    </a:lnR>
                    <a:lnT>
                      <a:noFill/>
                    </a:lnT>
                    <a:lnB>
                      <a:noFill/>
                    </a:lnB>
                    <a:noFill/>
                  </a:tcPr>
                </a:tc>
                <a:tc>
                  <a:txBody>
                    <a:bodyPr/>
                    <a:lstStyle/>
                    <a:p>
                      <a:pPr algn="ctr"/>
                      <a:r>
                        <a:rPr lang="en-US" sz="700">
                          <a:effectLst/>
                        </a:rPr>
                        <a:t>0.8266</a:t>
                      </a:r>
                    </a:p>
                  </a:txBody>
                  <a:tcPr marL="38033" marR="38033" marT="19017" marB="19017" anchor="ctr">
                    <a:lnL>
                      <a:noFill/>
                    </a:lnL>
                    <a:lnR>
                      <a:noFill/>
                    </a:lnR>
                    <a:lnT>
                      <a:noFill/>
                    </a:lnT>
                    <a:lnB>
                      <a:noFill/>
                    </a:lnB>
                    <a:noFill/>
                  </a:tcPr>
                </a:tc>
                <a:tc>
                  <a:txBody>
                    <a:bodyPr/>
                    <a:lstStyle/>
                    <a:p>
                      <a:pPr algn="ctr"/>
                      <a:r>
                        <a:rPr lang="en-US" sz="700">
                          <a:effectLst/>
                        </a:rPr>
                        <a:t>0.5236</a:t>
                      </a:r>
                    </a:p>
                  </a:txBody>
                  <a:tcPr marL="38033" marR="38033" marT="19017" marB="19017" anchor="ctr">
                    <a:lnL>
                      <a:noFill/>
                    </a:lnL>
                    <a:lnR>
                      <a:noFill/>
                    </a:lnR>
                    <a:lnT>
                      <a:noFill/>
                    </a:lnT>
                    <a:lnB>
                      <a:noFill/>
                    </a:lnB>
                    <a:noFill/>
                  </a:tcPr>
                </a:tc>
                <a:extLst>
                  <a:ext uri="{0D108BD9-81ED-4DB2-BD59-A6C34878D82A}">
                    <a16:rowId xmlns:a16="http://schemas.microsoft.com/office/drawing/2014/main" val="4070851025"/>
                  </a:ext>
                </a:extLst>
              </a:tr>
              <a:tr h="370715">
                <a:tc>
                  <a:txBody>
                    <a:bodyPr/>
                    <a:lstStyle/>
                    <a:p>
                      <a:pPr algn="ctr" fontAlgn="ctr"/>
                      <a:r>
                        <a:rPr lang="en-US" sz="700" b="1">
                          <a:effectLst/>
                        </a:rPr>
                        <a:t>6</a:t>
                      </a:r>
                    </a:p>
                  </a:txBody>
                  <a:tcPr marL="38033" marR="38033" marT="19017" marB="19017" anchor="ctr">
                    <a:lnL>
                      <a:noFill/>
                    </a:lnL>
                    <a:lnR>
                      <a:noFill/>
                    </a:lnR>
                    <a:lnT>
                      <a:noFill/>
                    </a:lnT>
                    <a:lnB>
                      <a:noFill/>
                    </a:lnB>
                    <a:noFill/>
                  </a:tcPr>
                </a:tc>
                <a:tc>
                  <a:txBody>
                    <a:bodyPr/>
                    <a:lstStyle/>
                    <a:p>
                      <a:pPr algn="ctr"/>
                      <a:r>
                        <a:rPr lang="en-US" sz="700">
                          <a:effectLst/>
                        </a:rPr>
                        <a:t>2309.00071v2</a:t>
                      </a:r>
                    </a:p>
                  </a:txBody>
                  <a:tcPr marL="38033" marR="38033" marT="19017" marB="19017" anchor="ctr">
                    <a:lnL>
                      <a:noFill/>
                    </a:lnL>
                    <a:lnR>
                      <a:noFill/>
                    </a:lnR>
                    <a:lnT>
                      <a:noFill/>
                    </a:lnT>
                    <a:lnB>
                      <a:noFill/>
                    </a:lnB>
                    <a:noFill/>
                  </a:tcPr>
                </a:tc>
                <a:tc>
                  <a:txBody>
                    <a:bodyPr/>
                    <a:lstStyle/>
                    <a:p>
                      <a:pPr algn="ctr"/>
                      <a:r>
                        <a:rPr lang="en-US" sz="700">
                          <a:effectLst/>
                        </a:rPr>
                        <a:t>0.0800</a:t>
                      </a:r>
                    </a:p>
                  </a:txBody>
                  <a:tcPr marL="38033" marR="38033" marT="19017" marB="19017" anchor="ctr">
                    <a:lnL>
                      <a:noFill/>
                    </a:lnL>
                    <a:lnR>
                      <a:noFill/>
                    </a:lnR>
                    <a:lnT>
                      <a:noFill/>
                    </a:lnT>
                    <a:lnB>
                      <a:noFill/>
                    </a:lnB>
                    <a:noFill/>
                  </a:tcPr>
                </a:tc>
                <a:tc>
                  <a:txBody>
                    <a:bodyPr/>
                    <a:lstStyle/>
                    <a:p>
                      <a:pPr algn="ctr"/>
                      <a:r>
                        <a:rPr lang="en-US" sz="700">
                          <a:effectLst/>
                        </a:rPr>
                        <a:t>0.0000</a:t>
                      </a:r>
                    </a:p>
                  </a:txBody>
                  <a:tcPr marL="38033" marR="38033" marT="19017" marB="19017" anchor="ctr">
                    <a:lnL>
                      <a:noFill/>
                    </a:lnL>
                    <a:lnR>
                      <a:noFill/>
                    </a:lnR>
                    <a:lnT>
                      <a:noFill/>
                    </a:lnT>
                    <a:lnB>
                      <a:noFill/>
                    </a:lnB>
                    <a:noFill/>
                  </a:tcPr>
                </a:tc>
                <a:tc>
                  <a:txBody>
                    <a:bodyPr/>
                    <a:lstStyle/>
                    <a:p>
                      <a:pPr algn="ctr"/>
                      <a:r>
                        <a:rPr lang="en-US" sz="700">
                          <a:effectLst/>
                        </a:rPr>
                        <a:t>0.8227</a:t>
                      </a:r>
                    </a:p>
                  </a:txBody>
                  <a:tcPr marL="38033" marR="38033" marT="19017" marB="19017" anchor="ctr">
                    <a:lnL>
                      <a:noFill/>
                    </a:lnL>
                    <a:lnR>
                      <a:noFill/>
                    </a:lnR>
                    <a:lnT>
                      <a:noFill/>
                    </a:lnT>
                    <a:lnB>
                      <a:noFill/>
                    </a:lnB>
                    <a:noFill/>
                  </a:tcPr>
                </a:tc>
                <a:tc>
                  <a:txBody>
                    <a:bodyPr/>
                    <a:lstStyle/>
                    <a:p>
                      <a:pPr algn="ctr"/>
                      <a:r>
                        <a:rPr lang="en-US" sz="700">
                          <a:effectLst/>
                        </a:rPr>
                        <a:t>0.4257</a:t>
                      </a:r>
                    </a:p>
                  </a:txBody>
                  <a:tcPr marL="38033" marR="38033" marT="19017" marB="19017" anchor="ctr">
                    <a:lnL>
                      <a:noFill/>
                    </a:lnL>
                    <a:lnR>
                      <a:noFill/>
                    </a:lnR>
                    <a:lnT>
                      <a:noFill/>
                    </a:lnT>
                    <a:lnB>
                      <a:noFill/>
                    </a:lnB>
                    <a:noFill/>
                  </a:tcPr>
                </a:tc>
                <a:tc>
                  <a:txBody>
                    <a:bodyPr/>
                    <a:lstStyle/>
                    <a:p>
                      <a:pPr algn="ctr"/>
                      <a:r>
                        <a:rPr lang="en-US" sz="700">
                          <a:effectLst/>
                        </a:rPr>
                        <a:t>0.1091</a:t>
                      </a:r>
                    </a:p>
                  </a:txBody>
                  <a:tcPr marL="38033" marR="38033" marT="19017" marB="19017" anchor="ctr">
                    <a:lnL>
                      <a:noFill/>
                    </a:lnL>
                    <a:lnR>
                      <a:noFill/>
                    </a:lnR>
                    <a:lnT>
                      <a:noFill/>
                    </a:lnT>
                    <a:lnB>
                      <a:noFill/>
                    </a:lnB>
                    <a:noFill/>
                  </a:tcPr>
                </a:tc>
                <a:tc>
                  <a:txBody>
                    <a:bodyPr/>
                    <a:lstStyle/>
                    <a:p>
                      <a:pPr algn="ctr"/>
                      <a:r>
                        <a:rPr lang="en-US" sz="700">
                          <a:effectLst/>
                        </a:rPr>
                        <a:t>0.0307</a:t>
                      </a:r>
                    </a:p>
                  </a:txBody>
                  <a:tcPr marL="38033" marR="38033" marT="19017" marB="19017" anchor="ctr">
                    <a:lnL>
                      <a:noFill/>
                    </a:lnL>
                    <a:lnR>
                      <a:noFill/>
                    </a:lnR>
                    <a:lnT>
                      <a:noFill/>
                    </a:lnT>
                    <a:lnB>
                      <a:noFill/>
                    </a:lnB>
                    <a:noFill/>
                  </a:tcPr>
                </a:tc>
                <a:tc>
                  <a:txBody>
                    <a:bodyPr/>
                    <a:lstStyle/>
                    <a:p>
                      <a:pPr algn="ctr"/>
                      <a:r>
                        <a:rPr lang="en-US" sz="700">
                          <a:effectLst/>
                        </a:rPr>
                        <a:t>0.8423</a:t>
                      </a:r>
                    </a:p>
                  </a:txBody>
                  <a:tcPr marL="38033" marR="38033" marT="19017" marB="19017" anchor="ctr">
                    <a:lnL>
                      <a:noFill/>
                    </a:lnL>
                    <a:lnR>
                      <a:noFill/>
                    </a:lnR>
                    <a:lnT>
                      <a:noFill/>
                    </a:lnT>
                    <a:lnB>
                      <a:noFill/>
                    </a:lnB>
                    <a:noFill/>
                  </a:tcPr>
                </a:tc>
                <a:tc>
                  <a:txBody>
                    <a:bodyPr/>
                    <a:lstStyle/>
                    <a:p>
                      <a:pPr algn="ctr"/>
                      <a:r>
                        <a:rPr lang="en-US" sz="700">
                          <a:effectLst/>
                        </a:rPr>
                        <a:t>0.4733</a:t>
                      </a:r>
                    </a:p>
                  </a:txBody>
                  <a:tcPr marL="38033" marR="38033" marT="19017" marB="19017" anchor="ctr">
                    <a:lnL>
                      <a:noFill/>
                    </a:lnL>
                    <a:lnR>
                      <a:noFill/>
                    </a:lnR>
                    <a:lnT>
                      <a:noFill/>
                    </a:lnT>
                    <a:lnB>
                      <a:noFill/>
                    </a:lnB>
                    <a:noFill/>
                  </a:tcPr>
                </a:tc>
                <a:extLst>
                  <a:ext uri="{0D108BD9-81ED-4DB2-BD59-A6C34878D82A}">
                    <a16:rowId xmlns:a16="http://schemas.microsoft.com/office/drawing/2014/main" val="1607718220"/>
                  </a:ext>
                </a:extLst>
              </a:tr>
              <a:tr h="370715">
                <a:tc>
                  <a:txBody>
                    <a:bodyPr/>
                    <a:lstStyle/>
                    <a:p>
                      <a:pPr algn="ctr" fontAlgn="ctr"/>
                      <a:r>
                        <a:rPr lang="en-US" sz="700" b="1">
                          <a:effectLst/>
                        </a:rPr>
                        <a:t>7</a:t>
                      </a:r>
                    </a:p>
                  </a:txBody>
                  <a:tcPr marL="38033" marR="38033" marT="19017" marB="19017" anchor="ctr">
                    <a:lnL>
                      <a:noFill/>
                    </a:lnL>
                    <a:lnR>
                      <a:noFill/>
                    </a:lnR>
                    <a:lnT>
                      <a:noFill/>
                    </a:lnT>
                    <a:lnB>
                      <a:noFill/>
                    </a:lnB>
                    <a:noFill/>
                  </a:tcPr>
                </a:tc>
                <a:tc>
                  <a:txBody>
                    <a:bodyPr/>
                    <a:lstStyle/>
                    <a:p>
                      <a:pPr algn="ctr"/>
                      <a:r>
                        <a:rPr lang="en-US" sz="700">
                          <a:effectLst/>
                        </a:rPr>
                        <a:t>2312.07104v2</a:t>
                      </a:r>
                    </a:p>
                  </a:txBody>
                  <a:tcPr marL="38033" marR="38033" marT="19017" marB="19017" anchor="ctr">
                    <a:lnL>
                      <a:noFill/>
                    </a:lnL>
                    <a:lnR>
                      <a:noFill/>
                    </a:lnR>
                    <a:lnT>
                      <a:noFill/>
                    </a:lnT>
                    <a:lnB>
                      <a:noFill/>
                    </a:lnB>
                    <a:noFill/>
                  </a:tcPr>
                </a:tc>
                <a:tc>
                  <a:txBody>
                    <a:bodyPr/>
                    <a:lstStyle/>
                    <a:p>
                      <a:pPr algn="ctr"/>
                      <a:r>
                        <a:rPr lang="en-US" sz="700">
                          <a:effectLst/>
                        </a:rPr>
                        <a:t>0.0302</a:t>
                      </a:r>
                    </a:p>
                  </a:txBody>
                  <a:tcPr marL="58779" marR="58779" marT="29389" marB="29389" anchor="ctr">
                    <a:lnL>
                      <a:noFill/>
                    </a:lnL>
                    <a:lnR>
                      <a:noFill/>
                    </a:lnR>
                    <a:lnT>
                      <a:noFill/>
                    </a:lnT>
                    <a:lnB>
                      <a:noFill/>
                    </a:lnB>
                    <a:noFill/>
                  </a:tcPr>
                </a:tc>
                <a:tc>
                  <a:txBody>
                    <a:bodyPr/>
                    <a:lstStyle/>
                    <a:p>
                      <a:pPr algn="ctr"/>
                      <a:r>
                        <a:rPr lang="en-US" sz="700">
                          <a:effectLst/>
                        </a:rPr>
                        <a:t>0.0020</a:t>
                      </a:r>
                    </a:p>
                  </a:txBody>
                  <a:tcPr marL="58779" marR="58779" marT="29389" marB="29389" anchor="ctr">
                    <a:lnL>
                      <a:noFill/>
                    </a:lnL>
                    <a:lnR>
                      <a:noFill/>
                    </a:lnR>
                    <a:lnT>
                      <a:noFill/>
                    </a:lnT>
                    <a:lnB>
                      <a:noFill/>
                    </a:lnB>
                    <a:noFill/>
                  </a:tcPr>
                </a:tc>
                <a:tc>
                  <a:txBody>
                    <a:bodyPr/>
                    <a:lstStyle/>
                    <a:p>
                      <a:pPr algn="ctr"/>
                      <a:r>
                        <a:rPr lang="en-US" sz="700">
                          <a:effectLst/>
                        </a:rPr>
                        <a:t>0.8315</a:t>
                      </a:r>
                    </a:p>
                  </a:txBody>
                  <a:tcPr marL="38033" marR="38033" marT="19017" marB="19017" anchor="ctr">
                    <a:lnL>
                      <a:noFill/>
                    </a:lnL>
                    <a:lnR>
                      <a:noFill/>
                    </a:lnR>
                    <a:lnT>
                      <a:noFill/>
                    </a:lnT>
                    <a:lnB>
                      <a:noFill/>
                    </a:lnB>
                    <a:noFill/>
                  </a:tcPr>
                </a:tc>
                <a:tc>
                  <a:txBody>
                    <a:bodyPr/>
                    <a:lstStyle/>
                    <a:p>
                      <a:pPr algn="ctr"/>
                      <a:r>
                        <a:rPr lang="en-US" sz="700">
                          <a:effectLst/>
                        </a:rPr>
                        <a:t>0.3384</a:t>
                      </a:r>
                    </a:p>
                  </a:txBody>
                  <a:tcPr marL="38033" marR="38033" marT="19017" marB="19017" anchor="ctr">
                    <a:lnL>
                      <a:noFill/>
                    </a:lnL>
                    <a:lnR>
                      <a:noFill/>
                    </a:lnR>
                    <a:lnT>
                      <a:noFill/>
                    </a:lnT>
                    <a:lnB>
                      <a:noFill/>
                    </a:lnB>
                    <a:noFill/>
                  </a:tcPr>
                </a:tc>
                <a:tc>
                  <a:txBody>
                    <a:bodyPr/>
                    <a:lstStyle/>
                    <a:p>
                      <a:pPr algn="ctr"/>
                      <a:r>
                        <a:rPr lang="en-US" sz="700">
                          <a:effectLst/>
                        </a:rPr>
                        <a:t>0.0795</a:t>
                      </a:r>
                    </a:p>
                  </a:txBody>
                  <a:tcPr marL="38033" marR="38033" marT="19017" marB="19017" anchor="ctr">
                    <a:lnL>
                      <a:noFill/>
                    </a:lnL>
                    <a:lnR>
                      <a:noFill/>
                    </a:lnR>
                    <a:lnT>
                      <a:noFill/>
                    </a:lnT>
                    <a:lnB>
                      <a:noFill/>
                    </a:lnB>
                    <a:noFill/>
                  </a:tcPr>
                </a:tc>
                <a:tc>
                  <a:txBody>
                    <a:bodyPr/>
                    <a:lstStyle/>
                    <a:p>
                      <a:pPr algn="ctr"/>
                      <a:r>
                        <a:rPr lang="en-US" sz="700">
                          <a:effectLst/>
                        </a:rPr>
                        <a:t>0.0063</a:t>
                      </a:r>
                    </a:p>
                  </a:txBody>
                  <a:tcPr marL="38033" marR="38033" marT="19017" marB="19017" anchor="ctr">
                    <a:lnL>
                      <a:noFill/>
                    </a:lnL>
                    <a:lnR>
                      <a:noFill/>
                    </a:lnR>
                    <a:lnT>
                      <a:noFill/>
                    </a:lnT>
                    <a:lnB>
                      <a:noFill/>
                    </a:lnB>
                    <a:noFill/>
                  </a:tcPr>
                </a:tc>
                <a:tc>
                  <a:txBody>
                    <a:bodyPr/>
                    <a:lstStyle/>
                    <a:p>
                      <a:pPr algn="ctr"/>
                      <a:r>
                        <a:rPr lang="en-US" sz="700">
                          <a:effectLst/>
                        </a:rPr>
                        <a:t>0.8317</a:t>
                      </a:r>
                    </a:p>
                  </a:txBody>
                  <a:tcPr marL="38033" marR="38033" marT="19017" marB="19017" anchor="ctr">
                    <a:lnL>
                      <a:noFill/>
                    </a:lnL>
                    <a:lnR>
                      <a:noFill/>
                    </a:lnR>
                    <a:lnT>
                      <a:noFill/>
                    </a:lnT>
                    <a:lnB>
                      <a:noFill/>
                    </a:lnB>
                    <a:noFill/>
                  </a:tcPr>
                </a:tc>
                <a:tc>
                  <a:txBody>
                    <a:bodyPr/>
                    <a:lstStyle/>
                    <a:p>
                      <a:pPr algn="ctr"/>
                      <a:r>
                        <a:rPr lang="en-US" sz="700">
                          <a:effectLst/>
                        </a:rPr>
                        <a:t>0.4896</a:t>
                      </a:r>
                    </a:p>
                  </a:txBody>
                  <a:tcPr marL="38033" marR="38033" marT="19017" marB="19017" anchor="ctr">
                    <a:lnL>
                      <a:noFill/>
                    </a:lnL>
                    <a:lnR>
                      <a:noFill/>
                    </a:lnR>
                    <a:lnT>
                      <a:noFill/>
                    </a:lnT>
                    <a:lnB>
                      <a:noFill/>
                    </a:lnB>
                    <a:noFill/>
                  </a:tcPr>
                </a:tc>
                <a:extLst>
                  <a:ext uri="{0D108BD9-81ED-4DB2-BD59-A6C34878D82A}">
                    <a16:rowId xmlns:a16="http://schemas.microsoft.com/office/drawing/2014/main" val="3902958808"/>
                  </a:ext>
                </a:extLst>
              </a:tr>
              <a:tr h="370715">
                <a:tc>
                  <a:txBody>
                    <a:bodyPr/>
                    <a:lstStyle/>
                    <a:p>
                      <a:pPr algn="ctr" fontAlgn="ctr"/>
                      <a:r>
                        <a:rPr lang="en-US" sz="700" b="1">
                          <a:effectLst/>
                        </a:rPr>
                        <a:t>8</a:t>
                      </a:r>
                    </a:p>
                  </a:txBody>
                  <a:tcPr marL="38033" marR="38033" marT="19017" marB="19017" anchor="ctr">
                    <a:lnL>
                      <a:noFill/>
                    </a:lnL>
                    <a:lnR>
                      <a:noFill/>
                    </a:lnR>
                    <a:lnT>
                      <a:noFill/>
                    </a:lnT>
                    <a:lnB>
                      <a:noFill/>
                    </a:lnB>
                    <a:noFill/>
                  </a:tcPr>
                </a:tc>
                <a:tc>
                  <a:txBody>
                    <a:bodyPr/>
                    <a:lstStyle/>
                    <a:p>
                      <a:pPr algn="ctr"/>
                      <a:r>
                        <a:rPr lang="en-US" sz="700">
                          <a:effectLst/>
                        </a:rPr>
                        <a:t>2406.11931v1</a:t>
                      </a:r>
                    </a:p>
                  </a:txBody>
                  <a:tcPr marL="38033" marR="38033" marT="19017" marB="19017" anchor="ctr">
                    <a:lnL>
                      <a:noFill/>
                    </a:lnL>
                    <a:lnR>
                      <a:noFill/>
                    </a:lnR>
                    <a:lnT>
                      <a:noFill/>
                    </a:lnT>
                    <a:lnB>
                      <a:noFill/>
                    </a:lnB>
                    <a:noFill/>
                  </a:tcPr>
                </a:tc>
                <a:tc>
                  <a:txBody>
                    <a:bodyPr/>
                    <a:lstStyle/>
                    <a:p>
                      <a:pPr algn="ctr"/>
                      <a:r>
                        <a:rPr lang="en-US" sz="700">
                          <a:effectLst/>
                        </a:rPr>
                        <a:t>0.6207</a:t>
                      </a:r>
                    </a:p>
                  </a:txBody>
                  <a:tcPr marL="38033" marR="38033" marT="19017" marB="19017" anchor="ctr">
                    <a:lnL>
                      <a:noFill/>
                    </a:lnL>
                    <a:lnR>
                      <a:noFill/>
                    </a:lnR>
                    <a:lnT>
                      <a:noFill/>
                    </a:lnT>
                    <a:lnB>
                      <a:noFill/>
                    </a:lnB>
                    <a:noFill/>
                  </a:tcPr>
                </a:tc>
                <a:tc>
                  <a:txBody>
                    <a:bodyPr/>
                    <a:lstStyle/>
                    <a:p>
                      <a:pPr algn="ctr"/>
                      <a:r>
                        <a:rPr lang="en-US" sz="700">
                          <a:effectLst/>
                        </a:rPr>
                        <a:t>0.1553</a:t>
                      </a:r>
                    </a:p>
                  </a:txBody>
                  <a:tcPr marL="38033" marR="38033" marT="19017" marB="19017" anchor="ctr">
                    <a:lnL>
                      <a:noFill/>
                    </a:lnL>
                    <a:lnR>
                      <a:noFill/>
                    </a:lnR>
                    <a:lnT>
                      <a:noFill/>
                    </a:lnT>
                    <a:lnB>
                      <a:noFill/>
                    </a:lnB>
                    <a:noFill/>
                  </a:tcPr>
                </a:tc>
                <a:tc>
                  <a:txBody>
                    <a:bodyPr/>
                    <a:lstStyle/>
                    <a:p>
                      <a:pPr algn="ctr"/>
                      <a:r>
                        <a:rPr lang="en-US" sz="700">
                          <a:effectLst/>
                        </a:rPr>
                        <a:t>0.9566</a:t>
                      </a:r>
                    </a:p>
                  </a:txBody>
                  <a:tcPr marL="38033" marR="38033" marT="19017" marB="19017" anchor="ctr">
                    <a:lnL>
                      <a:noFill/>
                    </a:lnL>
                    <a:lnR>
                      <a:noFill/>
                    </a:lnR>
                    <a:lnT>
                      <a:noFill/>
                    </a:lnT>
                    <a:lnB>
                      <a:noFill/>
                    </a:lnB>
                    <a:noFill/>
                  </a:tcPr>
                </a:tc>
                <a:tc>
                  <a:txBody>
                    <a:bodyPr/>
                    <a:lstStyle/>
                    <a:p>
                      <a:pPr algn="ctr"/>
                      <a:r>
                        <a:rPr lang="en-US" sz="700">
                          <a:effectLst/>
                        </a:rPr>
                        <a:t>0.9226</a:t>
                      </a:r>
                    </a:p>
                  </a:txBody>
                  <a:tcPr marL="38033" marR="38033" marT="19017" marB="19017" anchor="ctr">
                    <a:lnL>
                      <a:noFill/>
                    </a:lnL>
                    <a:lnR>
                      <a:noFill/>
                    </a:lnR>
                    <a:lnT>
                      <a:noFill/>
                    </a:lnT>
                    <a:lnB>
                      <a:noFill/>
                    </a:lnB>
                    <a:noFill/>
                  </a:tcPr>
                </a:tc>
                <a:tc>
                  <a:txBody>
                    <a:bodyPr/>
                    <a:lstStyle/>
                    <a:p>
                      <a:pPr algn="ctr"/>
                      <a:r>
                        <a:rPr lang="en-US" sz="700">
                          <a:effectLst/>
                        </a:rPr>
                        <a:t>0.1576</a:t>
                      </a:r>
                    </a:p>
                  </a:txBody>
                  <a:tcPr marL="38033" marR="38033" marT="19017" marB="19017" anchor="ctr">
                    <a:lnL>
                      <a:noFill/>
                    </a:lnL>
                    <a:lnR>
                      <a:noFill/>
                    </a:lnR>
                    <a:lnT>
                      <a:noFill/>
                    </a:lnT>
                    <a:lnB>
                      <a:noFill/>
                    </a:lnB>
                    <a:noFill/>
                  </a:tcPr>
                </a:tc>
                <a:tc>
                  <a:txBody>
                    <a:bodyPr/>
                    <a:lstStyle/>
                    <a:p>
                      <a:pPr algn="ctr"/>
                      <a:r>
                        <a:rPr lang="en-US" sz="700">
                          <a:effectLst/>
                        </a:rPr>
                        <a:t>0.0400</a:t>
                      </a:r>
                    </a:p>
                  </a:txBody>
                  <a:tcPr marL="38033" marR="38033" marT="19017" marB="19017" anchor="ctr">
                    <a:lnL>
                      <a:noFill/>
                    </a:lnL>
                    <a:lnR>
                      <a:noFill/>
                    </a:lnR>
                    <a:lnT>
                      <a:noFill/>
                    </a:lnT>
                    <a:lnB>
                      <a:noFill/>
                    </a:lnB>
                    <a:noFill/>
                  </a:tcPr>
                </a:tc>
                <a:tc>
                  <a:txBody>
                    <a:bodyPr/>
                    <a:lstStyle/>
                    <a:p>
                      <a:pPr algn="ctr"/>
                      <a:r>
                        <a:rPr lang="en-US" sz="700">
                          <a:effectLst/>
                        </a:rPr>
                        <a:t>0.8739</a:t>
                      </a:r>
                    </a:p>
                  </a:txBody>
                  <a:tcPr marL="38033" marR="38033" marT="19017" marB="19017" anchor="ctr">
                    <a:lnL>
                      <a:noFill/>
                    </a:lnL>
                    <a:lnR>
                      <a:noFill/>
                    </a:lnR>
                    <a:lnT>
                      <a:noFill/>
                    </a:lnT>
                    <a:lnB>
                      <a:noFill/>
                    </a:lnB>
                    <a:noFill/>
                  </a:tcPr>
                </a:tc>
                <a:tc>
                  <a:txBody>
                    <a:bodyPr/>
                    <a:lstStyle/>
                    <a:p>
                      <a:pPr algn="ctr"/>
                      <a:r>
                        <a:rPr lang="en-US" sz="700">
                          <a:effectLst/>
                        </a:rPr>
                        <a:t>0.7804</a:t>
                      </a:r>
                    </a:p>
                  </a:txBody>
                  <a:tcPr marL="38033" marR="38033" marT="19017" marB="19017" anchor="ctr">
                    <a:lnL>
                      <a:noFill/>
                    </a:lnL>
                    <a:lnR>
                      <a:noFill/>
                    </a:lnR>
                    <a:lnT>
                      <a:noFill/>
                    </a:lnT>
                    <a:lnB>
                      <a:noFill/>
                    </a:lnB>
                    <a:noFill/>
                  </a:tcPr>
                </a:tc>
                <a:extLst>
                  <a:ext uri="{0D108BD9-81ED-4DB2-BD59-A6C34878D82A}">
                    <a16:rowId xmlns:a16="http://schemas.microsoft.com/office/drawing/2014/main" val="1675677830"/>
                  </a:ext>
                </a:extLst>
              </a:tr>
              <a:tr h="370715">
                <a:tc>
                  <a:txBody>
                    <a:bodyPr/>
                    <a:lstStyle/>
                    <a:p>
                      <a:pPr algn="ctr" fontAlgn="ctr"/>
                      <a:r>
                        <a:rPr lang="en-US" sz="700" b="1">
                          <a:effectLst/>
                        </a:rPr>
                        <a:t>9</a:t>
                      </a:r>
                    </a:p>
                  </a:txBody>
                  <a:tcPr marL="38033" marR="38033" marT="19017" marB="19017" anchor="ctr">
                    <a:lnL>
                      <a:noFill/>
                    </a:lnL>
                    <a:lnR>
                      <a:noFill/>
                    </a:lnR>
                    <a:lnT>
                      <a:noFill/>
                    </a:lnT>
                    <a:lnB>
                      <a:noFill/>
                    </a:lnB>
                    <a:noFill/>
                  </a:tcPr>
                </a:tc>
                <a:tc>
                  <a:txBody>
                    <a:bodyPr/>
                    <a:lstStyle/>
                    <a:p>
                      <a:pPr algn="ctr"/>
                      <a:r>
                        <a:rPr lang="en-US" sz="700">
                          <a:effectLst/>
                        </a:rPr>
                        <a:t>2402.00157v4</a:t>
                      </a:r>
                    </a:p>
                  </a:txBody>
                  <a:tcPr marL="38033" marR="38033" marT="19017" marB="19017" anchor="ctr">
                    <a:lnL>
                      <a:noFill/>
                    </a:lnL>
                    <a:lnR>
                      <a:noFill/>
                    </a:lnR>
                    <a:lnT>
                      <a:noFill/>
                    </a:lnT>
                    <a:lnB>
                      <a:noFill/>
                    </a:lnB>
                    <a:noFill/>
                  </a:tcPr>
                </a:tc>
                <a:tc>
                  <a:txBody>
                    <a:bodyPr/>
                    <a:lstStyle/>
                    <a:p>
                      <a:pPr algn="ctr"/>
                      <a:r>
                        <a:rPr lang="en-US" sz="700">
                          <a:effectLst/>
                        </a:rPr>
                        <a:t>0.0952</a:t>
                      </a:r>
                    </a:p>
                  </a:txBody>
                  <a:tcPr marL="38033" marR="38033" marT="19017" marB="19017" anchor="ctr">
                    <a:lnL>
                      <a:noFill/>
                    </a:lnL>
                    <a:lnR>
                      <a:noFill/>
                    </a:lnR>
                    <a:lnT>
                      <a:noFill/>
                    </a:lnT>
                    <a:lnB>
                      <a:noFill/>
                    </a:lnB>
                    <a:noFill/>
                  </a:tcPr>
                </a:tc>
                <a:tc>
                  <a:txBody>
                    <a:bodyPr/>
                    <a:lstStyle/>
                    <a:p>
                      <a:pPr algn="ctr"/>
                      <a:r>
                        <a:rPr lang="en-US" sz="700">
                          <a:effectLst/>
                        </a:rPr>
                        <a:t>0.0166</a:t>
                      </a:r>
                    </a:p>
                  </a:txBody>
                  <a:tcPr marL="38033" marR="38033" marT="19017" marB="19017" anchor="ctr">
                    <a:lnL>
                      <a:noFill/>
                    </a:lnL>
                    <a:lnR>
                      <a:noFill/>
                    </a:lnR>
                    <a:lnT>
                      <a:noFill/>
                    </a:lnT>
                    <a:lnB>
                      <a:noFill/>
                    </a:lnB>
                    <a:noFill/>
                  </a:tcPr>
                </a:tc>
                <a:tc>
                  <a:txBody>
                    <a:bodyPr/>
                    <a:lstStyle/>
                    <a:p>
                      <a:pPr algn="ctr"/>
                      <a:r>
                        <a:rPr lang="en-US" sz="700">
                          <a:effectLst/>
                        </a:rPr>
                        <a:t>0.8415</a:t>
                      </a:r>
                    </a:p>
                  </a:txBody>
                  <a:tcPr marL="38033" marR="38033" marT="19017" marB="19017" anchor="ctr">
                    <a:lnL>
                      <a:noFill/>
                    </a:lnL>
                    <a:lnR>
                      <a:noFill/>
                    </a:lnR>
                    <a:lnT>
                      <a:noFill/>
                    </a:lnT>
                    <a:lnB>
                      <a:noFill/>
                    </a:lnB>
                    <a:noFill/>
                  </a:tcPr>
                </a:tc>
                <a:tc>
                  <a:txBody>
                    <a:bodyPr/>
                    <a:lstStyle/>
                    <a:p>
                      <a:pPr algn="ctr"/>
                      <a:r>
                        <a:rPr lang="en-US" sz="700">
                          <a:effectLst/>
                        </a:rPr>
                        <a:t>0.0298</a:t>
                      </a:r>
                    </a:p>
                  </a:txBody>
                  <a:tcPr marL="38033" marR="38033" marT="19017" marB="19017" anchor="ctr">
                    <a:lnL>
                      <a:noFill/>
                    </a:lnL>
                    <a:lnR>
                      <a:noFill/>
                    </a:lnR>
                    <a:lnT>
                      <a:noFill/>
                    </a:lnT>
                    <a:lnB>
                      <a:noFill/>
                    </a:lnB>
                    <a:noFill/>
                  </a:tcPr>
                </a:tc>
                <a:tc>
                  <a:txBody>
                    <a:bodyPr/>
                    <a:lstStyle/>
                    <a:p>
                      <a:pPr algn="ctr"/>
                      <a:r>
                        <a:rPr lang="en-US" sz="700">
                          <a:effectLst/>
                        </a:rPr>
                        <a:t>0.0392</a:t>
                      </a:r>
                    </a:p>
                  </a:txBody>
                  <a:tcPr marL="38033" marR="38033" marT="19017" marB="19017" anchor="ctr">
                    <a:lnL>
                      <a:noFill/>
                    </a:lnL>
                    <a:lnR>
                      <a:noFill/>
                    </a:lnR>
                    <a:lnT>
                      <a:noFill/>
                    </a:lnT>
                    <a:lnB>
                      <a:noFill/>
                    </a:lnB>
                    <a:noFill/>
                  </a:tcPr>
                </a:tc>
                <a:tc>
                  <a:txBody>
                    <a:bodyPr/>
                    <a:lstStyle/>
                    <a:p>
                      <a:pPr algn="ctr"/>
                      <a:r>
                        <a:rPr lang="en-US" sz="700">
                          <a:effectLst/>
                        </a:rPr>
                        <a:t>0.0032</a:t>
                      </a:r>
                    </a:p>
                  </a:txBody>
                  <a:tcPr marL="38033" marR="38033" marT="19017" marB="19017" anchor="ctr">
                    <a:lnL>
                      <a:noFill/>
                    </a:lnL>
                    <a:lnR>
                      <a:noFill/>
                    </a:lnR>
                    <a:lnT>
                      <a:noFill/>
                    </a:lnT>
                    <a:lnB>
                      <a:noFill/>
                    </a:lnB>
                    <a:noFill/>
                  </a:tcPr>
                </a:tc>
                <a:tc>
                  <a:txBody>
                    <a:bodyPr/>
                    <a:lstStyle/>
                    <a:p>
                      <a:pPr algn="ctr"/>
                      <a:r>
                        <a:rPr lang="en-US" sz="700">
                          <a:effectLst/>
                        </a:rPr>
                        <a:t>0.8208</a:t>
                      </a:r>
                    </a:p>
                  </a:txBody>
                  <a:tcPr marL="38033" marR="38033" marT="19017" marB="19017" anchor="ctr">
                    <a:lnL>
                      <a:noFill/>
                    </a:lnL>
                    <a:lnR>
                      <a:noFill/>
                    </a:lnR>
                    <a:lnT>
                      <a:noFill/>
                    </a:lnT>
                    <a:lnB>
                      <a:noFill/>
                    </a:lnB>
                    <a:noFill/>
                  </a:tcPr>
                </a:tc>
                <a:tc>
                  <a:txBody>
                    <a:bodyPr/>
                    <a:lstStyle/>
                    <a:p>
                      <a:pPr algn="ctr"/>
                      <a:r>
                        <a:rPr lang="en-US" sz="700">
                          <a:effectLst/>
                        </a:rPr>
                        <a:t>0.5702</a:t>
                      </a:r>
                    </a:p>
                  </a:txBody>
                  <a:tcPr marL="38033" marR="38033" marT="19017" marB="19017" anchor="ctr">
                    <a:lnL>
                      <a:noFill/>
                    </a:lnL>
                    <a:lnR>
                      <a:noFill/>
                    </a:lnR>
                    <a:lnT>
                      <a:noFill/>
                    </a:lnT>
                    <a:lnB>
                      <a:noFill/>
                    </a:lnB>
                    <a:noFill/>
                  </a:tcPr>
                </a:tc>
                <a:extLst>
                  <a:ext uri="{0D108BD9-81ED-4DB2-BD59-A6C34878D82A}">
                    <a16:rowId xmlns:a16="http://schemas.microsoft.com/office/drawing/2014/main" val="3707280431"/>
                  </a:ext>
                </a:extLst>
              </a:tr>
            </a:tbl>
          </a:graphicData>
        </a:graphic>
      </p:graphicFrame>
    </p:spTree>
    <p:extLst>
      <p:ext uri="{BB962C8B-B14F-4D97-AF65-F5344CB8AC3E}">
        <p14:creationId xmlns:p14="http://schemas.microsoft.com/office/powerpoint/2010/main" val="38441361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2521D-FA6A-64DA-26C0-A8B48622BDF3}"/>
            </a:ext>
          </a:extLst>
        </p:cNvPr>
        <p:cNvGrpSpPr/>
        <p:nvPr/>
      </p:nvGrpSpPr>
      <p:grpSpPr>
        <a:xfrm>
          <a:off x="0" y="0"/>
          <a:ext cx="0" cy="0"/>
          <a:chOff x="0" y="0"/>
          <a:chExt cx="0" cy="0"/>
        </a:xfrm>
      </p:grpSpPr>
      <p:sp>
        <p:nvSpPr>
          <p:cNvPr id="3074" name="Rectangle 19">
            <a:extLst>
              <a:ext uri="{FF2B5EF4-FFF2-40B4-BE49-F238E27FC236}">
                <a16:creationId xmlns:a16="http://schemas.microsoft.com/office/drawing/2014/main" id="{DFD3021A-CF95-EBAF-31F3-8CE887C447BF}"/>
              </a:ext>
            </a:extLst>
          </p:cNvPr>
          <p:cNvSpPr>
            <a:spLocks noChangeArrowheads="1"/>
          </p:cNvSpPr>
          <p:nvPr/>
        </p:nvSpPr>
        <p:spPr bwMode="auto">
          <a:xfrm>
            <a:off x="373063" y="152400"/>
            <a:ext cx="6853237"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lnSpc>
                <a:spcPct val="150000"/>
              </a:lnSpc>
              <a:defRPr/>
            </a:pPr>
            <a:r>
              <a:rPr lang="en-US" altLang="zh-TW" sz="3600">
                <a:solidFill>
                  <a:srgbClr val="4D4D4D"/>
                </a:solidFill>
                <a:latin typeface="Georgia" pitchFamily="18" charset="0"/>
                <a:ea typeface="PMingLiU" pitchFamily="18" charset="-120"/>
              </a:rPr>
              <a:t>Experimental Results</a:t>
            </a:r>
          </a:p>
        </p:txBody>
      </p:sp>
      <p:sp>
        <p:nvSpPr>
          <p:cNvPr id="2" name="Slide Number Placeholder 1">
            <a:extLst>
              <a:ext uri="{FF2B5EF4-FFF2-40B4-BE49-F238E27FC236}">
                <a16:creationId xmlns:a16="http://schemas.microsoft.com/office/drawing/2014/main" id="{EEA68FF4-C2D2-675A-C858-A74BFD6F27E3}"/>
              </a:ext>
            </a:extLst>
          </p:cNvPr>
          <p:cNvSpPr>
            <a:spLocks noGrp="1"/>
          </p:cNvSpPr>
          <p:nvPr>
            <p:ph type="sldNum" sz="quarter" idx="12"/>
          </p:nvPr>
        </p:nvSpPr>
        <p:spPr/>
        <p:txBody>
          <a:bodyPr/>
          <a:lstStyle/>
          <a:p>
            <a:fld id="{B95760C2-38E4-496F-933D-2305F303D3F1}" type="slidenum">
              <a:rPr lang="zh-TW" altLang="en-US" smtClean="0"/>
              <a:pPr/>
              <a:t>13</a:t>
            </a:fld>
            <a:endParaRPr lang="en-US" altLang="zh-TW"/>
          </a:p>
        </p:txBody>
      </p:sp>
      <p:pic>
        <p:nvPicPr>
          <p:cNvPr id="4" name="Picture 3">
            <a:extLst>
              <a:ext uri="{FF2B5EF4-FFF2-40B4-BE49-F238E27FC236}">
                <a16:creationId xmlns:a16="http://schemas.microsoft.com/office/drawing/2014/main" id="{2D6B9B1D-6AB2-04BE-2F8B-D4C5EC254469}"/>
              </a:ext>
            </a:extLst>
          </p:cNvPr>
          <p:cNvPicPr>
            <a:picLocks noChangeAspect="1"/>
          </p:cNvPicPr>
          <p:nvPr/>
        </p:nvPicPr>
        <p:blipFill>
          <a:blip r:embed="rId3"/>
          <a:stretch>
            <a:fillRect/>
          </a:stretch>
        </p:blipFill>
        <p:spPr>
          <a:xfrm>
            <a:off x="1005963" y="2502737"/>
            <a:ext cx="2917979" cy="4042442"/>
          </a:xfrm>
          <a:prstGeom prst="rect">
            <a:avLst/>
          </a:prstGeom>
        </p:spPr>
      </p:pic>
      <p:pic>
        <p:nvPicPr>
          <p:cNvPr id="5" name="Picture 4">
            <a:extLst>
              <a:ext uri="{FF2B5EF4-FFF2-40B4-BE49-F238E27FC236}">
                <a16:creationId xmlns:a16="http://schemas.microsoft.com/office/drawing/2014/main" id="{AAB3C52A-221F-40E5-F6D9-B474743A2D35}"/>
              </a:ext>
            </a:extLst>
          </p:cNvPr>
          <p:cNvPicPr>
            <a:picLocks noChangeAspect="1"/>
          </p:cNvPicPr>
          <p:nvPr/>
        </p:nvPicPr>
        <p:blipFill>
          <a:blip r:embed="rId4"/>
          <a:stretch>
            <a:fillRect/>
          </a:stretch>
        </p:blipFill>
        <p:spPr>
          <a:xfrm>
            <a:off x="4828674" y="2518610"/>
            <a:ext cx="3031833" cy="4042443"/>
          </a:xfrm>
          <a:prstGeom prst="rect">
            <a:avLst/>
          </a:prstGeom>
        </p:spPr>
      </p:pic>
      <p:sp>
        <p:nvSpPr>
          <p:cNvPr id="6" name="TextBox 5">
            <a:extLst>
              <a:ext uri="{FF2B5EF4-FFF2-40B4-BE49-F238E27FC236}">
                <a16:creationId xmlns:a16="http://schemas.microsoft.com/office/drawing/2014/main" id="{FD8BD830-67AE-4FB0-68F6-1D383BF67098}"/>
              </a:ext>
            </a:extLst>
          </p:cNvPr>
          <p:cNvSpPr txBox="1"/>
          <p:nvPr/>
        </p:nvSpPr>
        <p:spPr>
          <a:xfrm>
            <a:off x="1379622" y="1722339"/>
            <a:ext cx="2172390" cy="369332"/>
          </a:xfrm>
          <a:prstGeom prst="rect">
            <a:avLst/>
          </a:prstGeom>
          <a:noFill/>
        </p:spPr>
        <p:txBody>
          <a:bodyPr wrap="none" rtlCol="0">
            <a:spAutoFit/>
          </a:bodyPr>
          <a:lstStyle/>
          <a:p>
            <a:r>
              <a:rPr lang="en-US"/>
              <a:t>Baseline Response</a:t>
            </a:r>
          </a:p>
        </p:txBody>
      </p:sp>
      <p:sp>
        <p:nvSpPr>
          <p:cNvPr id="7" name="TextBox 6">
            <a:extLst>
              <a:ext uri="{FF2B5EF4-FFF2-40B4-BE49-F238E27FC236}">
                <a16:creationId xmlns:a16="http://schemas.microsoft.com/office/drawing/2014/main" id="{1EE08842-A75C-E281-2D80-9F50CE8F5C2B}"/>
              </a:ext>
            </a:extLst>
          </p:cNvPr>
          <p:cNvSpPr txBox="1"/>
          <p:nvPr/>
        </p:nvSpPr>
        <p:spPr>
          <a:xfrm>
            <a:off x="4973280" y="1728173"/>
            <a:ext cx="3159839" cy="369332"/>
          </a:xfrm>
          <a:prstGeom prst="rect">
            <a:avLst/>
          </a:prstGeom>
          <a:noFill/>
        </p:spPr>
        <p:txBody>
          <a:bodyPr wrap="none" rtlCol="0">
            <a:spAutoFit/>
          </a:bodyPr>
          <a:lstStyle/>
          <a:p>
            <a:r>
              <a:rPr lang="en-US"/>
              <a:t>Structured Prompt Response</a:t>
            </a:r>
          </a:p>
        </p:txBody>
      </p:sp>
    </p:spTree>
    <p:extLst>
      <p:ext uri="{BB962C8B-B14F-4D97-AF65-F5344CB8AC3E}">
        <p14:creationId xmlns:p14="http://schemas.microsoft.com/office/powerpoint/2010/main" val="3293385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74C07-CA9C-BF14-E3D7-2EA286CC9512}"/>
            </a:ext>
          </a:extLst>
        </p:cNvPr>
        <p:cNvGrpSpPr/>
        <p:nvPr/>
      </p:nvGrpSpPr>
      <p:grpSpPr>
        <a:xfrm>
          <a:off x="0" y="0"/>
          <a:ext cx="0" cy="0"/>
          <a:chOff x="0" y="0"/>
          <a:chExt cx="0" cy="0"/>
        </a:xfrm>
      </p:grpSpPr>
      <p:sp>
        <p:nvSpPr>
          <p:cNvPr id="3074" name="Rectangle 19">
            <a:extLst>
              <a:ext uri="{FF2B5EF4-FFF2-40B4-BE49-F238E27FC236}">
                <a16:creationId xmlns:a16="http://schemas.microsoft.com/office/drawing/2014/main" id="{3828F213-5537-A6DF-0A71-62043A090CF4}"/>
              </a:ext>
            </a:extLst>
          </p:cNvPr>
          <p:cNvSpPr>
            <a:spLocks noChangeArrowheads="1"/>
          </p:cNvSpPr>
          <p:nvPr/>
        </p:nvSpPr>
        <p:spPr bwMode="auto">
          <a:xfrm>
            <a:off x="373063" y="152400"/>
            <a:ext cx="6853237"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lnSpc>
                <a:spcPct val="150000"/>
              </a:lnSpc>
              <a:defRPr/>
            </a:pPr>
            <a:r>
              <a:rPr lang="en-US" altLang="zh-TW" sz="3600">
                <a:solidFill>
                  <a:srgbClr val="4D4D4D"/>
                </a:solidFill>
                <a:latin typeface="Georgia" pitchFamily="18" charset="0"/>
                <a:ea typeface="PMingLiU" pitchFamily="18" charset="-120"/>
              </a:rPr>
              <a:t>Experimental Results</a:t>
            </a:r>
          </a:p>
        </p:txBody>
      </p:sp>
      <p:sp>
        <p:nvSpPr>
          <p:cNvPr id="2" name="Slide Number Placeholder 1">
            <a:extLst>
              <a:ext uri="{FF2B5EF4-FFF2-40B4-BE49-F238E27FC236}">
                <a16:creationId xmlns:a16="http://schemas.microsoft.com/office/drawing/2014/main" id="{C5B662A2-6028-7AC6-B064-85DEE3E98634}"/>
              </a:ext>
            </a:extLst>
          </p:cNvPr>
          <p:cNvSpPr>
            <a:spLocks noGrp="1"/>
          </p:cNvSpPr>
          <p:nvPr>
            <p:ph type="sldNum" sz="quarter" idx="12"/>
          </p:nvPr>
        </p:nvSpPr>
        <p:spPr/>
        <p:txBody>
          <a:bodyPr/>
          <a:lstStyle/>
          <a:p>
            <a:fld id="{B95760C2-38E4-496F-933D-2305F303D3F1}" type="slidenum">
              <a:rPr lang="zh-TW" altLang="en-US" smtClean="0"/>
              <a:pPr/>
              <a:t>14</a:t>
            </a:fld>
            <a:endParaRPr lang="en-US" altLang="zh-TW"/>
          </a:p>
        </p:txBody>
      </p:sp>
      <p:pic>
        <p:nvPicPr>
          <p:cNvPr id="4" name="Picture 3" descr="A graph of blue bars&#10;&#10;AI-generated content may be incorrect.">
            <a:extLst>
              <a:ext uri="{FF2B5EF4-FFF2-40B4-BE49-F238E27FC236}">
                <a16:creationId xmlns:a16="http://schemas.microsoft.com/office/drawing/2014/main" id="{D265962E-7AE2-9DF3-FAEE-AF8F85AC29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616718"/>
            <a:ext cx="7772400" cy="4628507"/>
          </a:xfrm>
          <a:prstGeom prst="rect">
            <a:avLst/>
          </a:prstGeom>
        </p:spPr>
      </p:pic>
    </p:spTree>
    <p:extLst>
      <p:ext uri="{BB962C8B-B14F-4D97-AF65-F5344CB8AC3E}">
        <p14:creationId xmlns:p14="http://schemas.microsoft.com/office/powerpoint/2010/main" val="883016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9"/>
          <p:cNvSpPr>
            <a:spLocks noChangeArrowheads="1"/>
          </p:cNvSpPr>
          <p:nvPr/>
        </p:nvSpPr>
        <p:spPr bwMode="auto">
          <a:xfrm>
            <a:off x="373063" y="152400"/>
            <a:ext cx="6853237"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lnSpc>
                <a:spcPct val="150000"/>
              </a:lnSpc>
              <a:defRPr/>
            </a:pPr>
            <a:r>
              <a:rPr lang="en-US" altLang="zh-TW" sz="3600">
                <a:solidFill>
                  <a:srgbClr val="4D4D4D"/>
                </a:solidFill>
                <a:latin typeface="Georgia" pitchFamily="18" charset="0"/>
                <a:ea typeface="PMingLiU" pitchFamily="18" charset="-120"/>
              </a:rPr>
              <a:t>Experimental Analysis</a:t>
            </a:r>
          </a:p>
        </p:txBody>
      </p:sp>
      <p:sp>
        <p:nvSpPr>
          <p:cNvPr id="3075" name="Content Placeholder 1"/>
          <p:cNvSpPr>
            <a:spLocks noGrp="1"/>
          </p:cNvSpPr>
          <p:nvPr>
            <p:ph/>
          </p:nvPr>
        </p:nvSpPr>
        <p:spPr>
          <a:xfrm>
            <a:off x="533400" y="1638300"/>
            <a:ext cx="8229600" cy="4229100"/>
          </a:xfrm>
        </p:spPr>
        <p:txBody>
          <a:bodyPr/>
          <a:lstStyle/>
          <a:p>
            <a:pPr eaLnBrk="1" hangingPunct="1">
              <a:lnSpc>
                <a:spcPct val="150000"/>
              </a:lnSpc>
              <a:buFont typeface="Wingdings" charset="0"/>
              <a:buChar char="§"/>
              <a:defRPr/>
            </a:pPr>
            <a:r>
              <a:rPr lang="en-US" altLang="zh-TW" sz="1800">
                <a:solidFill>
                  <a:srgbClr val="4D4D4D"/>
                </a:solidFill>
                <a:latin typeface="Georgia" charset="0"/>
                <a:ea typeface="新細明體" charset="0"/>
                <a:cs typeface="新細明體" charset="0"/>
              </a:rPr>
              <a:t>Performance Trends</a:t>
            </a:r>
          </a:p>
          <a:p>
            <a:pPr lvl="1" eaLnBrk="1" hangingPunct="1">
              <a:lnSpc>
                <a:spcPct val="150000"/>
              </a:lnSpc>
              <a:buFont typeface="Wingdings" charset="0"/>
              <a:buChar char="§"/>
              <a:defRPr/>
            </a:pPr>
            <a:r>
              <a:rPr lang="en-US" altLang="zh-TW" sz="1400">
                <a:solidFill>
                  <a:srgbClr val="4D4D4D"/>
                </a:solidFill>
                <a:latin typeface="Georgia" charset="0"/>
                <a:ea typeface="新細明體" charset="0"/>
                <a:cs typeface="新細明體" charset="0"/>
              </a:rPr>
              <a:t>Our structured prompts consistently outperforms the baseline across all metrics</a:t>
            </a:r>
          </a:p>
          <a:p>
            <a:pPr lvl="1" eaLnBrk="1" hangingPunct="1">
              <a:lnSpc>
                <a:spcPct val="150000"/>
              </a:lnSpc>
              <a:buFont typeface="Wingdings" charset="0"/>
              <a:buChar char="§"/>
              <a:defRPr/>
            </a:pPr>
            <a:r>
              <a:rPr lang="en-US" altLang="zh-TW" sz="1400">
                <a:solidFill>
                  <a:srgbClr val="4D4D4D"/>
                </a:solidFill>
                <a:latin typeface="Georgia" charset="0"/>
                <a:ea typeface="新細明體" charset="0"/>
                <a:cs typeface="新細明體" charset="0"/>
              </a:rPr>
              <a:t>BLEU and ROGUE-L scores remain low overall but </a:t>
            </a:r>
            <a:r>
              <a:rPr lang="en-US" altLang="zh-TW" sz="1400" err="1">
                <a:solidFill>
                  <a:srgbClr val="4D4D4D"/>
                </a:solidFill>
                <a:latin typeface="Georgia" charset="0"/>
                <a:ea typeface="新細明體" charset="0"/>
                <a:cs typeface="新細明體" charset="0"/>
              </a:rPr>
              <a:t>BERTScore</a:t>
            </a:r>
            <a:r>
              <a:rPr lang="en-US" altLang="zh-TW" sz="1400">
                <a:solidFill>
                  <a:srgbClr val="4D4D4D"/>
                </a:solidFill>
                <a:latin typeface="Georgia" charset="0"/>
                <a:ea typeface="新細明體" charset="0"/>
                <a:cs typeface="新細明體" charset="0"/>
              </a:rPr>
              <a:t> and SBERT cosine show significantly higher semantic similarity</a:t>
            </a:r>
          </a:p>
          <a:p>
            <a:pPr eaLnBrk="1" hangingPunct="1">
              <a:lnSpc>
                <a:spcPct val="150000"/>
              </a:lnSpc>
              <a:buFont typeface="Wingdings" charset="0"/>
              <a:buChar char="§"/>
              <a:defRPr/>
            </a:pPr>
            <a:r>
              <a:rPr lang="en-US" altLang="zh-TW" sz="1800">
                <a:solidFill>
                  <a:srgbClr val="4D4D4D"/>
                </a:solidFill>
                <a:latin typeface="Georgia" charset="0"/>
                <a:ea typeface="新細明體" charset="0"/>
                <a:cs typeface="新細明體" charset="0"/>
              </a:rPr>
              <a:t>Section-Wise Observations</a:t>
            </a:r>
          </a:p>
          <a:p>
            <a:pPr lvl="1" eaLnBrk="1" hangingPunct="1">
              <a:lnSpc>
                <a:spcPct val="150000"/>
              </a:lnSpc>
              <a:buFont typeface="Wingdings" charset="0"/>
              <a:buChar char="§"/>
              <a:defRPr/>
            </a:pPr>
            <a:r>
              <a:rPr lang="en-US" altLang="zh-TW" sz="1400">
                <a:solidFill>
                  <a:srgbClr val="4D4D4D"/>
                </a:solidFill>
                <a:latin typeface="Georgia" charset="0"/>
                <a:ea typeface="新細明體" charset="0"/>
                <a:cs typeface="新細明體" charset="0"/>
              </a:rPr>
              <a:t>Summary and contributions sections are relatively more aligned with ground truth than weaknesses or suggestions</a:t>
            </a:r>
          </a:p>
          <a:p>
            <a:pPr lvl="1" eaLnBrk="1" hangingPunct="1">
              <a:lnSpc>
                <a:spcPct val="150000"/>
              </a:lnSpc>
              <a:buFont typeface="Wingdings" charset="0"/>
              <a:buChar char="§"/>
              <a:defRPr/>
            </a:pPr>
            <a:r>
              <a:rPr lang="en-US" altLang="zh-TW" sz="1400">
                <a:solidFill>
                  <a:srgbClr val="4D4D4D"/>
                </a:solidFill>
                <a:latin typeface="Georgia" charset="0"/>
                <a:ea typeface="新細明體" charset="0"/>
                <a:cs typeface="新細明體" charset="0"/>
              </a:rPr>
              <a:t>In many cases, the model-generated weaknesses were generic or followed a pattern, leading to some gaps in review depth</a:t>
            </a:r>
          </a:p>
          <a:p>
            <a:pPr eaLnBrk="1" hangingPunct="1">
              <a:lnSpc>
                <a:spcPct val="150000"/>
              </a:lnSpc>
              <a:buFont typeface="Wingdings" charset="0"/>
              <a:buChar char="§"/>
              <a:defRPr/>
            </a:pPr>
            <a:r>
              <a:rPr lang="en-US" altLang="zh-TW" sz="1800">
                <a:solidFill>
                  <a:srgbClr val="4D4D4D"/>
                </a:solidFill>
                <a:latin typeface="Georgia" charset="0"/>
                <a:ea typeface="新細明體" charset="0"/>
                <a:cs typeface="新細明體" charset="0"/>
              </a:rPr>
              <a:t>Comparison to Baselines</a:t>
            </a:r>
          </a:p>
          <a:p>
            <a:pPr eaLnBrk="1" hangingPunct="1">
              <a:lnSpc>
                <a:spcPct val="150000"/>
              </a:lnSpc>
              <a:buFont typeface="Wingdings" charset="0"/>
              <a:buChar char="§"/>
              <a:defRPr/>
            </a:pPr>
            <a:r>
              <a:rPr lang="en-US" altLang="zh-TW" sz="1800">
                <a:solidFill>
                  <a:srgbClr val="4D4D4D"/>
                </a:solidFill>
                <a:latin typeface="Georgia" charset="0"/>
                <a:ea typeface="新細明體" charset="0"/>
                <a:cs typeface="新細明體" charset="0"/>
              </a:rPr>
              <a:t>Insights</a:t>
            </a:r>
          </a:p>
          <a:p>
            <a:pPr lvl="1" eaLnBrk="1" hangingPunct="1">
              <a:lnSpc>
                <a:spcPct val="150000"/>
              </a:lnSpc>
              <a:buFont typeface="Wingdings" charset="0"/>
              <a:buChar char="§"/>
              <a:defRPr/>
            </a:pPr>
            <a:r>
              <a:rPr lang="en-US" altLang="zh-TW" sz="1400">
                <a:solidFill>
                  <a:srgbClr val="4D4D4D"/>
                </a:solidFill>
                <a:latin typeface="Georgia" charset="0"/>
                <a:ea typeface="新細明體" charset="0"/>
                <a:cs typeface="新細明體" charset="0"/>
              </a:rPr>
              <a:t>The structured prompt encouraged multi-paragraph strengths/weaknesses, whereas the baseline prompt often omitted these</a:t>
            </a:r>
          </a:p>
        </p:txBody>
      </p:sp>
      <p:sp>
        <p:nvSpPr>
          <p:cNvPr id="2" name="Slide Number Placeholder 1"/>
          <p:cNvSpPr>
            <a:spLocks noGrp="1"/>
          </p:cNvSpPr>
          <p:nvPr>
            <p:ph type="sldNum" sz="quarter" idx="12"/>
          </p:nvPr>
        </p:nvSpPr>
        <p:spPr/>
        <p:txBody>
          <a:bodyPr/>
          <a:lstStyle/>
          <a:p>
            <a:fld id="{B95760C2-38E4-496F-933D-2305F303D3F1}" type="slidenum">
              <a:rPr lang="zh-TW" altLang="en-US" smtClean="0"/>
              <a:pPr/>
              <a:t>15</a:t>
            </a:fld>
            <a:endParaRPr lang="en-US" altLang="zh-TW"/>
          </a:p>
        </p:txBody>
      </p:sp>
    </p:spTree>
    <p:extLst>
      <p:ext uri="{BB962C8B-B14F-4D97-AF65-F5344CB8AC3E}">
        <p14:creationId xmlns:p14="http://schemas.microsoft.com/office/powerpoint/2010/main" val="22798491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5"/>
          <p:cNvSpPr>
            <a:spLocks noChangeArrowheads="1"/>
          </p:cNvSpPr>
          <p:nvPr/>
        </p:nvSpPr>
        <p:spPr bwMode="auto">
          <a:xfrm>
            <a:off x="373063" y="152400"/>
            <a:ext cx="6853237"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defRPr/>
            </a:pPr>
            <a:r>
              <a:rPr lang="en-US" altLang="zh-TW" sz="3600">
                <a:solidFill>
                  <a:srgbClr val="4D4D4D"/>
                </a:solidFill>
                <a:latin typeface="Georgia" charset="0"/>
                <a:ea typeface="新細明體" charset="0"/>
                <a:cs typeface="新細明體" charset="0"/>
              </a:rPr>
              <a:t>Conclusion and Future Work</a:t>
            </a:r>
          </a:p>
        </p:txBody>
      </p:sp>
      <p:sp>
        <p:nvSpPr>
          <p:cNvPr id="53250" name="Content Placeholder 2"/>
          <p:cNvSpPr txBox="1">
            <a:spLocks/>
          </p:cNvSpPr>
          <p:nvPr/>
        </p:nvSpPr>
        <p:spPr bwMode="auto">
          <a:xfrm>
            <a:off x="373063" y="1737360"/>
            <a:ext cx="8313737" cy="42793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20000"/>
              </a:spcBef>
            </a:pPr>
            <a:r>
              <a:rPr lang="en-US" altLang="en-US" sz="1800" b="1">
                <a:solidFill>
                  <a:srgbClr val="4D4D4D"/>
                </a:solidFill>
                <a:latin typeface="Georgia" pitchFamily="18" charset="0"/>
              </a:rPr>
              <a:t>Conclusion</a:t>
            </a:r>
          </a:p>
          <a:p>
            <a:pPr eaLnBrk="1" hangingPunct="1">
              <a:spcBef>
                <a:spcPct val="20000"/>
              </a:spcBef>
              <a:buFont typeface="Arial" panose="020B0604020202020204" pitchFamily="34" charset="0"/>
              <a:buChar char="•"/>
            </a:pPr>
            <a:r>
              <a:rPr lang="en-US" altLang="en-US" sz="1800">
                <a:solidFill>
                  <a:srgbClr val="4D4D4D"/>
                </a:solidFill>
                <a:latin typeface="Georgia" pitchFamily="18" charset="0"/>
              </a:rPr>
              <a:t>We designed a modular pipeline to generate structured academic paper reviews using GPT-4.1</a:t>
            </a:r>
          </a:p>
          <a:p>
            <a:pPr eaLnBrk="1" hangingPunct="1">
              <a:spcBef>
                <a:spcPct val="20000"/>
              </a:spcBef>
              <a:buFont typeface="Arial" panose="020B0604020202020204" pitchFamily="34" charset="0"/>
              <a:buChar char="•"/>
            </a:pPr>
            <a:r>
              <a:rPr lang="en-US" altLang="en-US" sz="1800">
                <a:solidFill>
                  <a:srgbClr val="4D4D4D"/>
                </a:solidFill>
                <a:latin typeface="Georgia" pitchFamily="18" charset="0"/>
              </a:rPr>
              <a:t>Our prompt engineering strategy led to higher semantic alignment and more informative reviews compared to baseline prompts</a:t>
            </a:r>
          </a:p>
          <a:p>
            <a:pPr eaLnBrk="1" hangingPunct="1">
              <a:spcBef>
                <a:spcPct val="20000"/>
              </a:spcBef>
              <a:buFont typeface="Arial" panose="020B0604020202020204" pitchFamily="34" charset="0"/>
              <a:buChar char="•"/>
            </a:pPr>
            <a:r>
              <a:rPr lang="en-US" altLang="en-US" sz="1800">
                <a:solidFill>
                  <a:srgbClr val="4D4D4D"/>
                </a:solidFill>
                <a:latin typeface="Georgia" pitchFamily="18" charset="0"/>
              </a:rPr>
              <a:t>Evaluations across 10 papers showed consistent performance in summary generation and semantic coherence (</a:t>
            </a:r>
            <a:r>
              <a:rPr lang="en-US" altLang="en-US" sz="1800" err="1">
                <a:solidFill>
                  <a:srgbClr val="4D4D4D"/>
                </a:solidFill>
                <a:latin typeface="Georgia" pitchFamily="18" charset="0"/>
              </a:rPr>
              <a:t>BERTScore</a:t>
            </a:r>
            <a:r>
              <a:rPr lang="en-US" altLang="en-US" sz="1800">
                <a:solidFill>
                  <a:srgbClr val="4D4D4D"/>
                </a:solidFill>
                <a:latin typeface="Georgia" pitchFamily="18" charset="0"/>
              </a:rPr>
              <a:t> = 0.81)</a:t>
            </a:r>
          </a:p>
          <a:p>
            <a:pPr eaLnBrk="1" hangingPunct="1">
              <a:spcBef>
                <a:spcPct val="20000"/>
              </a:spcBef>
              <a:buFont typeface="Arial" panose="020B0604020202020204" pitchFamily="34" charset="0"/>
              <a:buChar char="•"/>
            </a:pPr>
            <a:r>
              <a:rPr lang="en-US" altLang="en-US" sz="1800">
                <a:solidFill>
                  <a:srgbClr val="4D4D4D"/>
                </a:solidFill>
                <a:latin typeface="Georgia" pitchFamily="18" charset="0"/>
              </a:rPr>
              <a:t>Our approach demonstrates the structured prompting significantly improves review quality over generic generation</a:t>
            </a:r>
            <a:endParaRPr lang="en-US" altLang="en-US" sz="1800" b="1">
              <a:solidFill>
                <a:srgbClr val="4D4D4D"/>
              </a:solidFill>
              <a:latin typeface="Georgia" pitchFamily="18" charset="0"/>
            </a:endParaRPr>
          </a:p>
          <a:p>
            <a:pPr eaLnBrk="1" hangingPunct="1">
              <a:spcBef>
                <a:spcPct val="20000"/>
              </a:spcBef>
            </a:pPr>
            <a:r>
              <a:rPr lang="en-US" altLang="en-US" sz="1800" b="1">
                <a:solidFill>
                  <a:srgbClr val="4D4D4D"/>
                </a:solidFill>
                <a:latin typeface="Georgia" pitchFamily="18" charset="0"/>
              </a:rPr>
              <a:t>Future Work</a:t>
            </a:r>
          </a:p>
          <a:p>
            <a:pPr eaLnBrk="1" hangingPunct="1">
              <a:spcBef>
                <a:spcPct val="20000"/>
              </a:spcBef>
              <a:buFont typeface="Arial" panose="020B0604020202020204" pitchFamily="34" charset="0"/>
              <a:buChar char="•"/>
            </a:pPr>
            <a:r>
              <a:rPr lang="en-US" altLang="en-US" sz="1800">
                <a:solidFill>
                  <a:srgbClr val="4D4D4D"/>
                </a:solidFill>
                <a:latin typeface="Georgia" pitchFamily="18" charset="0"/>
              </a:rPr>
              <a:t>Incorporate section-specific evaluation</a:t>
            </a:r>
          </a:p>
          <a:p>
            <a:pPr eaLnBrk="1" hangingPunct="1">
              <a:spcBef>
                <a:spcPct val="20000"/>
              </a:spcBef>
              <a:buFont typeface="Arial" panose="020B0604020202020204" pitchFamily="34" charset="0"/>
              <a:buChar char="•"/>
            </a:pPr>
            <a:r>
              <a:rPr lang="en-US" altLang="en-US" sz="1800">
                <a:solidFill>
                  <a:srgbClr val="4D4D4D"/>
                </a:solidFill>
                <a:latin typeface="Georgia" pitchFamily="18" charset="0"/>
              </a:rPr>
              <a:t>Explore automatic factuality checks to assess correctness of claims in generated reviews</a:t>
            </a:r>
          </a:p>
          <a:p>
            <a:pPr eaLnBrk="1" hangingPunct="1">
              <a:spcBef>
                <a:spcPct val="20000"/>
              </a:spcBef>
              <a:buFont typeface="Arial" panose="020B0604020202020204" pitchFamily="34" charset="0"/>
              <a:buChar char="•"/>
            </a:pPr>
            <a:r>
              <a:rPr lang="en-US" altLang="en-US" sz="1800">
                <a:solidFill>
                  <a:srgbClr val="4D4D4D"/>
                </a:solidFill>
                <a:latin typeface="Georgia" pitchFamily="18" charset="0"/>
              </a:rPr>
              <a:t>Train a fine-tuned model or use function-calling with GPT to better handle longer papers</a:t>
            </a:r>
          </a:p>
        </p:txBody>
      </p:sp>
      <p:sp>
        <p:nvSpPr>
          <p:cNvPr id="2" name="Slide Number Placeholder 1"/>
          <p:cNvSpPr>
            <a:spLocks noGrp="1"/>
          </p:cNvSpPr>
          <p:nvPr>
            <p:ph type="sldNum" sz="quarter" idx="12"/>
          </p:nvPr>
        </p:nvSpPr>
        <p:spPr/>
        <p:txBody>
          <a:bodyPr/>
          <a:lstStyle/>
          <a:p>
            <a:fld id="{B95760C2-38E4-496F-933D-2305F303D3F1}" type="slidenum">
              <a:rPr lang="zh-TW" altLang="en-US" smtClean="0"/>
              <a:pPr/>
              <a:t>16</a:t>
            </a:fld>
            <a:endParaRPr lang="en-US" altLang="zh-TW"/>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C207C-C4CA-0609-2D1F-58127C8362F7}"/>
            </a:ext>
          </a:extLst>
        </p:cNvPr>
        <p:cNvGrpSpPr/>
        <p:nvPr/>
      </p:nvGrpSpPr>
      <p:grpSpPr>
        <a:xfrm>
          <a:off x="0" y="0"/>
          <a:ext cx="0" cy="0"/>
          <a:chOff x="0" y="0"/>
          <a:chExt cx="0" cy="0"/>
        </a:xfrm>
      </p:grpSpPr>
      <p:sp>
        <p:nvSpPr>
          <p:cNvPr id="27650" name="Rectangle 15">
            <a:extLst>
              <a:ext uri="{FF2B5EF4-FFF2-40B4-BE49-F238E27FC236}">
                <a16:creationId xmlns:a16="http://schemas.microsoft.com/office/drawing/2014/main" id="{46B06D34-ED37-14C7-D1CC-9B66001C4667}"/>
              </a:ext>
            </a:extLst>
          </p:cNvPr>
          <p:cNvSpPr>
            <a:spLocks noChangeArrowheads="1"/>
          </p:cNvSpPr>
          <p:nvPr/>
        </p:nvSpPr>
        <p:spPr bwMode="auto">
          <a:xfrm>
            <a:off x="373063" y="152400"/>
            <a:ext cx="6853237"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defRPr/>
            </a:pPr>
            <a:r>
              <a:rPr lang="en-US" altLang="zh-TW" sz="3600">
                <a:solidFill>
                  <a:srgbClr val="4D4D4D"/>
                </a:solidFill>
                <a:latin typeface="Georgia" charset="0"/>
                <a:ea typeface="新細明體" charset="0"/>
                <a:cs typeface="新細明體" charset="0"/>
              </a:rPr>
              <a:t>Challenges</a:t>
            </a:r>
          </a:p>
        </p:txBody>
      </p:sp>
      <p:sp>
        <p:nvSpPr>
          <p:cNvPr id="53250" name="Content Placeholder 2">
            <a:extLst>
              <a:ext uri="{FF2B5EF4-FFF2-40B4-BE49-F238E27FC236}">
                <a16:creationId xmlns:a16="http://schemas.microsoft.com/office/drawing/2014/main" id="{A92C1E34-660F-A32A-B57B-DB348001AFA3}"/>
              </a:ext>
            </a:extLst>
          </p:cNvPr>
          <p:cNvSpPr txBox="1">
            <a:spLocks/>
          </p:cNvSpPr>
          <p:nvPr/>
        </p:nvSpPr>
        <p:spPr bwMode="auto">
          <a:xfrm>
            <a:off x="373063" y="1737360"/>
            <a:ext cx="8313737" cy="42793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20000"/>
              </a:spcBef>
              <a:buFont typeface="Arial" panose="020B0604020202020204" pitchFamily="34" charset="0"/>
              <a:buChar char="•"/>
            </a:pPr>
            <a:r>
              <a:rPr lang="en-US" altLang="en-US" sz="1800" b="1">
                <a:solidFill>
                  <a:srgbClr val="4D4D4D"/>
                </a:solidFill>
                <a:latin typeface="Georgia" pitchFamily="18" charset="0"/>
              </a:rPr>
              <a:t>Prompt Sensitivity: </a:t>
            </a:r>
            <a:r>
              <a:rPr lang="en-US" altLang="en-US" sz="1800">
                <a:solidFill>
                  <a:srgbClr val="4D4D4D"/>
                </a:solidFill>
                <a:latin typeface="Georgia" pitchFamily="18" charset="0"/>
              </a:rPr>
              <a:t>Small prompt changes led to large variation in review detail and quality.</a:t>
            </a:r>
            <a:endParaRPr lang="en-US" altLang="en-US" sz="1800" b="1">
              <a:solidFill>
                <a:srgbClr val="4D4D4D"/>
              </a:solidFill>
              <a:latin typeface="Georgia" pitchFamily="18" charset="0"/>
            </a:endParaRPr>
          </a:p>
          <a:p>
            <a:pPr eaLnBrk="1" hangingPunct="1">
              <a:spcBef>
                <a:spcPct val="20000"/>
              </a:spcBef>
              <a:buFont typeface="Arial" panose="020B0604020202020204" pitchFamily="34" charset="0"/>
              <a:buChar char="•"/>
            </a:pPr>
            <a:r>
              <a:rPr lang="en-US" altLang="en-US" sz="1800" b="1">
                <a:solidFill>
                  <a:srgbClr val="4D4D4D"/>
                </a:solidFill>
                <a:latin typeface="Georgia" pitchFamily="18" charset="0"/>
              </a:rPr>
              <a:t>Token Limits: </a:t>
            </a:r>
            <a:r>
              <a:rPr lang="en-US" altLang="en-US" sz="1800">
                <a:solidFill>
                  <a:srgbClr val="4D4D4D"/>
                </a:solidFill>
                <a:latin typeface="Georgia" pitchFamily="18" charset="0"/>
              </a:rPr>
              <a:t>Long papers exceeded context window, required chunking &amp; merging strategy.</a:t>
            </a:r>
            <a:endParaRPr lang="en-US" altLang="en-US" sz="1800" b="1">
              <a:solidFill>
                <a:srgbClr val="4D4D4D"/>
              </a:solidFill>
              <a:latin typeface="Georgia" pitchFamily="18" charset="0"/>
            </a:endParaRPr>
          </a:p>
          <a:p>
            <a:pPr eaLnBrk="1" hangingPunct="1">
              <a:spcBef>
                <a:spcPct val="20000"/>
              </a:spcBef>
              <a:buFont typeface="Arial" panose="020B0604020202020204" pitchFamily="34" charset="0"/>
              <a:buChar char="•"/>
            </a:pPr>
            <a:r>
              <a:rPr lang="en-US" altLang="en-US" sz="1800" b="1">
                <a:solidFill>
                  <a:srgbClr val="4D4D4D"/>
                </a:solidFill>
                <a:latin typeface="Georgia" pitchFamily="18" charset="0"/>
              </a:rPr>
              <a:t>Missing Sections: </a:t>
            </a:r>
            <a:r>
              <a:rPr lang="en-US" altLang="en-US" sz="1800">
                <a:solidFill>
                  <a:srgbClr val="4D4D4D"/>
                </a:solidFill>
                <a:latin typeface="Georgia" pitchFamily="18" charset="0"/>
              </a:rPr>
              <a:t>Some generated reviews lacked complete content</a:t>
            </a:r>
            <a:endParaRPr lang="en-US" altLang="en-US" sz="1800" b="1">
              <a:solidFill>
                <a:srgbClr val="4D4D4D"/>
              </a:solidFill>
              <a:latin typeface="Georgia" pitchFamily="18" charset="0"/>
            </a:endParaRPr>
          </a:p>
          <a:p>
            <a:pPr eaLnBrk="1" hangingPunct="1">
              <a:spcBef>
                <a:spcPct val="20000"/>
              </a:spcBef>
              <a:buFont typeface="Arial" panose="020B0604020202020204" pitchFamily="34" charset="0"/>
              <a:buChar char="•"/>
            </a:pPr>
            <a:r>
              <a:rPr lang="en-US" altLang="en-US" sz="1800" b="1">
                <a:solidFill>
                  <a:srgbClr val="4D4D4D"/>
                </a:solidFill>
                <a:latin typeface="Georgia" pitchFamily="18" charset="0"/>
              </a:rPr>
              <a:t>Evaluation Difficulty: </a:t>
            </a:r>
            <a:r>
              <a:rPr lang="en-US" altLang="en-US" sz="1800">
                <a:solidFill>
                  <a:srgbClr val="4D4D4D"/>
                </a:solidFill>
                <a:latin typeface="Georgia" pitchFamily="18" charset="0"/>
              </a:rPr>
              <a:t>Hard to measure review quality objectively – BLEU/ROGUE alone weren’t sufficient</a:t>
            </a:r>
            <a:endParaRPr lang="en-US" altLang="en-US" sz="1800" b="1">
              <a:solidFill>
                <a:srgbClr val="4D4D4D"/>
              </a:solidFill>
              <a:latin typeface="Georgia" pitchFamily="18" charset="0"/>
            </a:endParaRPr>
          </a:p>
          <a:p>
            <a:pPr eaLnBrk="1" hangingPunct="1">
              <a:spcBef>
                <a:spcPct val="20000"/>
              </a:spcBef>
              <a:buFont typeface="Arial" panose="020B0604020202020204" pitchFamily="34" charset="0"/>
              <a:buChar char="•"/>
            </a:pPr>
            <a:r>
              <a:rPr lang="en-US" altLang="en-US" sz="1800" b="1">
                <a:solidFill>
                  <a:srgbClr val="4D4D4D"/>
                </a:solidFill>
                <a:latin typeface="Georgia" pitchFamily="18" charset="0"/>
              </a:rPr>
              <a:t>Parsing Failures: </a:t>
            </a:r>
            <a:r>
              <a:rPr lang="en-US" altLang="en-US" sz="1800">
                <a:solidFill>
                  <a:srgbClr val="4D4D4D"/>
                </a:solidFill>
                <a:latin typeface="Georgia" pitchFamily="18" charset="0"/>
              </a:rPr>
              <a:t>Occasionally, model outputs weren’t valid JSON, causing parse errors</a:t>
            </a:r>
            <a:endParaRPr lang="en-US" altLang="en-US" sz="1800" b="1">
              <a:solidFill>
                <a:srgbClr val="4D4D4D"/>
              </a:solidFill>
              <a:latin typeface="Georgia" pitchFamily="18" charset="0"/>
            </a:endParaRPr>
          </a:p>
          <a:p>
            <a:pPr eaLnBrk="1" hangingPunct="1">
              <a:spcBef>
                <a:spcPct val="20000"/>
              </a:spcBef>
              <a:buFont typeface="Arial" panose="020B0604020202020204" pitchFamily="34" charset="0"/>
              <a:buChar char="•"/>
            </a:pPr>
            <a:r>
              <a:rPr lang="en-US" altLang="en-US" sz="1800" b="1">
                <a:solidFill>
                  <a:srgbClr val="4D4D4D"/>
                </a:solidFill>
                <a:latin typeface="Georgia" pitchFamily="18" charset="0"/>
              </a:rPr>
              <a:t>Alignment with Ground Truth: </a:t>
            </a:r>
            <a:r>
              <a:rPr lang="en-US" altLang="en-US" sz="1800">
                <a:solidFill>
                  <a:srgbClr val="4D4D4D"/>
                </a:solidFill>
                <a:latin typeface="Georgia" pitchFamily="18" charset="0"/>
              </a:rPr>
              <a:t>Paper summaries in reviews often diverged stylistically or semantically from abstracts</a:t>
            </a:r>
            <a:endParaRPr lang="en-US" altLang="en-US" sz="1800" b="1">
              <a:solidFill>
                <a:srgbClr val="4D4D4D"/>
              </a:solidFill>
              <a:latin typeface="Georgia" pitchFamily="18" charset="0"/>
            </a:endParaRPr>
          </a:p>
        </p:txBody>
      </p:sp>
      <p:sp>
        <p:nvSpPr>
          <p:cNvPr id="2" name="Slide Number Placeholder 1">
            <a:extLst>
              <a:ext uri="{FF2B5EF4-FFF2-40B4-BE49-F238E27FC236}">
                <a16:creationId xmlns:a16="http://schemas.microsoft.com/office/drawing/2014/main" id="{4688416B-6093-00FF-0927-9C97B7090C3B}"/>
              </a:ext>
            </a:extLst>
          </p:cNvPr>
          <p:cNvSpPr>
            <a:spLocks noGrp="1"/>
          </p:cNvSpPr>
          <p:nvPr>
            <p:ph type="sldNum" sz="quarter" idx="12"/>
          </p:nvPr>
        </p:nvSpPr>
        <p:spPr/>
        <p:txBody>
          <a:bodyPr/>
          <a:lstStyle/>
          <a:p>
            <a:fld id="{B95760C2-38E4-496F-933D-2305F303D3F1}" type="slidenum">
              <a:rPr lang="zh-TW" altLang="en-US" smtClean="0"/>
              <a:pPr/>
              <a:t>17</a:t>
            </a:fld>
            <a:endParaRPr lang="en-US" altLang="zh-TW"/>
          </a:p>
        </p:txBody>
      </p:sp>
    </p:spTree>
    <p:extLst>
      <p:ext uri="{BB962C8B-B14F-4D97-AF65-F5344CB8AC3E}">
        <p14:creationId xmlns:p14="http://schemas.microsoft.com/office/powerpoint/2010/main" val="36079827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E1F76-390E-94FE-B217-728111212852}"/>
            </a:ext>
          </a:extLst>
        </p:cNvPr>
        <p:cNvGrpSpPr/>
        <p:nvPr/>
      </p:nvGrpSpPr>
      <p:grpSpPr>
        <a:xfrm>
          <a:off x="0" y="0"/>
          <a:ext cx="0" cy="0"/>
          <a:chOff x="0" y="0"/>
          <a:chExt cx="0" cy="0"/>
        </a:xfrm>
      </p:grpSpPr>
      <p:sp>
        <p:nvSpPr>
          <p:cNvPr id="27650" name="Rectangle 15">
            <a:extLst>
              <a:ext uri="{FF2B5EF4-FFF2-40B4-BE49-F238E27FC236}">
                <a16:creationId xmlns:a16="http://schemas.microsoft.com/office/drawing/2014/main" id="{8AACADB8-C64E-6BED-D4BD-DF47A19490D1}"/>
              </a:ext>
            </a:extLst>
          </p:cNvPr>
          <p:cNvSpPr>
            <a:spLocks noChangeArrowheads="1"/>
          </p:cNvSpPr>
          <p:nvPr/>
        </p:nvSpPr>
        <p:spPr bwMode="auto">
          <a:xfrm>
            <a:off x="373063" y="152400"/>
            <a:ext cx="6853237"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defRPr/>
            </a:pPr>
            <a:r>
              <a:rPr lang="en-US" altLang="zh-TW" sz="3600" dirty="0">
                <a:solidFill>
                  <a:srgbClr val="4D4D4D"/>
                </a:solidFill>
                <a:latin typeface="Georgia" charset="0"/>
                <a:ea typeface="新細明體" charset="0"/>
                <a:cs typeface="新細明體" charset="0"/>
              </a:rPr>
              <a:t>Work Split</a:t>
            </a:r>
          </a:p>
        </p:txBody>
      </p:sp>
      <p:sp>
        <p:nvSpPr>
          <p:cNvPr id="2" name="Slide Number Placeholder 1">
            <a:extLst>
              <a:ext uri="{FF2B5EF4-FFF2-40B4-BE49-F238E27FC236}">
                <a16:creationId xmlns:a16="http://schemas.microsoft.com/office/drawing/2014/main" id="{177D73F2-8937-726A-693C-048A7998B506}"/>
              </a:ext>
            </a:extLst>
          </p:cNvPr>
          <p:cNvSpPr>
            <a:spLocks noGrp="1"/>
          </p:cNvSpPr>
          <p:nvPr>
            <p:ph type="sldNum" sz="quarter" idx="12"/>
          </p:nvPr>
        </p:nvSpPr>
        <p:spPr/>
        <p:txBody>
          <a:bodyPr/>
          <a:lstStyle/>
          <a:p>
            <a:fld id="{B95760C2-38E4-496F-933D-2305F303D3F1}" type="slidenum">
              <a:rPr lang="zh-TW" altLang="en-US" smtClean="0"/>
              <a:pPr/>
              <a:t>18</a:t>
            </a:fld>
            <a:endParaRPr lang="en-US" altLang="zh-TW"/>
          </a:p>
        </p:txBody>
      </p:sp>
      <p:sp>
        <p:nvSpPr>
          <p:cNvPr id="3" name="TextBox 2">
            <a:extLst>
              <a:ext uri="{FF2B5EF4-FFF2-40B4-BE49-F238E27FC236}">
                <a16:creationId xmlns:a16="http://schemas.microsoft.com/office/drawing/2014/main" id="{4852CF96-B7F8-66EA-CBB3-6458D6B2D18E}"/>
              </a:ext>
            </a:extLst>
          </p:cNvPr>
          <p:cNvSpPr txBox="1"/>
          <p:nvPr/>
        </p:nvSpPr>
        <p:spPr>
          <a:xfrm>
            <a:off x="609600" y="2070437"/>
            <a:ext cx="3676650" cy="2031325"/>
          </a:xfrm>
          <a:prstGeom prst="rect">
            <a:avLst/>
          </a:prstGeom>
          <a:noFill/>
        </p:spPr>
        <p:txBody>
          <a:bodyPr wrap="square" rtlCol="0">
            <a:spAutoFit/>
          </a:bodyPr>
          <a:lstStyle/>
          <a:p>
            <a:pPr algn="ctr"/>
            <a:r>
              <a:rPr lang="en-US" dirty="0"/>
              <a:t>Yagnik Panguluri (yye7pm)</a:t>
            </a:r>
          </a:p>
          <a:p>
            <a:pPr algn="ctr"/>
            <a:endParaRPr lang="en-US" dirty="0"/>
          </a:p>
          <a:p>
            <a:pPr algn="ctr"/>
            <a:r>
              <a:rPr lang="en-US" dirty="0"/>
              <a:t>Worked on the code of the project, drafted proposal, final presentation, and helped with the final report</a:t>
            </a:r>
          </a:p>
          <a:p>
            <a:pPr algn="ctr"/>
            <a:endParaRPr lang="en-US" dirty="0"/>
          </a:p>
        </p:txBody>
      </p:sp>
      <p:sp>
        <p:nvSpPr>
          <p:cNvPr id="4" name="TextBox 3">
            <a:extLst>
              <a:ext uri="{FF2B5EF4-FFF2-40B4-BE49-F238E27FC236}">
                <a16:creationId xmlns:a16="http://schemas.microsoft.com/office/drawing/2014/main" id="{1D61B631-5C26-94A7-DF81-EDFC01604ABE}"/>
              </a:ext>
            </a:extLst>
          </p:cNvPr>
          <p:cNvSpPr txBox="1"/>
          <p:nvPr/>
        </p:nvSpPr>
        <p:spPr>
          <a:xfrm>
            <a:off x="4572000" y="2070436"/>
            <a:ext cx="3676650" cy="2031325"/>
          </a:xfrm>
          <a:prstGeom prst="rect">
            <a:avLst/>
          </a:prstGeom>
          <a:noFill/>
        </p:spPr>
        <p:txBody>
          <a:bodyPr wrap="square" rtlCol="0">
            <a:spAutoFit/>
          </a:bodyPr>
          <a:lstStyle/>
          <a:p>
            <a:pPr algn="ctr"/>
            <a:r>
              <a:rPr lang="en-US" dirty="0"/>
              <a:t>Anisha Patrikar (gjq2yf)</a:t>
            </a:r>
          </a:p>
          <a:p>
            <a:pPr algn="ctr"/>
            <a:endParaRPr lang="en-US" dirty="0"/>
          </a:p>
          <a:p>
            <a:pPr algn="ctr"/>
            <a:r>
              <a:rPr lang="en-US" dirty="0"/>
              <a:t>Worked on the code of the project, helped with the proposal and final presentation, and drafted the final report</a:t>
            </a:r>
          </a:p>
          <a:p>
            <a:pPr algn="ctr"/>
            <a:endParaRPr lang="en-US" dirty="0"/>
          </a:p>
        </p:txBody>
      </p:sp>
    </p:spTree>
    <p:extLst>
      <p:ext uri="{BB962C8B-B14F-4D97-AF65-F5344CB8AC3E}">
        <p14:creationId xmlns:p14="http://schemas.microsoft.com/office/powerpoint/2010/main" val="2929645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5"/>
          <p:cNvSpPr>
            <a:spLocks noChangeArrowheads="1"/>
          </p:cNvSpPr>
          <p:nvPr/>
        </p:nvSpPr>
        <p:spPr bwMode="auto">
          <a:xfrm>
            <a:off x="373063" y="152400"/>
            <a:ext cx="6853237"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defRPr/>
            </a:pPr>
            <a:r>
              <a:rPr lang="en-US" altLang="zh-TW" sz="3600">
                <a:solidFill>
                  <a:srgbClr val="4D4D4D"/>
                </a:solidFill>
                <a:latin typeface="Georgia" charset="0"/>
                <a:ea typeface="新細明體" charset="0"/>
                <a:cs typeface="新細明體" charset="0"/>
              </a:rPr>
              <a:t>References</a:t>
            </a:r>
          </a:p>
        </p:txBody>
      </p:sp>
      <p:sp>
        <p:nvSpPr>
          <p:cNvPr id="53250" name="Content Placeholder 2"/>
          <p:cNvSpPr txBox="1">
            <a:spLocks/>
          </p:cNvSpPr>
          <p:nvPr/>
        </p:nvSpPr>
        <p:spPr bwMode="auto">
          <a:xfrm>
            <a:off x="76200" y="1929064"/>
            <a:ext cx="9067800" cy="3810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20000"/>
              </a:spcBef>
            </a:pPr>
            <a:endParaRPr lang="en-US" altLang="en-US" sz="2000">
              <a:solidFill>
                <a:srgbClr val="4D4D4D"/>
              </a:solidFill>
              <a:latin typeface="Georgia" pitchFamily="18" charset="0"/>
            </a:endParaRPr>
          </a:p>
        </p:txBody>
      </p:sp>
      <p:sp>
        <p:nvSpPr>
          <p:cNvPr id="2" name="Slide Number Placeholder 1"/>
          <p:cNvSpPr>
            <a:spLocks noGrp="1"/>
          </p:cNvSpPr>
          <p:nvPr>
            <p:ph type="sldNum" sz="quarter" idx="12"/>
          </p:nvPr>
        </p:nvSpPr>
        <p:spPr/>
        <p:txBody>
          <a:bodyPr/>
          <a:lstStyle/>
          <a:p>
            <a:fld id="{B95760C2-38E4-496F-933D-2305F303D3F1}" type="slidenum">
              <a:rPr lang="zh-TW" altLang="en-US" smtClean="0"/>
              <a:pPr/>
              <a:t>19</a:t>
            </a:fld>
            <a:endParaRPr lang="en-US" altLang="zh-TW"/>
          </a:p>
        </p:txBody>
      </p:sp>
      <p:sp>
        <p:nvSpPr>
          <p:cNvPr id="4" name="TextBox 3">
            <a:extLst>
              <a:ext uri="{FF2B5EF4-FFF2-40B4-BE49-F238E27FC236}">
                <a16:creationId xmlns:a16="http://schemas.microsoft.com/office/drawing/2014/main" id="{6194F582-4662-A335-642B-28BF8DF20216}"/>
              </a:ext>
            </a:extLst>
          </p:cNvPr>
          <p:cNvSpPr txBox="1"/>
          <p:nvPr/>
        </p:nvSpPr>
        <p:spPr>
          <a:xfrm>
            <a:off x="3128211" y="2165683"/>
            <a:ext cx="4459705" cy="2903621"/>
          </a:xfrm>
          <a:prstGeom prst="rect">
            <a:avLst/>
          </a:prstGeom>
        </p:spPr>
        <p:txBody>
          <a:bodyPr wrap="square" rtlCol="0">
            <a:spAutoFit/>
          </a:bodyPr>
          <a:lstStyle/>
          <a:p>
            <a:endParaRPr lang="en-US"/>
          </a:p>
        </p:txBody>
      </p:sp>
      <p:sp>
        <p:nvSpPr>
          <p:cNvPr id="11" name="TextBox 10">
            <a:extLst>
              <a:ext uri="{FF2B5EF4-FFF2-40B4-BE49-F238E27FC236}">
                <a16:creationId xmlns:a16="http://schemas.microsoft.com/office/drawing/2014/main" id="{B84B3661-40AF-9626-89FC-1F9C1FFA45EE}"/>
              </a:ext>
            </a:extLst>
          </p:cNvPr>
          <p:cNvSpPr txBox="1"/>
          <p:nvPr/>
        </p:nvSpPr>
        <p:spPr>
          <a:xfrm>
            <a:off x="139226" y="1595021"/>
            <a:ext cx="8547574" cy="5262979"/>
          </a:xfrm>
          <a:prstGeom prst="rect">
            <a:avLst/>
          </a:prstGeom>
          <a:noFill/>
        </p:spPr>
        <p:txBody>
          <a:bodyPr wrap="square" rtlCol="0">
            <a:spAutoFit/>
          </a:bodyPr>
          <a:lstStyle/>
          <a:p>
            <a:pPr>
              <a:buFont typeface="+mj-lt"/>
              <a:buAutoNum type="arabicPeriod"/>
            </a:pPr>
            <a:r>
              <a:rPr lang="en-US" sz="1400" b="1"/>
              <a:t>Zhang et al. (2020)</a:t>
            </a:r>
            <a:endParaRPr lang="en-US" sz="1400"/>
          </a:p>
          <a:p>
            <a:r>
              <a:rPr lang="en-US" sz="1400" i="1" err="1"/>
              <a:t>BERTScore</a:t>
            </a:r>
            <a:r>
              <a:rPr lang="en-US" sz="1400" i="1"/>
              <a:t>: Evaluating Text Generation with BERT</a:t>
            </a:r>
            <a:endParaRPr lang="en-US" sz="1400"/>
          </a:p>
          <a:p>
            <a:r>
              <a:rPr lang="en-US" sz="1400" i="1"/>
              <a:t>International Conference on Learning Representations (ICLR)</a:t>
            </a:r>
            <a:endParaRPr lang="en-US" sz="1400"/>
          </a:p>
          <a:p>
            <a:r>
              <a:rPr lang="en-US" sz="1400">
                <a:hlinkClick r:id="rId2"/>
              </a:rPr>
              <a:t>https://arxiv.org/abs/1904.096752</a:t>
            </a:r>
            <a:endParaRPr lang="en-US" sz="1400"/>
          </a:p>
          <a:p>
            <a:r>
              <a:rPr lang="en-US" sz="1400" b="1"/>
              <a:t>2. Lin (2004)</a:t>
            </a:r>
            <a:endParaRPr lang="en-US" sz="1400"/>
          </a:p>
          <a:p>
            <a:r>
              <a:rPr lang="en-US" sz="1400" i="1"/>
              <a:t>ROUGE: A Package for Automatic Evaluation of Summaries</a:t>
            </a:r>
            <a:endParaRPr lang="en-US" sz="1400"/>
          </a:p>
          <a:p>
            <a:r>
              <a:rPr lang="en-US" sz="1400" i="1"/>
              <a:t>Workshop on Text Summarization Branches Out, ACL</a:t>
            </a:r>
            <a:endParaRPr lang="en-US" sz="1400"/>
          </a:p>
          <a:p>
            <a:r>
              <a:rPr lang="en-US" sz="1400">
                <a:hlinkClick r:id="rId3"/>
              </a:rPr>
              <a:t>https://aclanthology.org/W04-1013/</a:t>
            </a:r>
            <a:endParaRPr lang="en-US" sz="1400"/>
          </a:p>
          <a:p>
            <a:r>
              <a:rPr lang="en-US" sz="1400" b="1"/>
              <a:t>3.Papineni et al. (2002)</a:t>
            </a:r>
            <a:endParaRPr lang="en-US" sz="1400"/>
          </a:p>
          <a:p>
            <a:r>
              <a:rPr lang="en-US" sz="1400" i="1"/>
              <a:t>BLEU: a Method for Automatic Evaluation of Machine Translation</a:t>
            </a:r>
            <a:endParaRPr lang="en-US" sz="1400"/>
          </a:p>
          <a:p>
            <a:r>
              <a:rPr lang="en-US" sz="1400" i="1"/>
              <a:t>Proceedings of ACL 2002</a:t>
            </a:r>
            <a:endParaRPr lang="en-US" sz="1400"/>
          </a:p>
          <a:p>
            <a:r>
              <a:rPr lang="en-US" sz="1400">
                <a:hlinkClick r:id="rId4"/>
              </a:rPr>
              <a:t>https://www.aclweb.org/anthology/P02-1040/</a:t>
            </a:r>
            <a:endParaRPr lang="en-US" sz="1400"/>
          </a:p>
          <a:p>
            <a:r>
              <a:rPr lang="en-US" sz="1400" b="1"/>
              <a:t>4.Reimers &amp; </a:t>
            </a:r>
            <a:r>
              <a:rPr lang="en-US" sz="1400" b="1" err="1"/>
              <a:t>Gurevych</a:t>
            </a:r>
            <a:r>
              <a:rPr lang="en-US" sz="1400" b="1"/>
              <a:t> (2019)</a:t>
            </a:r>
            <a:endParaRPr lang="en-US" sz="1400"/>
          </a:p>
          <a:p>
            <a:r>
              <a:rPr lang="en-US" sz="1400" i="1"/>
              <a:t>Sentence-BERT: Sentence Embeddings using Siamese BERT-Networks</a:t>
            </a:r>
            <a:endParaRPr lang="en-US" sz="1400"/>
          </a:p>
          <a:p>
            <a:r>
              <a:rPr lang="en-US" sz="1400" i="1"/>
              <a:t>EMNLP-IJCNLP</a:t>
            </a:r>
            <a:endParaRPr lang="en-US" sz="1400"/>
          </a:p>
          <a:p>
            <a:r>
              <a:rPr lang="en-US" sz="1400">
                <a:hlinkClick r:id="rId5"/>
              </a:rPr>
              <a:t>https://arxiv.org/abs/1908.10084</a:t>
            </a:r>
            <a:endParaRPr lang="en-US" sz="1400"/>
          </a:p>
          <a:p>
            <a:r>
              <a:rPr lang="en-US" sz="1400" b="1"/>
              <a:t>5.OpenAI (2023)</a:t>
            </a:r>
            <a:endParaRPr lang="en-US" sz="1400"/>
          </a:p>
          <a:p>
            <a:r>
              <a:rPr lang="en-US" sz="1400" i="1"/>
              <a:t>GPT-4 Technical Report</a:t>
            </a:r>
            <a:endParaRPr lang="en-US" sz="1400"/>
          </a:p>
          <a:p>
            <a:r>
              <a:rPr lang="en-US" sz="1400">
                <a:hlinkClick r:id="rId6"/>
              </a:rPr>
              <a:t>https://openai.com/research/gpt-4</a:t>
            </a:r>
            <a:endParaRPr lang="en-US" sz="1400"/>
          </a:p>
          <a:p>
            <a:r>
              <a:rPr lang="en-US" sz="1400"/>
              <a:t>6.</a:t>
            </a:r>
            <a:r>
              <a:rPr lang="en-US" sz="1400" b="1"/>
              <a:t>Liu et al. (2022)</a:t>
            </a:r>
            <a:endParaRPr lang="en-US" sz="1400"/>
          </a:p>
          <a:p>
            <a:r>
              <a:rPr lang="en-US" sz="1400" i="1"/>
              <a:t>From Prompt Engineering to Prompt Programming: Tools and Practices</a:t>
            </a:r>
            <a:endParaRPr lang="en-US" sz="1400"/>
          </a:p>
          <a:p>
            <a:r>
              <a:rPr lang="en-US" sz="1400" i="1" err="1"/>
              <a:t>arXiv</a:t>
            </a:r>
            <a:r>
              <a:rPr lang="en-US" sz="1400" i="1"/>
              <a:t> preprint</a:t>
            </a:r>
            <a:endParaRPr lang="en-US" sz="1400"/>
          </a:p>
          <a:p>
            <a:r>
              <a:rPr lang="en-US" sz="1400">
                <a:hlinkClick r:id="rId7"/>
              </a:rPr>
              <a:t>https://arxiv.org/abs/2211.01910</a:t>
            </a:r>
            <a:endParaRPr lang="en-US" sz="1400"/>
          </a:p>
          <a:p>
            <a:endParaRPr lang="en-US" sz="1400"/>
          </a:p>
        </p:txBody>
      </p:sp>
    </p:spTree>
    <p:extLst>
      <p:ext uri="{BB962C8B-B14F-4D97-AF65-F5344CB8AC3E}">
        <p14:creationId xmlns:p14="http://schemas.microsoft.com/office/powerpoint/2010/main" val="2208056341"/>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5828</Words>
  <Application>Microsoft Macintosh PowerPoint</Application>
  <PresentationFormat>On-screen Show (4:3)</PresentationFormat>
  <Paragraphs>534</Paragraphs>
  <Slides>19</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PMingLiU</vt:lpstr>
      <vt:lpstr>Arial</vt:lpstr>
      <vt:lpstr>Courier New</vt:lpstr>
      <vt:lpstr>Georgia</vt:lpstr>
      <vt:lpstr>Wingdings</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Panguluri, Yagnik Sai (yye7pm)</cp:lastModifiedBy>
  <cp:revision>2</cp:revision>
  <cp:lastPrinted>2014-10-01T00:28:47Z</cp:lastPrinted>
  <dcterms:created xsi:type="dcterms:W3CDTF">2009-01-05T15:07:26Z</dcterms:created>
  <dcterms:modified xsi:type="dcterms:W3CDTF">2025-05-09T21:36:16Z</dcterms:modified>
</cp:coreProperties>
</file>