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9" r:id="rId3"/>
    <p:sldId id="262" r:id="rId4"/>
    <p:sldId id="260" r:id="rId5"/>
    <p:sldId id="268" r:id="rId6"/>
    <p:sldId id="309" r:id="rId7"/>
    <p:sldId id="304" r:id="rId8"/>
    <p:sldId id="290" r:id="rId9"/>
    <p:sldId id="306" r:id="rId10"/>
    <p:sldId id="310" r:id="rId11"/>
    <p:sldId id="307" r:id="rId12"/>
    <p:sldId id="308" r:id="rId13"/>
    <p:sldId id="311" r:id="rId14"/>
    <p:sldId id="305" r:id="rId15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3366FF"/>
    <a:srgbClr val="003366"/>
    <a:srgbClr val="300448"/>
    <a:srgbClr val="000066"/>
    <a:srgbClr val="333399"/>
    <a:srgbClr val="6600CC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E4C5BD-29B6-6016-194D-B627A8175CDF}" v="24" dt="2025-05-09T19:37:58.722"/>
    <p1510:client id="{D2B63C87-E7E1-4CEC-1A0A-57BD56F56E53}" v="3" dt="2025-05-07T22:29:39.3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44F014-9A02-4370-98AF-8A4593A02C65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140A1D-0B06-4C79-9F26-2E2FB119E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1950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PMingLiU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PMingLiU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PMingLiU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PMingLiU" pitchFamily="18" charset="-120"/>
              </a:defRPr>
            </a:lvl1pPr>
          </a:lstStyle>
          <a:p>
            <a:fld id="{5D7F18D2-2977-429E-8B6D-22778A44E64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720294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3EEB0713-4CCC-4E3E-846C-FACD634EFBA6}" type="slidenum">
              <a:rPr lang="zh-TW" altLang="en-US" sz="1200">
                <a:ea typeface="PMingLiU" pitchFamily="18" charset="-120"/>
              </a:rPr>
              <a:pPr eaLnBrk="1" hangingPunct="1"/>
              <a:t>1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itchFamily="34" charset="0"/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012201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2DF503E9-4B1D-4341-B837-151F396BAC41}" type="slidenum">
              <a:rPr lang="zh-TW" altLang="en-US" sz="1200">
                <a:ea typeface="PMingLiU" pitchFamily="18" charset="-120"/>
              </a:rPr>
              <a:pPr eaLnBrk="1" hangingPunct="1"/>
              <a:t>2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 noProof="0">
                <a:latin typeface="Arial" pitchFamily="34" charset="0"/>
                <a:ea typeface="PMingLiU" pitchFamily="18" charset="-120"/>
              </a:rPr>
              <a:t>The motivation of this</a:t>
            </a:r>
            <a:r>
              <a:rPr lang="en-US" altLang="zh-CN" baseline="0" noProof="0">
                <a:latin typeface="Arial" pitchFamily="34" charset="0"/>
                <a:ea typeface="PMingLiU" pitchFamily="18" charset="-120"/>
              </a:rPr>
              <a:t> project</a:t>
            </a:r>
            <a:endParaRPr lang="zh-CN" altLang="en-US" noProof="0">
              <a:latin typeface="Arial" pitchFamily="34" charset="0"/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16358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7F18D2-2977-429E-8B6D-22778A44E64D}" type="slidenum">
              <a:rPr lang="zh-TW" altLang="en-US" smtClean="0"/>
              <a:pPr/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44056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7F18D2-2977-429E-8B6D-22778A44E64D}" type="slidenum">
              <a:rPr lang="zh-TW" altLang="en-US" smtClean="0"/>
              <a:pPr/>
              <a:t>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69274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07E23D78-CF54-4D4E-9A10-679B9CD3C531}" type="slidenum">
              <a:rPr lang="zh-TW" altLang="en-US" sz="1200">
                <a:ea typeface="PMingLiU" pitchFamily="18" charset="-120"/>
              </a:rPr>
              <a:pPr eaLnBrk="1" hangingPunct="1"/>
              <a:t>5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>
                <a:latin typeface="Arial" pitchFamily="34" charset="0"/>
                <a:ea typeface="PMingLiU" pitchFamily="18" charset="-120"/>
              </a:rPr>
              <a:t>Here, we make the claim of this project.</a:t>
            </a:r>
            <a:endParaRPr lang="zh-TW" altLang="en-US">
              <a:latin typeface="Arial" pitchFamily="34" charset="0"/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11335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07E23D78-CF54-4D4E-9A10-679B9CD3C531}" type="slidenum">
              <a:rPr lang="zh-TW" altLang="en-US" sz="1200">
                <a:ea typeface="PMingLiU" pitchFamily="18" charset="-120"/>
              </a:rPr>
              <a:pPr eaLnBrk="1" hangingPunct="1"/>
              <a:t>6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>
                <a:latin typeface="Arial" pitchFamily="34" charset="0"/>
                <a:ea typeface="PMingLiU" pitchFamily="18" charset="-120"/>
              </a:rPr>
              <a:t>Here, we make the claim of this project.</a:t>
            </a:r>
            <a:endParaRPr lang="zh-TW" altLang="en-US">
              <a:latin typeface="Arial" pitchFamily="34" charset="0"/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94447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r>
              <a:rPr lang="en-US"/>
              <a:t>Here</a:t>
            </a:r>
            <a:r>
              <a:rPr lang="en-US" baseline="0"/>
              <a:t> is our proposed solution.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7F18D2-2977-429E-8B6D-22778A44E64D}" type="slidenum">
              <a:rPr lang="zh-TW" altLang="en-US" smtClean="0"/>
              <a:pPr/>
              <a:t>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136232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1AE4675-46EC-4EDF-89E2-3C4CC1C64A21}" type="slidenum">
              <a:rPr lang="zh-TW" altLang="en-US" sz="1200">
                <a:ea typeface="PMingLiU" pitchFamily="18" charset="-120"/>
              </a:rPr>
              <a:pPr eaLnBrk="1" hangingPunct="1"/>
              <a:t>8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 baseline="0">
                <a:latin typeface="Arial" pitchFamily="34" charset="0"/>
                <a:ea typeface="PMingLiU" pitchFamily="18" charset="-120"/>
              </a:rPr>
              <a:t>In the rest of this presentation, I’m going to talk about following contents:</a:t>
            </a:r>
          </a:p>
        </p:txBody>
      </p:sp>
    </p:spTree>
    <p:extLst>
      <p:ext uri="{BB962C8B-B14F-4D97-AF65-F5344CB8AC3E}">
        <p14:creationId xmlns:p14="http://schemas.microsoft.com/office/powerpoint/2010/main" val="19463709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1AE4675-46EC-4EDF-89E2-3C4CC1C64A21}" type="slidenum">
              <a:rPr lang="zh-TW" altLang="en-US" sz="1200">
                <a:ea typeface="PMingLiU" pitchFamily="18" charset="-120"/>
              </a:rPr>
              <a:pPr eaLnBrk="1" hangingPunct="1"/>
              <a:t>9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 baseline="0">
                <a:latin typeface="Arial" pitchFamily="34" charset="0"/>
                <a:ea typeface="PMingLiU" pitchFamily="18" charset="-120"/>
              </a:rPr>
              <a:t>In the rest of this presentation, I’m going to talk about following contents:</a:t>
            </a:r>
          </a:p>
        </p:txBody>
      </p:sp>
    </p:spTree>
    <p:extLst>
      <p:ext uri="{BB962C8B-B14F-4D97-AF65-F5344CB8AC3E}">
        <p14:creationId xmlns:p14="http://schemas.microsoft.com/office/powerpoint/2010/main" val="19472728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C544F-ED6F-E9D6-89A0-DBB6F5159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24678111-E969-E73A-BF8F-57BEBFD3BA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1AE4675-46EC-4EDF-89E2-3C4CC1C64A21}" type="slidenum">
              <a:rPr lang="zh-TW" altLang="en-US" sz="1200">
                <a:ea typeface="PMingLiU" pitchFamily="18" charset="-120"/>
              </a:rPr>
              <a:pPr eaLnBrk="1" hangingPunct="1"/>
              <a:t>10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BACB39F7-7C78-DB69-AB2B-14E520786A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B595CD48-646A-2903-7A9F-F5E2965402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 baseline="0">
                <a:latin typeface="Arial" pitchFamily="34" charset="0"/>
                <a:ea typeface="PMingLiU" pitchFamily="18" charset="-120"/>
              </a:rPr>
              <a:t>In the rest of this presentation, I’m going to talk about following contents:</a:t>
            </a:r>
          </a:p>
        </p:txBody>
      </p:sp>
    </p:spTree>
    <p:extLst>
      <p:ext uri="{BB962C8B-B14F-4D97-AF65-F5344CB8AC3E}">
        <p14:creationId xmlns:p14="http://schemas.microsoft.com/office/powerpoint/2010/main" val="30987959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1AE4675-46EC-4EDF-89E2-3C4CC1C64A21}" type="slidenum">
              <a:rPr lang="zh-TW" altLang="en-US" sz="1200">
                <a:ea typeface="PMingLiU" pitchFamily="18" charset="-120"/>
              </a:rPr>
              <a:pPr eaLnBrk="1" hangingPunct="1"/>
              <a:t>11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 baseline="0">
                <a:latin typeface="Arial" pitchFamily="34" charset="0"/>
                <a:ea typeface="PMingLiU" pitchFamily="18" charset="-120"/>
              </a:rPr>
              <a:t>In the rest of this presentation, I’m going to talk about following contents:</a:t>
            </a:r>
          </a:p>
        </p:txBody>
      </p:sp>
    </p:spTree>
    <p:extLst>
      <p:ext uri="{BB962C8B-B14F-4D97-AF65-F5344CB8AC3E}">
        <p14:creationId xmlns:p14="http://schemas.microsoft.com/office/powerpoint/2010/main" val="1639256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1AE4675-46EC-4EDF-89E2-3C4CC1C64A21}" type="slidenum">
              <a:rPr lang="zh-TW" altLang="en-US" sz="1200">
                <a:ea typeface="PMingLiU" pitchFamily="18" charset="-120"/>
              </a:rPr>
              <a:pPr eaLnBrk="1" hangingPunct="1"/>
              <a:t>12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 baseline="0">
                <a:latin typeface="Arial" pitchFamily="34" charset="0"/>
                <a:ea typeface="PMingLiU" pitchFamily="18" charset="-120"/>
              </a:rPr>
              <a:t>In the rest of this presentation, I’m going to talk about following contents:</a:t>
            </a:r>
          </a:p>
        </p:txBody>
      </p:sp>
    </p:spTree>
    <p:extLst>
      <p:ext uri="{BB962C8B-B14F-4D97-AF65-F5344CB8AC3E}">
        <p14:creationId xmlns:p14="http://schemas.microsoft.com/office/powerpoint/2010/main" val="537301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0BA4C9-2F9F-4941-AE8E-AC62D4D2183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18953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714D2E-7875-44F7-AD06-272F94F3FDC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70567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5E09B8-D849-4C92-A970-16FA4838A429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22180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9270A9-8D84-49FD-B2CD-C3D2813EE56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92272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497711-EAFB-4E5A-A951-28BB7421965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67382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B9F96C-5FBF-454D-AED9-6FBC07E2617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14993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836DE4-103E-47E4-9B1A-63D8DBEAA21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05156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B7166F-8A7E-4E15-882C-A9C18C7F8E9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63268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641FC1-14D6-4CDA-B301-C72ECEE19E8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92883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410D2D-20AB-4FDA-A7D1-25C10B534DA9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37638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8BEF21-3D8E-49E2-8FE9-D5A02E038BC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95077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5760C2-38E4-496F-933D-2305F303D3F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9726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PMingLiU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PMingLiU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PMingLiU" pitchFamily="18" charset="-120"/>
              </a:defRPr>
            </a:lvl1pPr>
          </a:lstStyle>
          <a:p>
            <a:fld id="{533C024B-1461-4457-9A28-300117C30C91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10" Type="http://schemas.openxmlformats.org/officeDocument/2006/relationships/image" Target="../media/image18.png"/><Relationship Id="rId4" Type="http://schemas.openxmlformats.org/officeDocument/2006/relationships/image" Target="../media/image14.png"/><Relationship Id="rId9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cUVpo9F9VRybbZcZmcndp1_X_84zVHkF0nZPp7cMCg4/edit?usp=sharing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rplexity.ai/" TargetMode="External"/><Relationship Id="rId2" Type="http://schemas.openxmlformats.org/officeDocument/2006/relationships/hyperlink" Target="https://notebooklm.google/" TargetMode="Externa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k2view.com/what-are-llm-agents/" TargetMode="External"/><Relationship Id="rId4" Type="http://schemas.openxmlformats.org/officeDocument/2006/relationships/hyperlink" Target="https://serpapi.com/search-ap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8"/>
          <p:cNvSpPr txBox="1">
            <a:spLocks noChangeArrowheads="1"/>
          </p:cNvSpPr>
          <p:nvPr/>
        </p:nvSpPr>
        <p:spPr bwMode="auto">
          <a:xfrm>
            <a:off x="152400" y="2590800"/>
            <a:ext cx="8839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TW" sz="3600" dirty="0" err="1">
                <a:solidFill>
                  <a:srgbClr val="4D4D4D"/>
                </a:solidFill>
                <a:latin typeface="Georgia"/>
                <a:ea typeface="新細明體"/>
              </a:rPr>
              <a:t>DocAgent</a:t>
            </a:r>
            <a:r>
              <a:rPr lang="en-US" altLang="zh-TW" sz="3600" dirty="0">
                <a:solidFill>
                  <a:srgbClr val="4D4D4D"/>
                </a:solidFill>
                <a:latin typeface="Georgia"/>
                <a:ea typeface="新細明體"/>
              </a:rPr>
              <a:t>: Writing Assistant Agent</a:t>
            </a:r>
            <a:endParaRPr lang="en-US" dirty="0">
              <a:latin typeface="Georgia"/>
            </a:endParaRPr>
          </a:p>
        </p:txBody>
      </p:sp>
      <p:sp>
        <p:nvSpPr>
          <p:cNvPr id="2051" name="Text Box 9"/>
          <p:cNvSpPr txBox="1">
            <a:spLocks noChangeArrowheads="1"/>
          </p:cNvSpPr>
          <p:nvPr/>
        </p:nvSpPr>
        <p:spPr bwMode="auto">
          <a:xfrm>
            <a:off x="152400" y="3962400"/>
            <a:ext cx="8839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TW" sz="2200">
                <a:solidFill>
                  <a:srgbClr val="4D4D4D"/>
                </a:solidFill>
                <a:latin typeface="Georgia"/>
                <a:ea typeface="新細明體"/>
              </a:rPr>
              <a:t>Akira Durham - </a:t>
            </a:r>
            <a:r>
              <a:rPr lang="en-US" altLang="zh-TW" sz="2200" err="1">
                <a:solidFill>
                  <a:srgbClr val="4D4D4D"/>
                </a:solidFill>
                <a:latin typeface="Georgia"/>
                <a:ea typeface="新細明體"/>
              </a:rPr>
              <a:t>Sahlar</a:t>
            </a:r>
            <a:r>
              <a:rPr lang="en-US" altLang="zh-TW" sz="2200">
                <a:solidFill>
                  <a:srgbClr val="4D4D4D"/>
                </a:solidFill>
                <a:latin typeface="Georgia"/>
                <a:ea typeface="新細明體"/>
              </a:rPr>
              <a:t> Salehi</a:t>
            </a:r>
            <a:endParaRPr lang="en-US">
              <a:latin typeface="Georgia"/>
            </a:endParaRPr>
          </a:p>
        </p:txBody>
      </p:sp>
      <p:sp>
        <p:nvSpPr>
          <p:cNvPr id="2052" name="Text Box 9"/>
          <p:cNvSpPr txBox="1">
            <a:spLocks noChangeArrowheads="1"/>
          </p:cNvSpPr>
          <p:nvPr/>
        </p:nvSpPr>
        <p:spPr bwMode="auto">
          <a:xfrm>
            <a:off x="76200" y="4419600"/>
            <a:ext cx="8839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TW" sz="2200">
                <a:solidFill>
                  <a:srgbClr val="4D4D4D"/>
                </a:solidFill>
                <a:latin typeface="Georgia"/>
                <a:ea typeface="新細明體"/>
              </a:rPr>
              <a:t>5/9/2025</a:t>
            </a:r>
            <a:endParaRPr lang="en-US">
              <a:latin typeface="Georgi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A4C9-2F9F-4941-AE8E-AC62D4D21837}" type="slidenum">
              <a:rPr lang="zh-TW" altLang="en-US" smtClean="0">
                <a:latin typeface="Georgia"/>
              </a:rPr>
              <a:pPr/>
              <a:t>1</a:t>
            </a:fld>
            <a:endParaRPr lang="en-US" altLang="zh-TW">
              <a:latin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5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zh-CN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Motivation</a:t>
            </a:r>
            <a:endParaRPr lang="en-US" altLang="zh-TW" sz="3600">
              <a:solidFill>
                <a:srgbClr val="4D4D4D"/>
              </a:solidFill>
              <a:latin typeface="Georgia" pitchFamily="18" charset="0"/>
              <a:ea typeface="PMingLiU" pitchFamily="18" charset="-12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2</a:t>
            </a:fld>
            <a:endParaRPr lang="en-US" altLang="zh-TW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1C4F8B-2F3E-D605-91B2-02E1FB8C5516}"/>
              </a:ext>
            </a:extLst>
          </p:cNvPr>
          <p:cNvSpPr txBox="1"/>
          <p:nvPr/>
        </p:nvSpPr>
        <p:spPr>
          <a:xfrm>
            <a:off x="230472" y="1712287"/>
            <a:ext cx="4507535" cy="48893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Academic writing can be very tedious</a:t>
            </a:r>
            <a:endParaRPr lang="en-US" sz="2000">
              <a:solidFill>
                <a:srgbClr val="4D4D4D"/>
              </a:solidFill>
              <a:latin typeface="Georgia"/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16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Finding related literature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16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Synthesizing information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LLMs very powerful in writing domain</a:t>
            </a: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en-US" sz="16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Retrieve from multiple sources</a:t>
            </a: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en-US" sz="16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Assist in formatting, citations, grammar</a:t>
            </a: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en-US" sz="16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Draw meaningful and human conclusions</a:t>
            </a:r>
            <a:endParaRPr lang="en-US" sz="1600">
              <a:solidFill>
                <a:srgbClr val="4D4D4D"/>
              </a:solidFill>
              <a:latin typeface="Georgia"/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Balance AI efficiency + user control</a:t>
            </a:r>
            <a:endParaRPr lang="en-US" sz="2000">
              <a:solidFill>
                <a:srgbClr val="4D4D4D"/>
              </a:solidFill>
              <a:latin typeface="Georgia"/>
              <a:cs typeface="Arial"/>
            </a:endParaRPr>
          </a:p>
        </p:txBody>
      </p:sp>
      <p:pic>
        <p:nvPicPr>
          <p:cNvPr id="5" name="Picture 4" descr="Demonstration of the flow of AgentClinic">
            <a:extLst>
              <a:ext uri="{FF2B5EF4-FFF2-40B4-BE49-F238E27FC236}">
                <a16:creationId xmlns:a16="http://schemas.microsoft.com/office/drawing/2014/main" id="{1E6BACF5-C3EB-3970-16CE-386EBDAC9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368" y="2824957"/>
            <a:ext cx="4413554" cy="22895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5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ja-JP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Background</a:t>
            </a:r>
            <a:endParaRPr lang="en-US" altLang="zh-TW" sz="3600">
              <a:solidFill>
                <a:srgbClr val="4D4D4D"/>
              </a:solidFill>
              <a:latin typeface="Georgia" pitchFamily="18" charset="0"/>
              <a:ea typeface="PMingLiU" pitchFamily="18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FEE26B-BD5B-4035-4369-D16D8E3C1776}"/>
              </a:ext>
            </a:extLst>
          </p:cNvPr>
          <p:cNvSpPr txBox="1"/>
          <p:nvPr/>
        </p:nvSpPr>
        <p:spPr>
          <a:xfrm>
            <a:off x="8377825" y="6311030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TW" sz="1400">
                <a:cs typeface="Arial"/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2FEAC2-C00A-5F99-9B4E-69A8E26475B5}"/>
              </a:ext>
            </a:extLst>
          </p:cNvPr>
          <p:cNvSpPr txBox="1"/>
          <p:nvPr/>
        </p:nvSpPr>
        <p:spPr>
          <a:xfrm>
            <a:off x="1167" y="1594481"/>
            <a:ext cx="4844442" cy="48488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AI Agents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16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LLM powers reasoning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16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Give model tools to complete tasks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16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Making agents: </a:t>
            </a:r>
            <a:r>
              <a:rPr lang="en-US" sz="1600" err="1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LangChain</a:t>
            </a:r>
            <a:r>
              <a:rPr lang="en-US" sz="16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/</a:t>
            </a:r>
            <a:r>
              <a:rPr lang="en-US" sz="1600" err="1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LangGraph</a:t>
            </a:r>
            <a:endParaRPr lang="en-US" sz="1600">
              <a:solidFill>
                <a:srgbClr val="4D4D4D"/>
              </a:solidFill>
              <a:latin typeface="Georgia"/>
              <a:ea typeface="ＭＳ Ｐゴシック"/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Retrieval Augmented Generation (RAG)</a:t>
            </a:r>
            <a:endParaRPr lang="en-US" sz="2000">
              <a:solidFill>
                <a:srgbClr val="4D4D4D"/>
              </a:solidFill>
              <a:latin typeface="Georgia"/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16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Model generates based on retrieved sources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16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Powerful for research/academia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LLM Writing Assistant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16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Gather information and compose synthesized writings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16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Human-LLM collaboration</a:t>
            </a:r>
          </a:p>
        </p:txBody>
      </p:sp>
      <p:pic>
        <p:nvPicPr>
          <p:cNvPr id="4" name="Picture 3" descr="LangChain - Partner Ecosystem | MongoDB">
            <a:extLst>
              <a:ext uri="{FF2B5EF4-FFF2-40B4-BE49-F238E27FC236}">
                <a16:creationId xmlns:a16="http://schemas.microsoft.com/office/drawing/2014/main" id="{DCCCA75B-996F-D4AD-0BB4-144307FB7A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880" r="231" b="31713"/>
          <a:stretch/>
        </p:blipFill>
        <p:spPr>
          <a:xfrm>
            <a:off x="4703619" y="4962965"/>
            <a:ext cx="3335912" cy="1087338"/>
          </a:xfrm>
          <a:prstGeom prst="rect">
            <a:avLst/>
          </a:prstGeom>
        </p:spPr>
      </p:pic>
      <p:pic>
        <p:nvPicPr>
          <p:cNvPr id="5" name="Picture 4" descr="A diagram of a software application&#10;&#10;AI-generated content may be incorrect.">
            <a:extLst>
              <a:ext uri="{FF2B5EF4-FFF2-40B4-BE49-F238E27FC236}">
                <a16:creationId xmlns:a16="http://schemas.microsoft.com/office/drawing/2014/main" id="{F102E490-362D-617E-4D71-B37EB1E145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9" y="1813043"/>
            <a:ext cx="4333979" cy="20203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5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US" altLang="zh-TW" sz="36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Related Work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4</a:t>
            </a:fld>
            <a:endParaRPr lang="en-US" altLang="zh-TW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C4E099-F202-9E74-4C95-C94E89DEE097}"/>
              </a:ext>
            </a:extLst>
          </p:cNvPr>
          <p:cNvSpPr txBox="1"/>
          <p:nvPr/>
        </p:nvSpPr>
        <p:spPr>
          <a:xfrm>
            <a:off x="210174" y="1611338"/>
            <a:ext cx="7861009" cy="54425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Agent Laboratory</a:t>
            </a:r>
            <a:endParaRPr lang="en-US">
              <a:solidFill>
                <a:srgbClr val="4D4D4D"/>
              </a:solidFill>
              <a:latin typeface="Georgia"/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Utilizes multiple autonomous agents for research process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Different personalities per agent, continuous collaboration 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err="1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ResearchAgent</a:t>
            </a:r>
            <a:endParaRPr lang="en-US">
              <a:solidFill>
                <a:srgbClr val="4D4D4D"/>
              </a:solidFill>
              <a:latin typeface="Georgia"/>
              <a:ea typeface="ＭＳ Ｐゴシック"/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Starts with core paper, finds more related information and papers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Multiple reviewing agents for iterative revision process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NotebookLM</a:t>
            </a:r>
            <a:endParaRPr lang="en-US">
              <a:solidFill>
                <a:srgbClr val="4D4D4D"/>
              </a:solidFill>
              <a:latin typeface="Georgia"/>
              <a:cs typeface="Arial" pitchFamily="34" charset="0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25 million word recall across 50 uploaded sources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Answers Q&amp;As with citations from the source</a:t>
            </a: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US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Perplexity</a:t>
            </a: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en-US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Provides answers to research questions with sources from web</a:t>
            </a: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en-US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Information retrieval and dynamic searching interactions</a:t>
            </a:r>
            <a:endParaRPr lang="en-US">
              <a:solidFill>
                <a:srgbClr val="4D4D4D"/>
              </a:solidFill>
              <a:latin typeface="Georgia"/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endParaRPr lang="en-US">
              <a:solidFill>
                <a:srgbClr val="4D4D4D"/>
              </a:solidFill>
              <a:latin typeface="Georgia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5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ja-JP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Claim / Target Task</a:t>
            </a:r>
            <a:endParaRPr lang="en-US" altLang="zh-TW" sz="3600">
              <a:solidFill>
                <a:srgbClr val="4D4D4D"/>
              </a:solidFill>
              <a:latin typeface="Georgia" pitchFamily="18" charset="0"/>
              <a:ea typeface="PMingLiU" pitchFamily="18" charset="-12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5</a:t>
            </a:fld>
            <a:endParaRPr lang="en-US" altLang="zh-TW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167841-88C9-3846-F2F7-53FAECB5368F}"/>
              </a:ext>
            </a:extLst>
          </p:cNvPr>
          <p:cNvSpPr txBox="1"/>
          <p:nvPr/>
        </p:nvSpPr>
        <p:spPr>
          <a:xfrm>
            <a:off x="168139" y="1691553"/>
            <a:ext cx="8241574" cy="24481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Goals: Writing, Locating, Organization</a:t>
            </a:r>
            <a:endParaRPr lang="en-US" sz="2000">
              <a:solidFill>
                <a:srgbClr val="4D4D4D"/>
              </a:solidFill>
              <a:latin typeface="Georgia"/>
              <a:cs typeface="Arial" pitchFamily="34" charset="0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Writing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16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Create citations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16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Create project outline + questions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16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Generate key sections (Intro, Lit Review, </a:t>
            </a:r>
            <a:r>
              <a:rPr lang="en-US" sz="1600" err="1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etc</a:t>
            </a:r>
            <a:r>
              <a:rPr lang="en-US" sz="16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16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Update information based on new sources</a:t>
            </a:r>
          </a:p>
        </p:txBody>
      </p:sp>
      <p:pic>
        <p:nvPicPr>
          <p:cNvPr id="4" name="Picture 3" descr="How LLM Agent works?. LLM Agent | by Thiyagarajan Palaniyappan | Medium">
            <a:extLst>
              <a:ext uri="{FF2B5EF4-FFF2-40B4-BE49-F238E27FC236}">
                <a16:creationId xmlns:a16="http://schemas.microsoft.com/office/drawing/2014/main" id="{70EA5A9F-ACA6-6A81-0199-443ED7036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662" y="4231807"/>
            <a:ext cx="7075115" cy="25801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867176-760F-C54C-1624-8986933FF4BA}"/>
              </a:ext>
            </a:extLst>
          </p:cNvPr>
          <p:cNvSpPr txBox="1"/>
          <p:nvPr/>
        </p:nvSpPr>
        <p:spPr>
          <a:xfrm>
            <a:off x="5825727" y="1691553"/>
            <a:ext cx="8241574" cy="27699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indent="-457200">
              <a:lnSpc>
                <a:spcPct val="150000"/>
              </a:lnSpc>
              <a:buFont typeface="Arial"/>
              <a:buChar char="•"/>
            </a:pPr>
            <a:r>
              <a:rPr lang="en-US" sz="20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Locating</a:t>
            </a:r>
            <a:endParaRPr lang="en-US" sz="2000">
              <a:solidFill>
                <a:srgbClr val="4D4D4D"/>
              </a:solidFill>
              <a:latin typeface="Georgia"/>
              <a:cs typeface="Arial" pitchFamily="34" charset="0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en-US" sz="16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Find potential sources</a:t>
            </a:r>
          </a:p>
          <a:p>
            <a:pPr indent="-457200">
              <a:lnSpc>
                <a:spcPct val="150000"/>
              </a:lnSpc>
              <a:buFont typeface="Arial"/>
              <a:buChar char="•"/>
            </a:pPr>
            <a:r>
              <a:rPr lang="en-US" sz="20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Organization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16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Change citation style</a:t>
            </a: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en-US" sz="16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Summarize sources</a:t>
            </a:r>
          </a:p>
          <a:p>
            <a:pPr marL="742950" lvl="1" indent="-285750">
              <a:buFont typeface="Courier New"/>
              <a:buChar char="o"/>
            </a:pPr>
            <a:endParaRPr lang="en-US">
              <a:solidFill>
                <a:srgbClr val="4D4D4D"/>
              </a:solidFill>
              <a:latin typeface="Georgia"/>
              <a:ea typeface="ＭＳ Ｐゴシック"/>
              <a:cs typeface="Arial"/>
            </a:endParaRPr>
          </a:p>
          <a:p>
            <a:pPr marL="742950" lvl="1" indent="-285750">
              <a:buFont typeface="Courier New"/>
              <a:buChar char="o"/>
            </a:pPr>
            <a:endParaRPr lang="en-US">
              <a:solidFill>
                <a:srgbClr val="4D4D4D"/>
              </a:solidFill>
              <a:latin typeface="Georgia"/>
              <a:ea typeface="ＭＳ Ｐゴシック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5"/>
          <p:cNvSpPr>
            <a:spLocks noChangeArrowheads="1"/>
          </p:cNvSpPr>
          <p:nvPr/>
        </p:nvSpPr>
        <p:spPr bwMode="auto">
          <a:xfrm>
            <a:off x="373063" y="152400"/>
            <a:ext cx="87709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ja-JP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An Intuitive Figure Showing WHY Claim</a:t>
            </a:r>
            <a:endParaRPr lang="en-US" altLang="zh-TW" sz="3600">
              <a:solidFill>
                <a:srgbClr val="4D4D4D"/>
              </a:solidFill>
              <a:latin typeface="Georgia" pitchFamily="18" charset="0"/>
              <a:ea typeface="PMingLiU" pitchFamily="18" charset="-12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6</a:t>
            </a:fld>
            <a:endParaRPr lang="en-US" altLang="zh-TW"/>
          </a:p>
        </p:txBody>
      </p:sp>
      <p:pic>
        <p:nvPicPr>
          <p:cNvPr id="7181" name="Graphic 7180" descr="Users with solid fill">
            <a:extLst>
              <a:ext uri="{FF2B5EF4-FFF2-40B4-BE49-F238E27FC236}">
                <a16:creationId xmlns:a16="http://schemas.microsoft.com/office/drawing/2014/main" id="{514678E8-2201-DCB4-B20A-501BFC2D3B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91637" y="2599093"/>
            <a:ext cx="712695" cy="717178"/>
          </a:xfrm>
          <a:prstGeom prst="rect">
            <a:avLst/>
          </a:prstGeom>
        </p:spPr>
      </p:pic>
      <p:sp>
        <p:nvSpPr>
          <p:cNvPr id="7182" name="TextBox 7181">
            <a:extLst>
              <a:ext uri="{FF2B5EF4-FFF2-40B4-BE49-F238E27FC236}">
                <a16:creationId xmlns:a16="http://schemas.microsoft.com/office/drawing/2014/main" id="{227A3183-050C-88E8-B92D-010B620655B3}"/>
              </a:ext>
            </a:extLst>
          </p:cNvPr>
          <p:cNvSpPr txBox="1"/>
          <p:nvPr/>
        </p:nvSpPr>
        <p:spPr>
          <a:xfrm>
            <a:off x="2191636" y="3316270"/>
            <a:ext cx="7261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User</a:t>
            </a:r>
          </a:p>
        </p:txBody>
      </p:sp>
      <p:pic>
        <p:nvPicPr>
          <p:cNvPr id="7183" name="Graphic 7182" descr="Artificial Intelligence with solid fill">
            <a:extLst>
              <a:ext uri="{FF2B5EF4-FFF2-40B4-BE49-F238E27FC236}">
                <a16:creationId xmlns:a16="http://schemas.microsoft.com/office/drawing/2014/main" id="{659CCE0F-2357-FD3B-78BD-34611B907B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21708" y="2599093"/>
            <a:ext cx="717177" cy="717177"/>
          </a:xfrm>
          <a:prstGeom prst="rect">
            <a:avLst/>
          </a:prstGeom>
        </p:spPr>
      </p:pic>
      <p:sp>
        <p:nvSpPr>
          <p:cNvPr id="7184" name="TextBox 7183">
            <a:extLst>
              <a:ext uri="{FF2B5EF4-FFF2-40B4-BE49-F238E27FC236}">
                <a16:creationId xmlns:a16="http://schemas.microsoft.com/office/drawing/2014/main" id="{25B8319F-C3DF-DA5B-4D44-31A09DE792CC}"/>
              </a:ext>
            </a:extLst>
          </p:cNvPr>
          <p:cNvSpPr txBox="1"/>
          <p:nvPr/>
        </p:nvSpPr>
        <p:spPr>
          <a:xfrm>
            <a:off x="5185848" y="3316269"/>
            <a:ext cx="9995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Agent</a:t>
            </a:r>
            <a:endParaRPr lang="en-US">
              <a:solidFill>
                <a:srgbClr val="4D4D4D"/>
              </a:solidFill>
              <a:latin typeface="Georgia"/>
              <a:ea typeface="ＭＳ Ｐゴシック"/>
            </a:endParaRPr>
          </a:p>
        </p:txBody>
      </p:sp>
      <p:sp>
        <p:nvSpPr>
          <p:cNvPr id="7187" name="Arrow: Curved Down 7186">
            <a:extLst>
              <a:ext uri="{FF2B5EF4-FFF2-40B4-BE49-F238E27FC236}">
                <a16:creationId xmlns:a16="http://schemas.microsoft.com/office/drawing/2014/main" id="{31F64B2F-1FE5-277E-57F2-0F9AE39BF4B9}"/>
              </a:ext>
            </a:extLst>
          </p:cNvPr>
          <p:cNvSpPr/>
          <p:nvPr/>
        </p:nvSpPr>
        <p:spPr>
          <a:xfrm>
            <a:off x="3025355" y="2150858"/>
            <a:ext cx="2286000" cy="537882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rgbClr val="4D4D4D"/>
                </a:solidFill>
                <a:latin typeface="Georgia"/>
                <a:cs typeface="Arial"/>
              </a:rPr>
              <a:t>Prompt/Task</a:t>
            </a:r>
          </a:p>
        </p:txBody>
      </p:sp>
      <p:sp>
        <p:nvSpPr>
          <p:cNvPr id="7188" name="Arrow: Curved Up 7187">
            <a:extLst>
              <a:ext uri="{FF2B5EF4-FFF2-40B4-BE49-F238E27FC236}">
                <a16:creationId xmlns:a16="http://schemas.microsoft.com/office/drawing/2014/main" id="{45C81744-B788-DFCB-41C6-64706719EC8A}"/>
              </a:ext>
            </a:extLst>
          </p:cNvPr>
          <p:cNvSpPr/>
          <p:nvPr/>
        </p:nvSpPr>
        <p:spPr>
          <a:xfrm flipH="1">
            <a:off x="2904331" y="3500046"/>
            <a:ext cx="2281518" cy="699247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rgbClr val="4D4D4D"/>
                </a:solidFill>
                <a:latin typeface="Georgia"/>
                <a:cs typeface="Arial"/>
              </a:rPr>
              <a:t>Response</a:t>
            </a:r>
            <a:endParaRPr lang="en-US">
              <a:solidFill>
                <a:srgbClr val="4D4D4D"/>
              </a:solidFill>
              <a:latin typeface="Georgia"/>
            </a:endParaRPr>
          </a:p>
        </p:txBody>
      </p:sp>
      <p:sp>
        <p:nvSpPr>
          <p:cNvPr id="7189" name="Arrow: Bent 7188">
            <a:extLst>
              <a:ext uri="{FF2B5EF4-FFF2-40B4-BE49-F238E27FC236}">
                <a16:creationId xmlns:a16="http://schemas.microsoft.com/office/drawing/2014/main" id="{BCE0A708-BAD0-1357-C712-BFEA37E5EC74}"/>
              </a:ext>
            </a:extLst>
          </p:cNvPr>
          <p:cNvSpPr/>
          <p:nvPr/>
        </p:nvSpPr>
        <p:spPr>
          <a:xfrm rot="10800000">
            <a:off x="5190331" y="3849670"/>
            <a:ext cx="389964" cy="1882588"/>
          </a:xfrm>
          <a:prstGeom prst="bent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191" name="Arrow: Bent 7190">
            <a:extLst>
              <a:ext uri="{FF2B5EF4-FFF2-40B4-BE49-F238E27FC236}">
                <a16:creationId xmlns:a16="http://schemas.microsoft.com/office/drawing/2014/main" id="{7B36631E-228E-5368-60D2-4FAFB1A675BF}"/>
              </a:ext>
            </a:extLst>
          </p:cNvPr>
          <p:cNvSpPr/>
          <p:nvPr/>
        </p:nvSpPr>
        <p:spPr>
          <a:xfrm rot="10800000" flipH="1">
            <a:off x="2639872" y="3849670"/>
            <a:ext cx="385483" cy="1882588"/>
          </a:xfrm>
          <a:prstGeom prst="bent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192" name="Graphic 7191" descr="Document outline">
            <a:extLst>
              <a:ext uri="{FF2B5EF4-FFF2-40B4-BE49-F238E27FC236}">
                <a16:creationId xmlns:a16="http://schemas.microsoft.com/office/drawing/2014/main" id="{7B878858-1422-A0E7-EF91-BAF1560331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11155" y="4333764"/>
            <a:ext cx="914400" cy="914400"/>
          </a:xfrm>
          <a:prstGeom prst="rect">
            <a:avLst/>
          </a:prstGeom>
        </p:spPr>
      </p:pic>
      <p:sp>
        <p:nvSpPr>
          <p:cNvPr id="7193" name="TextBox 7192">
            <a:extLst>
              <a:ext uri="{FF2B5EF4-FFF2-40B4-BE49-F238E27FC236}">
                <a16:creationId xmlns:a16="http://schemas.microsoft.com/office/drawing/2014/main" id="{AD97747D-9BAC-6A20-3CCE-45162A365CD9}"/>
              </a:ext>
            </a:extLst>
          </p:cNvPr>
          <p:cNvSpPr txBox="1"/>
          <p:nvPr/>
        </p:nvSpPr>
        <p:spPr>
          <a:xfrm>
            <a:off x="3491519" y="5275058"/>
            <a:ext cx="135815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Document/Project</a:t>
            </a:r>
            <a:endParaRPr lang="en-US">
              <a:solidFill>
                <a:srgbClr val="4D4D4D"/>
              </a:solidFill>
              <a:latin typeface="Georgia"/>
            </a:endParaRPr>
          </a:p>
        </p:txBody>
      </p:sp>
      <p:sp>
        <p:nvSpPr>
          <p:cNvPr id="7196" name="TextBox 7195">
            <a:extLst>
              <a:ext uri="{FF2B5EF4-FFF2-40B4-BE49-F238E27FC236}">
                <a16:creationId xmlns:a16="http://schemas.microsoft.com/office/drawing/2014/main" id="{534001DE-A071-2974-CC3E-506C5E5DF41F}"/>
              </a:ext>
            </a:extLst>
          </p:cNvPr>
          <p:cNvSpPr txBox="1"/>
          <p:nvPr/>
        </p:nvSpPr>
        <p:spPr>
          <a:xfrm>
            <a:off x="5683389" y="4324799"/>
            <a:ext cx="232634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Update document (citations, layout, content)</a:t>
            </a:r>
            <a:endParaRPr lang="en-US">
              <a:solidFill>
                <a:srgbClr val="4D4D4D"/>
              </a:solidFill>
              <a:latin typeface="Georgia"/>
              <a:cs typeface="Arial"/>
            </a:endParaRPr>
          </a:p>
        </p:txBody>
      </p:sp>
      <p:sp>
        <p:nvSpPr>
          <p:cNvPr id="7197" name="Flowchart: Document 7196">
            <a:extLst>
              <a:ext uri="{FF2B5EF4-FFF2-40B4-BE49-F238E27FC236}">
                <a16:creationId xmlns:a16="http://schemas.microsoft.com/office/drawing/2014/main" id="{3E80E1DE-93C6-1250-FD5A-877D21EFD9E4}"/>
              </a:ext>
            </a:extLst>
          </p:cNvPr>
          <p:cNvSpPr/>
          <p:nvPr/>
        </p:nvSpPr>
        <p:spPr>
          <a:xfrm>
            <a:off x="6750190" y="2258435"/>
            <a:ext cx="2182904" cy="1775010"/>
          </a:xfrm>
          <a:prstGeom prst="flowChartDocumen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cs typeface="Arial"/>
              </a:rPr>
              <a:t>Tools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Web search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Document related functions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...</a:t>
            </a:r>
          </a:p>
        </p:txBody>
      </p:sp>
      <p:sp>
        <p:nvSpPr>
          <p:cNvPr id="7199" name="Arrow: Left 7198">
            <a:extLst>
              <a:ext uri="{FF2B5EF4-FFF2-40B4-BE49-F238E27FC236}">
                <a16:creationId xmlns:a16="http://schemas.microsoft.com/office/drawing/2014/main" id="{4B32F7D2-3BCA-D120-33DC-D63A82D50211}"/>
              </a:ext>
            </a:extLst>
          </p:cNvPr>
          <p:cNvSpPr/>
          <p:nvPr/>
        </p:nvSpPr>
        <p:spPr>
          <a:xfrm>
            <a:off x="5929919" y="2944234"/>
            <a:ext cx="591670" cy="20170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720539-9F16-1E9D-0259-8D9882A7431A}"/>
              </a:ext>
            </a:extLst>
          </p:cNvPr>
          <p:cNvSpPr txBox="1"/>
          <p:nvPr/>
        </p:nvSpPr>
        <p:spPr>
          <a:xfrm>
            <a:off x="209045" y="1713452"/>
            <a:ext cx="2696198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Simplify basic tasks</a:t>
            </a:r>
            <a:endParaRPr lang="en-US" sz="2000">
              <a:solidFill>
                <a:srgbClr val="4D4D4D"/>
              </a:solidFill>
              <a:latin typeface="Georgia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Keep user control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Inexpensive</a:t>
            </a:r>
          </a:p>
        </p:txBody>
      </p:sp>
    </p:spTree>
    <p:extLst>
      <p:ext uri="{BB962C8B-B14F-4D97-AF65-F5344CB8AC3E}">
        <p14:creationId xmlns:p14="http://schemas.microsoft.com/office/powerpoint/2010/main" val="2075448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5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ja-JP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Proposed Solution</a:t>
            </a:r>
            <a:endParaRPr lang="en-US" altLang="zh-TW" sz="3600">
              <a:solidFill>
                <a:srgbClr val="4D4D4D"/>
              </a:solidFill>
              <a:latin typeface="Georgia" pitchFamily="18" charset="0"/>
              <a:ea typeface="PMingLiU" pitchFamily="18" charset="-120"/>
            </a:endParaRPr>
          </a:p>
        </p:txBody>
      </p:sp>
      <p:sp>
        <p:nvSpPr>
          <p:cNvPr id="2" name="AutoShape 2" descr="Inline image 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10" descr="https://www.uni-marburg.de/sprachenzentrum/sprachen-tandem/icons/classic-timer-icon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44D38B-F4A0-1BCB-8127-C8785F27F95C}"/>
              </a:ext>
            </a:extLst>
          </p:cNvPr>
          <p:cNvSpPr txBox="1"/>
          <p:nvPr/>
        </p:nvSpPr>
        <p:spPr>
          <a:xfrm>
            <a:off x="378262" y="1712191"/>
            <a:ext cx="7861009" cy="43815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 err="1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DocAgent</a:t>
            </a:r>
            <a:endParaRPr lang="en-US" sz="2000">
              <a:solidFill>
                <a:srgbClr val="4D4D4D"/>
              </a:solidFill>
              <a:latin typeface="Georgia"/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en-US" sz="16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User control via Google Docs &amp; chat loop</a:t>
            </a: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en-US" sz="16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AI powered edits and research</a:t>
            </a:r>
            <a:endParaRPr lang="en-US" sz="1600">
              <a:solidFill>
                <a:srgbClr val="4D4D4D"/>
              </a:solidFill>
              <a:latin typeface="Georgia"/>
            </a:endParaRPr>
          </a:p>
          <a:p>
            <a:pPr marL="1200150" lvl="2" indent="-285750">
              <a:lnSpc>
                <a:spcPct val="150000"/>
              </a:lnSpc>
              <a:buFont typeface="Wingdings"/>
              <a:buChar char="§"/>
            </a:pPr>
            <a:r>
              <a:rPr lang="en-US" sz="16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Gemini 2.0 flash</a:t>
            </a:r>
          </a:p>
          <a:p>
            <a:pPr marL="1200150" lvl="2" indent="-285750">
              <a:lnSpc>
                <a:spcPct val="150000"/>
              </a:lnSpc>
              <a:buFont typeface="Wingdings"/>
              <a:buChar char="§"/>
            </a:pPr>
            <a:r>
              <a:rPr lang="en-US" sz="1600" err="1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SerpAPI</a:t>
            </a:r>
            <a:r>
              <a:rPr lang="en-US" sz="16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 web search</a:t>
            </a:r>
          </a:p>
          <a:p>
            <a:pPr marL="1200150" lvl="2" indent="-285750">
              <a:lnSpc>
                <a:spcPct val="150000"/>
              </a:lnSpc>
              <a:buFont typeface="Wingdings"/>
              <a:buChar char="§"/>
            </a:pPr>
            <a:r>
              <a:rPr lang="en-US" sz="16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Google Docs API</a:t>
            </a: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en-US" sz="16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Agent pulls doc and addresses prompt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Write LLM output directly to Google Doc</a:t>
            </a: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en-US" sz="1600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With user approval of the changes</a:t>
            </a:r>
            <a:endParaRPr lang="en-US" sz="1600">
              <a:solidFill>
                <a:srgbClr val="4D4D4D"/>
              </a:solidFill>
              <a:latin typeface="Georgia"/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endParaRPr lang="en-US">
              <a:solidFill>
                <a:srgbClr val="4D4D4D"/>
              </a:solidFill>
              <a:latin typeface="Georgia"/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endParaRPr lang="en-US">
              <a:solidFill>
                <a:srgbClr val="4D4D4D"/>
              </a:solidFill>
              <a:latin typeface="Georgi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5773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9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TW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Implementation</a:t>
            </a:r>
          </a:p>
        </p:txBody>
      </p:sp>
      <p:pic>
        <p:nvPicPr>
          <p:cNvPr id="3" name="Content Placeholder 2" descr="Official Google Docs news and updates ...">
            <a:extLst>
              <a:ext uri="{FF2B5EF4-FFF2-40B4-BE49-F238E27FC236}">
                <a16:creationId xmlns:a16="http://schemas.microsoft.com/office/drawing/2014/main" id="{79DDCA31-9D65-DE3B-C367-B53818FEF76D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6430046" y="1715262"/>
            <a:ext cx="1020664" cy="970362"/>
          </a:xfr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8</a:t>
            </a:fld>
            <a:endParaRPr lang="en-US" altLang="zh-TW"/>
          </a:p>
        </p:txBody>
      </p:sp>
      <p:pic>
        <p:nvPicPr>
          <p:cNvPr id="4" name="Picture 3" descr="LangChain - Partner Ecosystem | MongoDB">
            <a:extLst>
              <a:ext uri="{FF2B5EF4-FFF2-40B4-BE49-F238E27FC236}">
                <a16:creationId xmlns:a16="http://schemas.microsoft.com/office/drawing/2014/main" id="{2753149B-CB31-7115-B0AC-F846F1BA0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1179" y="4064954"/>
            <a:ext cx="1756558" cy="1713606"/>
          </a:xfrm>
          <a:prstGeom prst="rect">
            <a:avLst/>
          </a:prstGeom>
        </p:spPr>
      </p:pic>
      <p:pic>
        <p:nvPicPr>
          <p:cNvPr id="6" name="Picture 5" descr="What Is Google Gemini? (2024 ...">
            <a:extLst>
              <a:ext uri="{FF2B5EF4-FFF2-40B4-BE49-F238E27FC236}">
                <a16:creationId xmlns:a16="http://schemas.microsoft.com/office/drawing/2014/main" id="{8F2BFE88-7657-D21C-A8F6-63CD4832D7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2741" y="4558586"/>
            <a:ext cx="1085801" cy="721858"/>
          </a:xfrm>
          <a:prstGeom prst="rect">
            <a:avLst/>
          </a:prstGeom>
        </p:spPr>
      </p:pic>
      <p:pic>
        <p:nvPicPr>
          <p:cNvPr id="7" name="Picture 6" descr="SerpApi · GitHub">
            <a:extLst>
              <a:ext uri="{FF2B5EF4-FFF2-40B4-BE49-F238E27FC236}">
                <a16:creationId xmlns:a16="http://schemas.microsoft.com/office/drawing/2014/main" id="{99159873-F403-B9A7-0C9B-D77AD174DD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2954" y="6054612"/>
            <a:ext cx="679803" cy="620662"/>
          </a:xfrm>
          <a:prstGeom prst="rect">
            <a:avLst/>
          </a:prstGeom>
        </p:spPr>
      </p:pic>
      <p:pic>
        <p:nvPicPr>
          <p:cNvPr id="8" name="Picture 7" descr="What is Python Coding? | Juni Learning">
            <a:extLst>
              <a:ext uri="{FF2B5EF4-FFF2-40B4-BE49-F238E27FC236}">
                <a16:creationId xmlns:a16="http://schemas.microsoft.com/office/drawing/2014/main" id="{C08ED5BA-5B27-67DC-D88B-129E80B52F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188" y="4177452"/>
            <a:ext cx="1379535" cy="1393852"/>
          </a:xfrm>
          <a:prstGeom prst="rect">
            <a:avLst/>
          </a:prstGeom>
        </p:spPr>
      </p:pic>
      <p:pic>
        <p:nvPicPr>
          <p:cNvPr id="10" name="Graphic 9" descr="Users with solid fill">
            <a:extLst>
              <a:ext uri="{FF2B5EF4-FFF2-40B4-BE49-F238E27FC236}">
                <a16:creationId xmlns:a16="http://schemas.microsoft.com/office/drawing/2014/main" id="{E415C263-436C-CFEA-6F70-43E7EF9526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38034" y="1883227"/>
            <a:ext cx="712695" cy="717178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2C50DD1C-298A-97A2-422A-D3AA49E67E1C}"/>
              </a:ext>
            </a:extLst>
          </p:cNvPr>
          <p:cNvSpPr/>
          <p:nvPr/>
        </p:nvSpPr>
        <p:spPr>
          <a:xfrm>
            <a:off x="2578464" y="2199780"/>
            <a:ext cx="3935797" cy="2184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Google Cloud - YouTube">
            <a:extLst>
              <a:ext uri="{FF2B5EF4-FFF2-40B4-BE49-F238E27FC236}">
                <a16:creationId xmlns:a16="http://schemas.microsoft.com/office/drawing/2014/main" id="{BE549048-9B55-39B1-04EA-7ED498B28C0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5848" y="3098531"/>
            <a:ext cx="1052773" cy="1095726"/>
          </a:xfrm>
          <a:prstGeom prst="rect">
            <a:avLst/>
          </a:prstGeom>
        </p:spPr>
      </p:pic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0856DCCC-E706-C0EB-011B-0FFE66EC1E96}"/>
              </a:ext>
            </a:extLst>
          </p:cNvPr>
          <p:cNvSpPr/>
          <p:nvPr/>
        </p:nvSpPr>
        <p:spPr>
          <a:xfrm>
            <a:off x="469416" y="3808579"/>
            <a:ext cx="4168589" cy="2259105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C7C0B6D6-A252-6CCE-3E40-775A4A6B1E8F}"/>
              </a:ext>
            </a:extLst>
          </p:cNvPr>
          <p:cNvSpPr/>
          <p:nvPr/>
        </p:nvSpPr>
        <p:spPr>
          <a:xfrm>
            <a:off x="4720767" y="4920306"/>
            <a:ext cx="1461539" cy="1691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Up-Down 16">
            <a:extLst>
              <a:ext uri="{FF2B5EF4-FFF2-40B4-BE49-F238E27FC236}">
                <a16:creationId xmlns:a16="http://schemas.microsoft.com/office/drawing/2014/main" id="{013BBAB0-0F75-36FD-F299-EBC84EF010D3}"/>
              </a:ext>
            </a:extLst>
          </p:cNvPr>
          <p:cNvSpPr/>
          <p:nvPr/>
        </p:nvSpPr>
        <p:spPr>
          <a:xfrm>
            <a:off x="6832902" y="5280212"/>
            <a:ext cx="215153" cy="726139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Up-Down 20">
            <a:extLst>
              <a:ext uri="{FF2B5EF4-FFF2-40B4-BE49-F238E27FC236}">
                <a16:creationId xmlns:a16="http://schemas.microsoft.com/office/drawing/2014/main" id="{551A357B-C366-67C9-F488-6591B925BF7C}"/>
              </a:ext>
            </a:extLst>
          </p:cNvPr>
          <p:cNvSpPr/>
          <p:nvPr/>
        </p:nvSpPr>
        <p:spPr>
          <a:xfrm>
            <a:off x="6832901" y="3975795"/>
            <a:ext cx="215153" cy="726139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Up-Down 21">
            <a:extLst>
              <a:ext uri="{FF2B5EF4-FFF2-40B4-BE49-F238E27FC236}">
                <a16:creationId xmlns:a16="http://schemas.microsoft.com/office/drawing/2014/main" id="{3EDF4E66-AD90-2A9B-7CD3-5141FFDAD226}"/>
              </a:ext>
            </a:extLst>
          </p:cNvPr>
          <p:cNvSpPr/>
          <p:nvPr/>
        </p:nvSpPr>
        <p:spPr>
          <a:xfrm>
            <a:off x="6832900" y="2701916"/>
            <a:ext cx="215153" cy="726139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Curved Up 27">
            <a:extLst>
              <a:ext uri="{FF2B5EF4-FFF2-40B4-BE49-F238E27FC236}">
                <a16:creationId xmlns:a16="http://schemas.microsoft.com/office/drawing/2014/main" id="{48AD2EF4-0D3F-FB9D-AF13-2465BDFEE651}"/>
              </a:ext>
            </a:extLst>
          </p:cNvPr>
          <p:cNvSpPr/>
          <p:nvPr/>
        </p:nvSpPr>
        <p:spPr>
          <a:xfrm rot="5400000">
            <a:off x="1008434" y="2946287"/>
            <a:ext cx="1257026" cy="471385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Arrow: Curved Left 28">
            <a:extLst>
              <a:ext uri="{FF2B5EF4-FFF2-40B4-BE49-F238E27FC236}">
                <a16:creationId xmlns:a16="http://schemas.microsoft.com/office/drawing/2014/main" id="{7195E8A9-949D-3AFA-5BDE-D13828EC0A8B}"/>
              </a:ext>
            </a:extLst>
          </p:cNvPr>
          <p:cNvSpPr/>
          <p:nvPr/>
        </p:nvSpPr>
        <p:spPr>
          <a:xfrm rot="10800000" flipH="1">
            <a:off x="2103856" y="2431234"/>
            <a:ext cx="536305" cy="1335526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67D09F-9A17-933E-450E-B50352F2F278}"/>
              </a:ext>
            </a:extLst>
          </p:cNvPr>
          <p:cNvSpPr txBox="1"/>
          <p:nvPr/>
        </p:nvSpPr>
        <p:spPr>
          <a:xfrm>
            <a:off x="1401198" y="2858880"/>
            <a:ext cx="11913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Chat Loop</a:t>
            </a:r>
            <a:endParaRPr lang="en-US">
              <a:solidFill>
                <a:srgbClr val="4D4D4D"/>
              </a:solidFill>
              <a:latin typeface="Georgia"/>
              <a:cs typeface="Arial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3C074B-A865-3626-A415-BA96DA73F8C3}"/>
              </a:ext>
            </a:extLst>
          </p:cNvPr>
          <p:cNvSpPr txBox="1"/>
          <p:nvPr/>
        </p:nvSpPr>
        <p:spPr>
          <a:xfrm>
            <a:off x="855586" y="6180382"/>
            <a:ext cx="3037814" cy="3666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Codebase</a:t>
            </a:r>
            <a:endParaRPr lang="en-US">
              <a:solidFill>
                <a:srgbClr val="4D4D4D"/>
              </a:solidFill>
              <a:latin typeface="Georgia"/>
              <a:ea typeface="ＭＳ Ｐゴシック"/>
              <a:cs typeface="Arial" pitchFamily="34" charset="0"/>
            </a:endParaRPr>
          </a:p>
        </p:txBody>
      </p:sp>
      <p:sp>
        <p:nvSpPr>
          <p:cNvPr id="34" name="Flowchart: Alternate Process 33">
            <a:extLst>
              <a:ext uri="{FF2B5EF4-FFF2-40B4-BE49-F238E27FC236}">
                <a16:creationId xmlns:a16="http://schemas.microsoft.com/office/drawing/2014/main" id="{0D042D96-BA85-2904-DCDD-626C5401A13C}"/>
              </a:ext>
            </a:extLst>
          </p:cNvPr>
          <p:cNvSpPr/>
          <p:nvPr/>
        </p:nvSpPr>
        <p:spPr>
          <a:xfrm>
            <a:off x="6184769" y="4552059"/>
            <a:ext cx="1619248" cy="2169253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F312B2-636C-7D60-9839-51D60C00E106}"/>
              </a:ext>
            </a:extLst>
          </p:cNvPr>
          <p:cNvSpPr txBox="1"/>
          <p:nvPr/>
        </p:nvSpPr>
        <p:spPr>
          <a:xfrm>
            <a:off x="7751772" y="5320433"/>
            <a:ext cx="115653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Agent System</a:t>
            </a:r>
            <a:endParaRPr lang="en-US">
              <a:solidFill>
                <a:srgbClr val="4D4D4D"/>
              </a:solidFill>
              <a:latin typeface="Georgia"/>
              <a:cs typeface="Arial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8AD3FA-7ACE-F8D0-F7CE-F23BBB924BF6}"/>
              </a:ext>
            </a:extLst>
          </p:cNvPr>
          <p:cNvSpPr txBox="1"/>
          <p:nvPr/>
        </p:nvSpPr>
        <p:spPr>
          <a:xfrm>
            <a:off x="4966975" y="4569853"/>
            <a:ext cx="96895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Query</a:t>
            </a:r>
            <a:endParaRPr lang="en-US">
              <a:solidFill>
                <a:srgbClr val="4D4D4D"/>
              </a:solidFill>
              <a:latin typeface="Georgia"/>
              <a:cs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E7F741A-91B6-38B2-8D6B-517DB36A0D9A}"/>
              </a:ext>
            </a:extLst>
          </p:cNvPr>
          <p:cNvSpPr txBox="1"/>
          <p:nvPr/>
        </p:nvSpPr>
        <p:spPr>
          <a:xfrm>
            <a:off x="7517262" y="2444406"/>
            <a:ext cx="145510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Google Cloud/Docs API</a:t>
            </a:r>
            <a:endParaRPr lang="en-US">
              <a:solidFill>
                <a:srgbClr val="4D4D4D"/>
              </a:solidFill>
              <a:latin typeface="Georgia"/>
              <a:cs typeface="Arial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FF6F036-86C1-7D00-B026-A6C0D7228392}"/>
              </a:ext>
            </a:extLst>
          </p:cNvPr>
          <p:cNvSpPr txBox="1"/>
          <p:nvPr/>
        </p:nvSpPr>
        <p:spPr>
          <a:xfrm>
            <a:off x="3339133" y="1715343"/>
            <a:ext cx="221272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Direct Edit to Docs</a:t>
            </a:r>
            <a:endParaRPr lang="en-US">
              <a:solidFill>
                <a:srgbClr val="4D4D4D"/>
              </a:solidFill>
              <a:latin typeface="Georgia"/>
              <a:cs typeface="Arial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E62FE9F-B0D2-D004-A9C9-6225DD683A05}"/>
              </a:ext>
            </a:extLst>
          </p:cNvPr>
          <p:cNvSpPr txBox="1"/>
          <p:nvPr/>
        </p:nvSpPr>
        <p:spPr>
          <a:xfrm>
            <a:off x="5275644" y="3323811"/>
            <a:ext cx="155785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LLM Edit Request</a:t>
            </a:r>
            <a:endParaRPr lang="en-US">
              <a:solidFill>
                <a:srgbClr val="4D4D4D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9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TW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Data Summary</a:t>
            </a:r>
          </a:p>
        </p:txBody>
      </p:sp>
      <p:sp>
        <p:nvSpPr>
          <p:cNvPr id="3075" name="Content Placeholder 1"/>
          <p:cNvSpPr>
            <a:spLocks noGrp="1"/>
          </p:cNvSpPr>
          <p:nvPr>
            <p:ph/>
          </p:nvPr>
        </p:nvSpPr>
        <p:spPr>
          <a:xfrm>
            <a:off x="454959" y="1716741"/>
            <a:ext cx="8229600" cy="4419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altLang="zh-TW" sz="2000">
                <a:solidFill>
                  <a:srgbClr val="4D4D4D"/>
                </a:solidFill>
                <a:latin typeface="Georgia"/>
                <a:ea typeface="新細明體"/>
                <a:cs typeface="新細明體" charset="0"/>
              </a:rPr>
              <a:t>Considering we are building an agent, not good data perspective</a:t>
            </a:r>
            <a:endParaRPr lang="en-US" altLang="zh-TW" sz="2000">
              <a:solidFill>
                <a:srgbClr val="4D4D4D"/>
              </a:solidFill>
              <a:latin typeface="Georgia" charset="0"/>
              <a:ea typeface="新細明體" charset="0"/>
              <a:cs typeface="新細明體" charset="0"/>
            </a:endParaRPr>
          </a:p>
          <a:p>
            <a:pPr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altLang="zh-TW" sz="2000">
                <a:solidFill>
                  <a:srgbClr val="4D4D4D"/>
                </a:solidFill>
                <a:latin typeface="Georgia"/>
                <a:ea typeface="新細明體"/>
                <a:cs typeface="新細明體" charset="0"/>
              </a:rPr>
              <a:t>We created some example use cases </a:t>
            </a:r>
          </a:p>
          <a:p>
            <a:pPr lvl="1">
              <a:lnSpc>
                <a:spcPct val="150000"/>
              </a:lnSpc>
              <a:buFont typeface="Courier New" charset="0"/>
              <a:buChar char="o"/>
              <a:defRPr/>
            </a:pPr>
            <a:r>
              <a:rPr lang="en-US" altLang="zh-TW" sz="1600">
                <a:solidFill>
                  <a:srgbClr val="4D4D4D"/>
                </a:solidFill>
                <a:latin typeface="Georgia"/>
                <a:ea typeface="新細明體"/>
                <a:cs typeface="新細明體" charset="0"/>
              </a:rPr>
              <a:t>Update document's information</a:t>
            </a:r>
          </a:p>
          <a:p>
            <a:pPr lvl="1">
              <a:lnSpc>
                <a:spcPct val="150000"/>
              </a:lnSpc>
              <a:buFont typeface="Courier New" charset="0"/>
              <a:buChar char="o"/>
              <a:defRPr/>
            </a:pPr>
            <a:r>
              <a:rPr lang="en-US" altLang="zh-TW" sz="1600">
                <a:solidFill>
                  <a:srgbClr val="4D4D4D"/>
                </a:solidFill>
                <a:latin typeface="Georgia"/>
                <a:ea typeface="新細明體"/>
                <a:cs typeface="新細明體" charset="0"/>
              </a:rPr>
              <a:t>Create + include citations</a:t>
            </a:r>
            <a:endParaRPr lang="en-US" altLang="zh-TW" sz="1600">
              <a:solidFill>
                <a:srgbClr val="4D4D4D"/>
              </a:solidFill>
              <a:latin typeface="Georgia" charset="0"/>
              <a:ea typeface="新細明體" charset="0"/>
              <a:cs typeface="新細明體" charset="0"/>
            </a:endParaRPr>
          </a:p>
          <a:p>
            <a:pPr lvl="1">
              <a:lnSpc>
                <a:spcPct val="150000"/>
              </a:lnSpc>
              <a:buFont typeface="Courier New" charset="0"/>
              <a:buChar char="o"/>
              <a:defRPr/>
            </a:pPr>
            <a:r>
              <a:rPr lang="en-US" altLang="zh-TW" sz="1600">
                <a:solidFill>
                  <a:srgbClr val="4D4D4D"/>
                </a:solidFill>
                <a:latin typeface="Georgia"/>
                <a:ea typeface="新細明體"/>
                <a:cs typeface="新細明體" charset="0"/>
              </a:rPr>
              <a:t>Locate scholarly articles</a:t>
            </a:r>
            <a:endParaRPr lang="en-US" altLang="zh-TW" sz="1600">
              <a:solidFill>
                <a:srgbClr val="4D4D4D"/>
              </a:solidFill>
              <a:latin typeface="Georgia" charset="0"/>
              <a:ea typeface="新細明體" charset="0"/>
              <a:cs typeface="新細明體" charset="0"/>
            </a:endParaRPr>
          </a:p>
          <a:p>
            <a:pPr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altLang="zh-TW" sz="2000">
                <a:solidFill>
                  <a:srgbClr val="4D4D4D"/>
                </a:solidFill>
                <a:latin typeface="Georgia"/>
                <a:ea typeface="新細明體"/>
                <a:cs typeface="新細明體" charset="0"/>
              </a:rPr>
              <a:t>Focused heavily on research aspect</a:t>
            </a:r>
            <a:endParaRPr lang="en-US" altLang="zh-TW" sz="2000">
              <a:solidFill>
                <a:srgbClr val="4D4D4D"/>
              </a:solidFill>
              <a:latin typeface="Georgia" charset="0"/>
              <a:ea typeface="新細明體" charset="0"/>
              <a:cs typeface="新細明體" charset="0"/>
            </a:endParaRPr>
          </a:p>
          <a:p>
            <a:pPr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altLang="zh-TW" sz="2000">
                <a:solidFill>
                  <a:srgbClr val="4D4D4D"/>
                </a:solidFill>
                <a:latin typeface="Georgia"/>
                <a:ea typeface="新細明體"/>
                <a:cs typeface="新細明體" charset="0"/>
              </a:rPr>
              <a:t>Subjective determination of agent output</a:t>
            </a:r>
            <a:endParaRPr lang="en-US" altLang="zh-TW" sz="2000">
              <a:solidFill>
                <a:srgbClr val="4D4D4D"/>
              </a:solidFill>
              <a:latin typeface="Georgia" charset="0"/>
              <a:ea typeface="新細明體" charset="0"/>
              <a:cs typeface="新細明體" charset="0"/>
            </a:endParaRPr>
          </a:p>
          <a:p>
            <a:pPr lvl="1">
              <a:lnSpc>
                <a:spcPct val="150000"/>
              </a:lnSpc>
              <a:buFont typeface="Courier New" charset="0"/>
              <a:buChar char="o"/>
              <a:defRPr/>
            </a:pPr>
            <a:r>
              <a:rPr lang="en-US" altLang="zh-TW" sz="1600">
                <a:solidFill>
                  <a:srgbClr val="4D4D4D"/>
                </a:solidFill>
                <a:latin typeface="Georgia"/>
                <a:ea typeface="新細明體"/>
                <a:cs typeface="新細明體" charset="0"/>
              </a:rPr>
              <a:t>Agent has memory though, so can ask to improve, </a:t>
            </a:r>
            <a:r>
              <a:rPr lang="en-US" altLang="zh-TW" sz="1600" err="1">
                <a:solidFill>
                  <a:srgbClr val="4D4D4D"/>
                </a:solidFill>
                <a:latin typeface="Georgia"/>
                <a:ea typeface="新細明體"/>
                <a:cs typeface="新細明體" charset="0"/>
              </a:rPr>
              <a:t>etc</a:t>
            </a:r>
            <a:endParaRPr lang="en-US" altLang="zh-TW" sz="1600" err="1">
              <a:solidFill>
                <a:srgbClr val="4D4D4D"/>
              </a:solidFill>
              <a:latin typeface="Georgia" charset="0"/>
              <a:ea typeface="新細明體" charset="0"/>
              <a:cs typeface="新細明體" charset="0"/>
            </a:endParaRPr>
          </a:p>
          <a:p>
            <a:pPr lvl="1">
              <a:lnSpc>
                <a:spcPct val="150000"/>
              </a:lnSpc>
              <a:buFont typeface="Courier New" charset="0"/>
              <a:buChar char="o"/>
              <a:defRPr/>
            </a:pPr>
            <a:endParaRPr lang="en-US" altLang="zh-TW" sz="1600">
              <a:solidFill>
                <a:srgbClr val="4D4D4D"/>
              </a:solidFill>
              <a:latin typeface="Georgia" charset="0"/>
              <a:ea typeface="新細明體" charset="0"/>
              <a:cs typeface="新細明體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61079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830AC-1A52-87C7-0144-132FF63DF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9">
            <a:extLst>
              <a:ext uri="{FF2B5EF4-FFF2-40B4-BE49-F238E27FC236}">
                <a16:creationId xmlns:a16="http://schemas.microsoft.com/office/drawing/2014/main" id="{8362725E-C0E6-4F9C-DBC9-C85A51A3A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40" tIns="45720" rIns="91440" bIns="45720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TW" sz="3600">
                <a:solidFill>
                  <a:srgbClr val="4D4D4D"/>
                </a:solidFill>
                <a:latin typeface="Georgia"/>
                <a:ea typeface="PMingLiU"/>
              </a:rPr>
              <a:t>DEMO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D6AEFA-DB41-F320-B09D-5C99E8D71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10</a:t>
            </a:fld>
            <a:endParaRPr lang="en-US" altLang="zh-TW"/>
          </a:p>
        </p:txBody>
      </p:sp>
      <p:pic>
        <p:nvPicPr>
          <p:cNvPr id="5" name="Content Placeholder 4" descr="What are LLM Agents? A Practical Guide">
            <a:extLst>
              <a:ext uri="{FF2B5EF4-FFF2-40B4-BE49-F238E27FC236}">
                <a16:creationId xmlns:a16="http://schemas.microsoft.com/office/drawing/2014/main" id="{EFB3E14D-2A5D-9EBF-F814-2BB12B7848FD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457200" y="2124255"/>
            <a:ext cx="8229600" cy="4114800"/>
          </a:xfrm>
        </p:spPr>
      </p:pic>
    </p:spTree>
    <p:extLst>
      <p:ext uri="{BB962C8B-B14F-4D97-AF65-F5344CB8AC3E}">
        <p14:creationId xmlns:p14="http://schemas.microsoft.com/office/powerpoint/2010/main" val="1920817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9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TW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Experimental Results</a:t>
            </a:r>
          </a:p>
        </p:txBody>
      </p:sp>
      <p:sp>
        <p:nvSpPr>
          <p:cNvPr id="3075" name="Content Placeholder 1"/>
          <p:cNvSpPr>
            <a:spLocks noGrp="1"/>
          </p:cNvSpPr>
          <p:nvPr>
            <p:ph/>
          </p:nvPr>
        </p:nvSpPr>
        <p:spPr>
          <a:xfrm>
            <a:off x="533400" y="1447800"/>
            <a:ext cx="8229600" cy="4419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sz="2000">
                <a:solidFill>
                  <a:srgbClr val="4D4D4D"/>
                </a:solidFill>
                <a:ea typeface="+mn-lt"/>
                <a:cs typeface="+mn-lt"/>
              </a:rPr>
              <a:t>Document with example run throughs</a:t>
            </a:r>
          </a:p>
          <a:p>
            <a:pPr lvl="1">
              <a:lnSpc>
                <a:spcPct val="150000"/>
              </a:lnSpc>
              <a:buFont typeface="Courier New" charset="0"/>
              <a:buChar char="o"/>
              <a:defRPr/>
            </a:pPr>
            <a:r>
              <a:rPr lang="en-US" sz="1600">
                <a:solidFill>
                  <a:srgbClr val="4D4D4D"/>
                </a:solidFill>
                <a:ea typeface="+mn-lt"/>
                <a:cs typeface="+mn-lt"/>
                <a:hlinkClick r:id="rId3"/>
              </a:rPr>
              <a:t>https://docs.google.com/document/d/1cUVpo9F9VRybbZcZmcndp1_X_84zVHkF0nZPp7cMCg4/edit?usp=sharing</a:t>
            </a:r>
          </a:p>
          <a:p>
            <a:pPr lvl="1">
              <a:lnSpc>
                <a:spcPct val="150000"/>
              </a:lnSpc>
              <a:buFont typeface="Courier New" charset="0"/>
              <a:buChar char="o"/>
              <a:defRPr/>
            </a:pPr>
            <a:r>
              <a:rPr lang="en-US" sz="1600">
                <a:solidFill>
                  <a:srgbClr val="4D4D4D"/>
                </a:solidFill>
                <a:latin typeface="Arial"/>
                <a:ea typeface="新細明體"/>
                <a:cs typeface="Arial"/>
              </a:rPr>
              <a:t>Labelled as initial text, prompt, and model output </a:t>
            </a:r>
            <a:endParaRPr lang="en-US" sz="1600">
              <a:solidFill>
                <a:srgbClr val="4D4D4D"/>
              </a:solidFill>
              <a:latin typeface="Arial"/>
              <a:ea typeface="新細明體" charset="0"/>
              <a:cs typeface="Arial"/>
            </a:endParaRPr>
          </a:p>
          <a:p>
            <a:pPr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sz="2000">
                <a:solidFill>
                  <a:srgbClr val="4D4D4D"/>
                </a:solidFill>
                <a:latin typeface="Arial"/>
                <a:ea typeface="新細明體"/>
                <a:cs typeface="Arial"/>
              </a:rPr>
              <a:t>Successfully pulls sources, integrates, cites, and edits</a:t>
            </a:r>
          </a:p>
          <a:p>
            <a:pPr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sz="2000">
                <a:solidFill>
                  <a:srgbClr val="4D4D4D"/>
                </a:solidFill>
                <a:latin typeface="Arial"/>
                <a:ea typeface="新細明體"/>
                <a:cs typeface="Arial"/>
              </a:rPr>
              <a:t>Biased towards research search</a:t>
            </a:r>
            <a:endParaRPr lang="en-US" sz="2000">
              <a:solidFill>
                <a:srgbClr val="4D4D4D"/>
              </a:solidFill>
              <a:latin typeface="Arial"/>
              <a:ea typeface="新細明體" charset="0"/>
              <a:cs typeface="Arial"/>
            </a:endParaRPr>
          </a:p>
          <a:p>
            <a:pPr lvl="1">
              <a:lnSpc>
                <a:spcPct val="150000"/>
              </a:lnSpc>
              <a:buFont typeface="Courier New" charset="0"/>
              <a:buChar char="o"/>
              <a:defRPr/>
            </a:pPr>
            <a:r>
              <a:rPr lang="en-US" sz="1600">
                <a:solidFill>
                  <a:srgbClr val="4D4D4D"/>
                </a:solidFill>
                <a:latin typeface="Arial"/>
                <a:ea typeface="新細明體"/>
                <a:cs typeface="Arial"/>
              </a:rPr>
              <a:t>Most likely due to key word matches on general search terms</a:t>
            </a:r>
            <a:endParaRPr lang="en-US" sz="1600">
              <a:solidFill>
                <a:srgbClr val="4D4D4D"/>
              </a:solidFill>
              <a:latin typeface="Arial"/>
              <a:ea typeface="新細明體" charset="0"/>
              <a:cs typeface="Arial"/>
            </a:endParaRPr>
          </a:p>
          <a:p>
            <a:pPr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sz="2000">
                <a:solidFill>
                  <a:srgbClr val="4D4D4D"/>
                </a:solidFill>
                <a:latin typeface="Arial"/>
                <a:ea typeface="新細明體"/>
                <a:cs typeface="Arial"/>
              </a:rPr>
              <a:t>Generally, quite fast unless hit model limits</a:t>
            </a:r>
            <a:endParaRPr lang="en-US" sz="2000">
              <a:solidFill>
                <a:srgbClr val="4D4D4D"/>
              </a:solidFill>
              <a:latin typeface="Arial"/>
              <a:ea typeface="新細明體" charset="0"/>
              <a:cs typeface="Arial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en-US" sz="2000">
              <a:solidFill>
                <a:srgbClr val="4D4D4D"/>
              </a:solidFill>
              <a:latin typeface="Arial"/>
              <a:ea typeface="新細明體" charset="0"/>
              <a:cs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11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49885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9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TW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Experimental Analysis</a:t>
            </a:r>
          </a:p>
        </p:txBody>
      </p:sp>
      <p:sp>
        <p:nvSpPr>
          <p:cNvPr id="3075" name="Content Placeholder 1"/>
          <p:cNvSpPr>
            <a:spLocks noGrp="1"/>
          </p:cNvSpPr>
          <p:nvPr>
            <p:ph/>
          </p:nvPr>
        </p:nvSpPr>
        <p:spPr>
          <a:xfrm>
            <a:off x="533400" y="1447800"/>
            <a:ext cx="8323546" cy="2665957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,Sans-Serif" charset="0"/>
              <a:buChar char="§"/>
              <a:defRPr/>
            </a:pPr>
            <a:r>
              <a:rPr lang="en-US" sz="2000">
                <a:solidFill>
                  <a:srgbClr val="4D4D4D"/>
                </a:solidFill>
                <a:latin typeface="Arial"/>
                <a:ea typeface="新細明體"/>
                <a:cs typeface="Arial"/>
              </a:rPr>
              <a:t>Integration seems to be decent but could be better</a:t>
            </a:r>
            <a:endParaRPr lang="en-US" sz="2000">
              <a:solidFill>
                <a:srgbClr val="000000"/>
              </a:solidFill>
              <a:latin typeface="Arial"/>
              <a:ea typeface="新細明體"/>
              <a:cs typeface="Arial"/>
            </a:endParaRPr>
          </a:p>
          <a:p>
            <a:pPr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sz="2000">
                <a:solidFill>
                  <a:srgbClr val="4D4D4D"/>
                </a:solidFill>
                <a:ea typeface="新細明體"/>
                <a:cs typeface="Arial"/>
              </a:rPr>
              <a:t>Sources seem relevant on review</a:t>
            </a:r>
          </a:p>
          <a:p>
            <a:pPr lvl="1">
              <a:lnSpc>
                <a:spcPct val="150000"/>
              </a:lnSpc>
              <a:buFont typeface="Courier New" charset="0"/>
              <a:buChar char="o"/>
              <a:defRPr/>
            </a:pPr>
            <a:r>
              <a:rPr lang="en-US" sz="1600">
                <a:solidFill>
                  <a:srgbClr val="4D4D4D"/>
                </a:solidFill>
                <a:ea typeface="新細明體"/>
                <a:cs typeface="Arial"/>
              </a:rPr>
              <a:t>Citation format also follows requested style</a:t>
            </a:r>
          </a:p>
          <a:p>
            <a:pPr>
              <a:lnSpc>
                <a:spcPct val="150000"/>
              </a:lnSpc>
              <a:buFont typeface="Wingdings" charset="0"/>
              <a:buChar char="§"/>
              <a:defRPr/>
            </a:pPr>
            <a:r>
              <a:rPr lang="en-US" sz="2000">
                <a:solidFill>
                  <a:srgbClr val="4D4D4D"/>
                </a:solidFill>
                <a:ea typeface="新細明體"/>
                <a:cs typeface="Arial"/>
              </a:rPr>
              <a:t>Struggles with long-context – model issue?</a:t>
            </a:r>
            <a:endParaRPr lang="en-US" sz="1600">
              <a:solidFill>
                <a:srgbClr val="4D4D4D"/>
              </a:solidFill>
              <a:ea typeface="新細明體"/>
              <a:cs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12</a:t>
            </a:fld>
            <a:endParaRPr lang="en-US" altLang="zh-TW"/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7F1E677-3F4D-0A4A-2414-8DD0E2A7A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384" y="3593254"/>
            <a:ext cx="6137753" cy="312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849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CF6252-4D04-5953-8F50-5726601D820C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92502" y="1719563"/>
            <a:ext cx="8283515" cy="4622261"/>
          </a:xfrm>
        </p:spPr>
        <p:txBody>
          <a:bodyPr/>
          <a:lstStyle/>
          <a:p>
            <a:r>
              <a:rPr lang="en-US" sz="2000">
                <a:solidFill>
                  <a:srgbClr val="4D4D4D"/>
                </a:solidFill>
                <a:ea typeface="ＭＳ Ｐゴシック"/>
                <a:cs typeface="Arial"/>
              </a:rPr>
              <a:t>Successful agent application</a:t>
            </a:r>
          </a:p>
          <a:p>
            <a:pPr lvl="1">
              <a:buFont typeface="Courier New"/>
              <a:buChar char="o"/>
            </a:pPr>
            <a:r>
              <a:rPr lang="en-US" sz="1600">
                <a:solidFill>
                  <a:srgbClr val="4D4D4D"/>
                </a:solidFill>
                <a:ea typeface="ＭＳ Ｐゴシック"/>
                <a:cs typeface="Arial"/>
              </a:rPr>
              <a:t>Agent correctly accomplishes our goal tasks</a:t>
            </a:r>
          </a:p>
          <a:p>
            <a:pPr lvl="1">
              <a:buFont typeface="Courier New"/>
              <a:buChar char="o"/>
            </a:pPr>
            <a:r>
              <a:rPr lang="en-US" sz="1600">
                <a:solidFill>
                  <a:srgbClr val="4D4D4D"/>
                </a:solidFill>
                <a:ea typeface="ＭＳ Ｐゴシック"/>
                <a:cs typeface="Arial"/>
              </a:rPr>
              <a:t>Model performance issues, could be solved with better model</a:t>
            </a:r>
          </a:p>
          <a:p>
            <a:pPr lvl="1">
              <a:buFont typeface="Courier New"/>
              <a:buChar char="o"/>
            </a:pPr>
            <a:r>
              <a:rPr lang="en-US" sz="1600">
                <a:solidFill>
                  <a:srgbClr val="4D4D4D"/>
                </a:solidFill>
                <a:ea typeface="ＭＳ Ｐゴシック"/>
                <a:cs typeface="Arial"/>
              </a:rPr>
              <a:t>Clear step-by-step thought process by agent -&gt; interpretability</a:t>
            </a:r>
          </a:p>
          <a:p>
            <a:pPr lvl="1">
              <a:buFont typeface="Courier New"/>
              <a:buChar char="o"/>
            </a:pPr>
            <a:r>
              <a:rPr lang="en-US" sz="1600">
                <a:solidFill>
                  <a:srgbClr val="4D4D4D"/>
                </a:solidFill>
                <a:ea typeface="ＭＳ Ｐゴシック"/>
                <a:cs typeface="Arial"/>
              </a:rPr>
              <a:t>Edit vs. Research tasks handled differently</a:t>
            </a:r>
          </a:p>
          <a:p>
            <a:pPr marL="457200" lvl="1" indent="0">
              <a:buNone/>
            </a:pPr>
            <a:endParaRPr lang="en-US" sz="1600">
              <a:solidFill>
                <a:srgbClr val="4D4D4D"/>
              </a:solidFill>
              <a:ea typeface="ＭＳ Ｐゴシック"/>
              <a:cs typeface="Arial"/>
            </a:endParaRPr>
          </a:p>
          <a:p>
            <a:r>
              <a:rPr lang="en-US" sz="2000">
                <a:solidFill>
                  <a:srgbClr val="4D4D4D"/>
                </a:solidFill>
                <a:ea typeface="ＭＳ Ｐゴシック"/>
                <a:cs typeface="Arial"/>
              </a:rPr>
              <a:t>Future Steps</a:t>
            </a:r>
            <a:endParaRPr lang="en-US" sz="2000">
              <a:solidFill>
                <a:srgbClr val="4D4D4D"/>
              </a:solidFill>
              <a:cs typeface="Arial"/>
            </a:endParaRPr>
          </a:p>
          <a:p>
            <a:pPr lvl="1">
              <a:buFont typeface="Courier New"/>
              <a:buChar char="o"/>
            </a:pPr>
            <a:r>
              <a:rPr lang="en-US" sz="1600">
                <a:solidFill>
                  <a:srgbClr val="4D4D4D"/>
                </a:solidFill>
                <a:ea typeface="ＭＳ Ｐゴシック"/>
                <a:cs typeface="Arial"/>
              </a:rPr>
              <a:t>Include ways to further refine sources and citations</a:t>
            </a:r>
            <a:endParaRPr lang="en-US" sz="1600">
              <a:solidFill>
                <a:srgbClr val="4D4D4D"/>
              </a:solidFill>
              <a:cs typeface="Arial"/>
            </a:endParaRPr>
          </a:p>
          <a:p>
            <a:pPr lvl="1">
              <a:buFont typeface="Courier New"/>
              <a:buChar char="o"/>
            </a:pPr>
            <a:r>
              <a:rPr lang="en-US" sz="1600">
                <a:solidFill>
                  <a:srgbClr val="4D4D4D"/>
                </a:solidFill>
                <a:ea typeface="ＭＳ Ｐゴシック"/>
                <a:cs typeface="Arial"/>
              </a:rPr>
              <a:t>Improve model responses with better model</a:t>
            </a:r>
            <a:endParaRPr lang="en-US" sz="1600">
              <a:solidFill>
                <a:srgbClr val="4D4D4D"/>
              </a:solidFill>
              <a:cs typeface="Arial"/>
            </a:endParaRPr>
          </a:p>
          <a:p>
            <a:pPr lvl="1">
              <a:buFont typeface="Courier New"/>
              <a:buChar char="o"/>
            </a:pPr>
            <a:r>
              <a:rPr lang="en-US" sz="1600">
                <a:solidFill>
                  <a:srgbClr val="4D4D4D"/>
                </a:solidFill>
                <a:ea typeface="ＭＳ Ｐゴシック"/>
                <a:cs typeface="Arial"/>
              </a:rPr>
              <a:t>Add in additional tools</a:t>
            </a:r>
            <a:endParaRPr lang="en-US" sz="1600">
              <a:solidFill>
                <a:srgbClr val="4D4D4D"/>
              </a:solidFill>
              <a:cs typeface="Arial"/>
            </a:endParaRPr>
          </a:p>
          <a:p>
            <a:pPr lvl="2">
              <a:buFont typeface="Wingdings"/>
              <a:buChar char="§"/>
            </a:pPr>
            <a:r>
              <a:rPr lang="en-US" sz="1200">
                <a:solidFill>
                  <a:srgbClr val="4D4D4D"/>
                </a:solidFill>
                <a:ea typeface="ＭＳ Ｐゴシック"/>
                <a:cs typeface="Arial"/>
              </a:rPr>
              <a:t>Google Doc formatting (another model?)</a:t>
            </a:r>
            <a:endParaRPr lang="en-US" sz="1200">
              <a:solidFill>
                <a:srgbClr val="4D4D4D"/>
              </a:solidFill>
              <a:cs typeface="Arial"/>
            </a:endParaRPr>
          </a:p>
          <a:p>
            <a:pPr lvl="2">
              <a:buFont typeface="Wingdings"/>
              <a:buChar char="§"/>
            </a:pPr>
            <a:r>
              <a:rPr lang="en-US" sz="1200">
                <a:solidFill>
                  <a:srgbClr val="4D4D4D"/>
                </a:solidFill>
                <a:ea typeface="ＭＳ Ｐゴシック"/>
                <a:cs typeface="Arial"/>
              </a:rPr>
              <a:t>Outlining – more planning orientated</a:t>
            </a:r>
            <a:endParaRPr lang="en-US" sz="1200">
              <a:solidFill>
                <a:srgbClr val="4D4D4D"/>
              </a:solidFill>
              <a:cs typeface="Arial"/>
            </a:endParaRPr>
          </a:p>
          <a:p>
            <a:pPr lvl="1">
              <a:buFont typeface="Courier New"/>
              <a:buChar char="o"/>
            </a:pPr>
            <a:r>
              <a:rPr lang="en-US" sz="1600">
                <a:solidFill>
                  <a:srgbClr val="4D4D4D"/>
                </a:solidFill>
                <a:ea typeface="ＭＳ Ｐゴシック"/>
                <a:cs typeface="Arial"/>
              </a:rPr>
              <a:t>Create front-end</a:t>
            </a:r>
            <a:endParaRPr lang="en-US" sz="1600">
              <a:solidFill>
                <a:srgbClr val="4D4D4D"/>
              </a:solidFill>
              <a:cs typeface="Arial"/>
            </a:endParaRPr>
          </a:p>
          <a:p>
            <a:pPr lvl="1">
              <a:buFont typeface="Courier New"/>
              <a:buChar char="o"/>
            </a:pPr>
            <a:r>
              <a:rPr lang="en-US" sz="1600">
                <a:solidFill>
                  <a:srgbClr val="4D4D4D"/>
                </a:solidFill>
                <a:ea typeface="ＭＳ Ｐゴシック"/>
                <a:cs typeface="Arial"/>
              </a:rPr>
              <a:t>Token limits will disrupt longer docs</a:t>
            </a:r>
            <a:endParaRPr lang="en-US" sz="1600">
              <a:solidFill>
                <a:srgbClr val="4D4D4D"/>
              </a:solidFill>
              <a:cs typeface="Arial"/>
            </a:endParaRPr>
          </a:p>
          <a:p>
            <a:pPr lvl="2">
              <a:buFont typeface="Wingdings"/>
              <a:buChar char="§"/>
            </a:pPr>
            <a:endParaRPr lang="en-US" sz="1200">
              <a:cs typeface="Arial"/>
            </a:endParaRPr>
          </a:p>
          <a:p>
            <a:pPr lvl="1">
              <a:buFont typeface="Courier New"/>
              <a:buChar char="o"/>
            </a:pPr>
            <a:endParaRPr lang="en-US" sz="1600"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226AE8-14A5-4644-3575-5D46CD987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/>
              <a:pPr/>
              <a:t>13</a:t>
            </a:fld>
            <a:endParaRPr lang="en-US" altLang="zh-TW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42EA97AD-92E1-1FD7-B22E-B0485D8D1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US" altLang="zh-TW" sz="36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1708433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5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US" altLang="zh-TW" sz="360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References</a:t>
            </a:r>
          </a:p>
        </p:txBody>
      </p:sp>
      <p:sp>
        <p:nvSpPr>
          <p:cNvPr id="53250" name="Content Placeholder 2"/>
          <p:cNvSpPr txBox="1">
            <a:spLocks/>
          </p:cNvSpPr>
          <p:nvPr/>
        </p:nvSpPr>
        <p:spPr bwMode="auto">
          <a:xfrm>
            <a:off x="9525" y="1752600"/>
            <a:ext cx="90678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en-US" altLang="en-US" sz="2000">
              <a:solidFill>
                <a:srgbClr val="4D4D4D"/>
              </a:solidFill>
              <a:latin typeface="Georgia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14</a:t>
            </a:fld>
            <a:endParaRPr lang="en-US" altLang="zh-TW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9DE618-90DD-0AA2-9905-95DB6B793474}"/>
              </a:ext>
            </a:extLst>
          </p:cNvPr>
          <p:cNvSpPr txBox="1"/>
          <p:nvPr/>
        </p:nvSpPr>
        <p:spPr>
          <a:xfrm>
            <a:off x="406337" y="1667385"/>
            <a:ext cx="7286055" cy="58588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solidFill>
                  <a:srgbClr val="4D4D4D"/>
                </a:solidFill>
                <a:latin typeface="Georgia"/>
                <a:ea typeface="Calibri"/>
                <a:cs typeface="Calibri"/>
              </a:rPr>
              <a:t>Baek, J., Jauhar, S. K., </a:t>
            </a:r>
            <a:r>
              <a:rPr lang="en-US" err="1">
                <a:solidFill>
                  <a:srgbClr val="4D4D4D"/>
                </a:solidFill>
                <a:latin typeface="Georgia"/>
                <a:ea typeface="Calibri"/>
                <a:cs typeface="Calibri"/>
              </a:rPr>
              <a:t>Cucerzan</a:t>
            </a:r>
            <a:r>
              <a:rPr lang="en-US">
                <a:solidFill>
                  <a:srgbClr val="4D4D4D"/>
                </a:solidFill>
                <a:latin typeface="Georgia"/>
                <a:ea typeface="Calibri"/>
                <a:cs typeface="Calibri"/>
              </a:rPr>
              <a:t>, S., &amp; Hwang, S. J. (2024). </a:t>
            </a:r>
            <a:r>
              <a:rPr lang="en-US" err="1">
                <a:solidFill>
                  <a:srgbClr val="4D4D4D"/>
                </a:solidFill>
                <a:latin typeface="Georgia"/>
                <a:ea typeface="Calibri"/>
                <a:cs typeface="Calibri"/>
              </a:rPr>
              <a:t>Researchagent</a:t>
            </a:r>
            <a:r>
              <a:rPr lang="en-US">
                <a:solidFill>
                  <a:srgbClr val="4D4D4D"/>
                </a:solidFill>
                <a:latin typeface="Georgia"/>
                <a:ea typeface="Calibri"/>
                <a:cs typeface="Calibri"/>
              </a:rPr>
              <a:t>: Iterative research idea generation over scientific literature with large language models. </a:t>
            </a:r>
            <a:r>
              <a:rPr lang="en-US" i="1" err="1">
                <a:solidFill>
                  <a:srgbClr val="4D4D4D"/>
                </a:solidFill>
                <a:latin typeface="Georgia"/>
                <a:ea typeface="Calibri"/>
                <a:cs typeface="Calibri"/>
              </a:rPr>
              <a:t>arXiv</a:t>
            </a:r>
            <a:r>
              <a:rPr lang="en-US" i="1">
                <a:solidFill>
                  <a:srgbClr val="4D4D4D"/>
                </a:solidFill>
                <a:latin typeface="Georgia"/>
                <a:ea typeface="Calibri"/>
                <a:cs typeface="Calibri"/>
              </a:rPr>
              <a:t> preprint arXiv:2404.07738</a:t>
            </a:r>
            <a:r>
              <a:rPr lang="en-US">
                <a:solidFill>
                  <a:srgbClr val="4D4D4D"/>
                </a:solidFill>
                <a:latin typeface="Georgia"/>
                <a:ea typeface="Calibri"/>
                <a:cs typeface="Calibri"/>
              </a:rPr>
              <a:t>.</a:t>
            </a:r>
            <a:endParaRPr lang="en-US">
              <a:solidFill>
                <a:srgbClr val="4D4D4D"/>
              </a:solidFill>
              <a:latin typeface="Georgia"/>
              <a:ea typeface="ＭＳ Ｐゴシック"/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Schmidgall, S., Su, Y., Wang, Z., Sun, X., Wu, J., Yu, X., ... &amp; Barsoum, E. (2025). Agent laboratory: Using </a:t>
            </a:r>
            <a:r>
              <a:rPr lang="en-US" err="1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llm</a:t>
            </a:r>
            <a:r>
              <a:rPr lang="en-US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 agents as research assistants. </a:t>
            </a:r>
            <a:r>
              <a:rPr lang="en-US" i="1" err="1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arXiv</a:t>
            </a:r>
            <a:r>
              <a:rPr lang="en-US" i="1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 preprint arXiv:2501.04227</a:t>
            </a:r>
            <a:r>
              <a:rPr lang="en-US">
                <a:solidFill>
                  <a:srgbClr val="4D4D4D"/>
                </a:solidFill>
                <a:latin typeface="Georgia"/>
                <a:ea typeface="ＭＳ Ｐゴシック"/>
                <a:cs typeface="Arial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solidFill>
                  <a:srgbClr val="222222"/>
                </a:solidFill>
                <a:latin typeface="Georgia"/>
                <a:ea typeface="ＭＳ Ｐゴシック"/>
                <a:cs typeface="Arial"/>
                <a:hlinkClick r:id="rId2"/>
              </a:rPr>
              <a:t>https://notebooklm.google/</a:t>
            </a:r>
            <a:endParaRPr lang="en-US">
              <a:solidFill>
                <a:srgbClr val="222222"/>
              </a:solidFill>
              <a:latin typeface="Georgia"/>
              <a:ea typeface="ＭＳ Ｐゴシック"/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solidFill>
                  <a:srgbClr val="222222"/>
                </a:solidFill>
                <a:latin typeface="Georgia"/>
                <a:ea typeface="ＭＳ Ｐゴシック"/>
                <a:cs typeface="Arial"/>
                <a:hlinkClick r:id="rId3"/>
              </a:rPr>
              <a:t>https://www.perplexity.ai/</a:t>
            </a:r>
            <a:endParaRPr lang="en-US">
              <a:solidFill>
                <a:srgbClr val="222222"/>
              </a:solidFill>
              <a:latin typeface="Georgia"/>
              <a:cs typeface="Arial"/>
              <a:hlinkClick r:id="" action="ppaction://noactio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solidFill>
                  <a:srgbClr val="222222"/>
                </a:solidFill>
                <a:latin typeface="Georgia"/>
                <a:ea typeface="ＭＳ Ｐゴシック"/>
                <a:cs typeface="Arial"/>
                <a:hlinkClick r:id="rId4"/>
              </a:rPr>
              <a:t>https://serpapi.com/search-api</a:t>
            </a:r>
            <a:endParaRPr lang="en-US">
              <a:solidFill>
                <a:srgbClr val="222222"/>
              </a:solidFill>
              <a:latin typeface="Georgia"/>
              <a:cs typeface="Arial"/>
              <a:hlinkClick r:id="" action="ppaction://noactio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solidFill>
                  <a:srgbClr val="222222"/>
                </a:solidFill>
                <a:latin typeface="Georgia"/>
                <a:ea typeface="ＭＳ Ｐゴシック"/>
                <a:cs typeface="Arial"/>
                <a:hlinkClick r:id="rId5"/>
              </a:rPr>
              <a:t>https://www.k2view.com/what-are-llm-agents/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>
              <a:solidFill>
                <a:srgbClr val="222222"/>
              </a:solidFill>
              <a:latin typeface="Georgia"/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>
              <a:solidFill>
                <a:srgbClr val="222222"/>
              </a:solidFill>
              <a:latin typeface="Georgia"/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>
              <a:solidFill>
                <a:srgbClr val="222222"/>
              </a:solidFill>
              <a:latin typeface="Georgi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805634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14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revision>5</cp:revision>
  <cp:lastPrinted>2014-10-01T00:28:47Z</cp:lastPrinted>
  <dcterms:created xsi:type="dcterms:W3CDTF">2009-01-05T15:07:26Z</dcterms:created>
  <dcterms:modified xsi:type="dcterms:W3CDTF">2025-05-09T22:05:18Z</dcterms:modified>
</cp:coreProperties>
</file>