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5143500" cx="9144000"/>
  <p:notesSz cx="6858000" cy="9144000"/>
  <p:embeddedFontLst>
    <p:embeddedFont>
      <p:font typeface="Nunito Sans Medium"/>
      <p:regular r:id="rId24"/>
      <p:bold r:id="rId25"/>
      <p:italic r:id="rId26"/>
      <p:boldItalic r:id="rId27"/>
    </p:embeddedFont>
    <p:embeddedFont>
      <p:font typeface="Nunito Sans SemiBold"/>
      <p:regular r:id="rId28"/>
      <p:bold r:id="rId29"/>
      <p:italic r:id="rId30"/>
      <p:boldItalic r:id="rId31"/>
    </p:embeddedFont>
    <p:embeddedFont>
      <p:font typeface="Nunito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4C1ABA1-2AE1-4C00-A220-1EFBF76D41FC}">
  <a:tblStyle styleId="{54C1ABA1-2AE1-4C00-A220-1EFBF76D41F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NunitoSansMedium-regular.fntdata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NunitoSansMedium-italic.fntdata"/><Relationship Id="rId25" Type="http://schemas.openxmlformats.org/officeDocument/2006/relationships/font" Target="fonts/NunitoSansMedium-bold.fntdata"/><Relationship Id="rId28" Type="http://schemas.openxmlformats.org/officeDocument/2006/relationships/font" Target="fonts/NunitoSansSemiBold-regular.fntdata"/><Relationship Id="rId27" Type="http://schemas.openxmlformats.org/officeDocument/2006/relationships/font" Target="fonts/NunitoSansMedium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NunitoSansSemiBold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NunitoSansSemiBold-boldItalic.fntdata"/><Relationship Id="rId30" Type="http://schemas.openxmlformats.org/officeDocument/2006/relationships/font" Target="fonts/NunitoSansSemiBold-italic.fntdata"/><Relationship Id="rId11" Type="http://schemas.openxmlformats.org/officeDocument/2006/relationships/slide" Target="slides/slide4.xml"/><Relationship Id="rId33" Type="http://schemas.openxmlformats.org/officeDocument/2006/relationships/font" Target="fonts/NunitoSans-bold.fntdata"/><Relationship Id="rId10" Type="http://schemas.openxmlformats.org/officeDocument/2006/relationships/slide" Target="slides/slide3.xml"/><Relationship Id="rId32" Type="http://schemas.openxmlformats.org/officeDocument/2006/relationships/font" Target="fonts/NunitoSans-regular.fntdata"/><Relationship Id="rId13" Type="http://schemas.openxmlformats.org/officeDocument/2006/relationships/slide" Target="slides/slide6.xml"/><Relationship Id="rId35" Type="http://schemas.openxmlformats.org/officeDocument/2006/relationships/font" Target="fonts/NunitoSans-boldItalic.fntdata"/><Relationship Id="rId12" Type="http://schemas.openxmlformats.org/officeDocument/2006/relationships/slide" Target="slides/slide5.xml"/><Relationship Id="rId34" Type="http://schemas.openxmlformats.org/officeDocument/2006/relationships/font" Target="fonts/NunitoSans-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SLIDES_API1093574070_0:notes"/>
          <p:cNvSpPr/>
          <p:nvPr>
            <p:ph idx="2" type="sldImg"/>
          </p:nvPr>
        </p:nvSpPr>
        <p:spPr>
          <a:xfrm>
            <a:off x="381322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SLIDES_API109357407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491df8894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491df8894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Daniel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491df8894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491df8894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Daniel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91df889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491df889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Ananya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491df8894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491df8894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Ananya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08e45b9d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08e45b9d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Daniel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5099ddcde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5099ddcde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Daniel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508e45b9d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508e45b9d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Ananya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508e45b9da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508e45b9d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Ananya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5099ddcde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5099ddcde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Daniel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508e45b9d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508e45b9d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Ananya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508e45b9da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508e45b9da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Daniel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50a1e21bd0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50a1e21bd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Daniel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508e45b9da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508e45b9da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Ananya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508e45b9da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508e45b9da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Ananya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508e45b9da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508e45b9da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9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9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4000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4000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3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49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49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9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9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3E5244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3E524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olab.research.google.com/drive/16uQeKKibUojkq137WSiG5xnKRrLsYal-#scrollTo=tmS1SR3IlA3h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arxiv.org/pdf/2312.16171" TargetMode="External"/><Relationship Id="rId4" Type="http://schemas.openxmlformats.org/officeDocument/2006/relationships/hyperlink" Target="https://medium.com/@abonia/running-ollama-in-google-colab-free-tier-545609258453" TargetMode="External"/><Relationship Id="rId5" Type="http://schemas.openxmlformats.org/officeDocument/2006/relationships/hyperlink" Target="https://python.langchain.com/docs/how_to/sequence/" TargetMode="External"/><Relationship Id="rId6" Type="http://schemas.openxmlformats.org/officeDocument/2006/relationships/hyperlink" Target="https://python.langchain.com/v0.1/docs/modules/agents/how_to/custom_agent/" TargetMode="External"/><Relationship Id="rId7" Type="http://schemas.openxmlformats.org/officeDocument/2006/relationships/hyperlink" Target="https://arxiv.org/pdf/2501.06322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996150" y="2989300"/>
            <a:ext cx="7151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Daniel Slyepichev, Ananya Ananda</a:t>
            </a:r>
            <a:endParaRPr sz="1900">
              <a:solidFill>
                <a:schemeClr val="lt1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4-28-2025</a:t>
            </a:r>
            <a:endParaRPr sz="1900">
              <a:solidFill>
                <a:schemeClr val="lt1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996150" y="1113425"/>
            <a:ext cx="71517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Prompt Optimization with LLM Agent as Judge</a:t>
            </a:r>
            <a:endParaRPr b="1" sz="39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01" name="Google Shape;10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 txBox="1"/>
          <p:nvPr/>
        </p:nvSpPr>
        <p:spPr>
          <a:xfrm>
            <a:off x="514100" y="1609625"/>
            <a:ext cx="7184400" cy="27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unito Sans Medium"/>
              <a:buChar char="●"/>
            </a:pPr>
            <a:r>
              <a:rPr lang="en" sz="17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LLMs </a:t>
            </a:r>
            <a:r>
              <a:rPr lang="en" sz="17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emergent behaviors generates answers outside of its initial training data</a:t>
            </a:r>
            <a:endParaRPr sz="17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unito Sans Medium"/>
              <a:buChar char="●"/>
            </a:pPr>
            <a:r>
              <a:rPr lang="en" sz="17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How do we ask LLMs to generate rational and correct responses?</a:t>
            </a:r>
            <a:endParaRPr sz="17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unito Sans Medium"/>
              <a:buChar char="○"/>
            </a:pPr>
            <a:r>
              <a:rPr lang="en" sz="17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Prompt Engineering</a:t>
            </a:r>
            <a:endParaRPr sz="17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unito Sans Medium"/>
              <a:buChar char="●"/>
            </a:pPr>
            <a:r>
              <a:rPr lang="en" sz="17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What if we ask an external LLM?</a:t>
            </a:r>
            <a:endParaRPr sz="17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unito Sans Medium"/>
              <a:buChar char="○"/>
            </a:pPr>
            <a:r>
              <a:rPr lang="en" sz="17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Leads to insight on how LLMs think of prompting</a:t>
            </a:r>
            <a:endParaRPr sz="17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655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unito Sans Medium"/>
              <a:buChar char="■"/>
            </a:pPr>
            <a:r>
              <a:rPr lang="en" sz="17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What keywords lead to what? </a:t>
            </a:r>
            <a:endParaRPr sz="17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655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unito Sans Medium"/>
              <a:buChar char="■"/>
            </a:pPr>
            <a:r>
              <a:rPr lang="en" sz="17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What are some developing patterns in prompts?</a:t>
            </a:r>
            <a:endParaRPr sz="17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655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unito Sans Medium"/>
              <a:buChar char="■"/>
            </a:pPr>
            <a:r>
              <a:rPr lang="en" sz="17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Will the LLM’s generation lead to an accuracy increase?</a:t>
            </a:r>
            <a:endParaRPr sz="17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unito Sans Medium"/>
              <a:buChar char="●"/>
            </a:pPr>
            <a:r>
              <a:rPr lang="en" sz="17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Create tool for others to optimize their own prompts</a:t>
            </a:r>
            <a:endParaRPr sz="17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107" name="Google Shape;107;p26"/>
          <p:cNvSpPr txBox="1"/>
          <p:nvPr/>
        </p:nvSpPr>
        <p:spPr>
          <a:xfrm>
            <a:off x="456050" y="433400"/>
            <a:ext cx="7300500" cy="9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Motivation</a:t>
            </a:r>
            <a:endParaRPr b="1" sz="44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 txBox="1"/>
          <p:nvPr/>
        </p:nvSpPr>
        <p:spPr>
          <a:xfrm>
            <a:off x="514100" y="1609625"/>
            <a:ext cx="7184400" cy="27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unito Sans Medium"/>
              <a:buChar char="●"/>
            </a:pPr>
            <a:r>
              <a:rPr lang="en" sz="17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Large Language Models</a:t>
            </a:r>
            <a:endParaRPr sz="17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unito Sans Medium"/>
              <a:buChar char="○"/>
            </a:pPr>
            <a:r>
              <a:rPr lang="en" sz="17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Can solve emergent tasks utilizing several techniques</a:t>
            </a:r>
            <a:endParaRPr sz="17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655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unito Sans Medium"/>
              <a:buChar char="■"/>
            </a:pPr>
            <a:r>
              <a:rPr lang="en" sz="17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In Context Learning, Chain of Thought</a:t>
            </a:r>
            <a:endParaRPr sz="17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unito Sans Medium"/>
              <a:buChar char="●"/>
            </a:pPr>
            <a:r>
              <a:rPr lang="en" sz="17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Prompt Engineering</a:t>
            </a:r>
            <a:endParaRPr sz="17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unito Sans Medium"/>
              <a:buChar char="○"/>
            </a:pPr>
            <a:r>
              <a:rPr lang="en" sz="17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LLMs understand </a:t>
            </a:r>
            <a:r>
              <a:rPr lang="en" sz="17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differently from humans</a:t>
            </a:r>
            <a:endParaRPr sz="17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655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unito Sans Medium"/>
              <a:buChar char="■"/>
            </a:pPr>
            <a:r>
              <a:rPr lang="en" sz="17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Meta Prompting</a:t>
            </a:r>
            <a:endParaRPr sz="17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unito Sans Medium"/>
              <a:buChar char="●"/>
            </a:pPr>
            <a:r>
              <a:rPr lang="en" sz="17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LLM as Judge</a:t>
            </a:r>
            <a:endParaRPr sz="17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unito Sans Medium"/>
              <a:buChar char="○"/>
            </a:pPr>
            <a:r>
              <a:rPr lang="en" sz="17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Generate score and </a:t>
            </a:r>
            <a:r>
              <a:rPr lang="en" sz="17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criticism</a:t>
            </a:r>
            <a:r>
              <a:rPr lang="en" sz="17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for reasoning and open ended tasks</a:t>
            </a:r>
            <a:endParaRPr sz="17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unito Sans Medium"/>
              <a:buChar char="○"/>
            </a:pPr>
            <a:r>
              <a:rPr lang="en" sz="17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Utilize Multi Agent System to create debates </a:t>
            </a:r>
            <a:endParaRPr sz="17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114" name="Google Shape;114;p27"/>
          <p:cNvSpPr txBox="1"/>
          <p:nvPr/>
        </p:nvSpPr>
        <p:spPr>
          <a:xfrm>
            <a:off x="456050" y="433400"/>
            <a:ext cx="7300500" cy="9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Background</a:t>
            </a:r>
            <a:endParaRPr b="1" sz="44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15" name="Google Shape;11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 txBox="1"/>
          <p:nvPr/>
        </p:nvSpPr>
        <p:spPr>
          <a:xfrm>
            <a:off x="456050" y="1640600"/>
            <a:ext cx="7184400" cy="27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Sans SemiBold"/>
              <a:buChar char="●"/>
            </a:pPr>
            <a:r>
              <a:rPr lang="en" sz="1600">
                <a:solidFill>
                  <a:schemeClr val="lt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LLM as a Judge (Gue et al., 2025)</a:t>
            </a:r>
            <a:endParaRPr sz="1600">
              <a:solidFill>
                <a:schemeClr val="lt1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-330200" lvl="1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Sans SemiBold"/>
              <a:buChar char="○"/>
            </a:pPr>
            <a:r>
              <a:rPr lang="en" sz="1600">
                <a:solidFill>
                  <a:schemeClr val="lt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Introduces a framework for using LLMs as evaluators for open-ended tasks</a:t>
            </a:r>
            <a:endParaRPr sz="1600">
              <a:solidFill>
                <a:schemeClr val="lt1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Sans SemiBold"/>
              <a:buChar char="●"/>
            </a:pPr>
            <a:r>
              <a:rPr lang="en" sz="1600">
                <a:solidFill>
                  <a:schemeClr val="lt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From Generation to Judgement (Li et al., 2025)</a:t>
            </a:r>
            <a:endParaRPr sz="1600">
              <a:solidFill>
                <a:schemeClr val="lt1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-330200" lvl="1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Sans SemiBold"/>
              <a:buChar char="○"/>
            </a:pPr>
            <a:r>
              <a:rPr lang="en" sz="1600">
                <a:solidFill>
                  <a:schemeClr val="lt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Surveys design choices in </a:t>
            </a:r>
            <a:r>
              <a:rPr lang="en" sz="1600">
                <a:solidFill>
                  <a:schemeClr val="lt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building</a:t>
            </a:r>
            <a:r>
              <a:rPr lang="en" sz="1600">
                <a:solidFill>
                  <a:schemeClr val="lt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 LLM-as-a-Judge systems</a:t>
            </a:r>
            <a:endParaRPr sz="1600">
              <a:solidFill>
                <a:schemeClr val="lt1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Sans SemiBold"/>
              <a:buChar char="●"/>
            </a:pPr>
            <a:r>
              <a:rPr lang="en" sz="1600">
                <a:solidFill>
                  <a:schemeClr val="lt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Judging LLM-as-a-Judge with MT-Bench &amp; Chatbot Arena (Zheng et al., 2023)</a:t>
            </a:r>
            <a:endParaRPr sz="1600">
              <a:solidFill>
                <a:schemeClr val="lt1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-330200" lvl="1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Sans SemiBold"/>
              <a:buChar char="○"/>
            </a:pPr>
            <a:r>
              <a:rPr lang="en" sz="1600">
                <a:solidFill>
                  <a:schemeClr val="lt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Proposes GPT-4 as a reliable judge, achieving 80%+ agreement with human preference</a:t>
            </a:r>
            <a:endParaRPr sz="1600">
              <a:solidFill>
                <a:schemeClr val="lt1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Sans SemiBold"/>
              <a:buChar char="●"/>
            </a:pPr>
            <a:r>
              <a:rPr lang="en" sz="1600">
                <a:solidFill>
                  <a:schemeClr val="lt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Large Language Models are Human-Level Prompt Engineers (Zhou et al. , 2023)</a:t>
            </a:r>
            <a:endParaRPr sz="1600">
              <a:solidFill>
                <a:schemeClr val="lt1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-330200" lvl="1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Sans SemiBold"/>
              <a:buChar char="○"/>
            </a:pPr>
            <a:r>
              <a:rPr lang="en" sz="1600">
                <a:solidFill>
                  <a:schemeClr val="lt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Shows LLM can refine prompts automatically, often matching human performance</a:t>
            </a:r>
            <a:endParaRPr sz="1600">
              <a:solidFill>
                <a:schemeClr val="lt1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121" name="Google Shape;121;p28"/>
          <p:cNvSpPr txBox="1"/>
          <p:nvPr/>
        </p:nvSpPr>
        <p:spPr>
          <a:xfrm>
            <a:off x="456050" y="557325"/>
            <a:ext cx="7300500" cy="9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Related Works</a:t>
            </a:r>
            <a:endParaRPr b="1" sz="44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2" name="Google Shape;12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456050" y="1640600"/>
            <a:ext cx="7184400" cy="27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Target Task</a:t>
            </a:r>
            <a:r>
              <a:rPr lang="en" sz="16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:</a:t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Sans Medium"/>
              <a:buChar char="●"/>
            </a:pPr>
            <a:r>
              <a:rPr lang="en" sz="16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Iterative Prompt Refinement for open-ended tasks, using an LLM-as-a-Judge agent to evaluate and guide improvement.</a:t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Sans Medium"/>
              <a:buChar char="○"/>
            </a:pPr>
            <a:r>
              <a:rPr lang="en" sz="16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Ollama, Langchain</a:t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Claim:</a:t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Sans Medium"/>
              <a:buChar char="●"/>
            </a:pPr>
            <a:r>
              <a:rPr lang="en" sz="16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A multi-agent loop, where one LLM proposes and another judges, can improve prompts autonomously, leading to more accurate, truthful, or aligned outputs.</a:t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128" name="Google Shape;128;p29"/>
          <p:cNvSpPr txBox="1"/>
          <p:nvPr/>
        </p:nvSpPr>
        <p:spPr>
          <a:xfrm>
            <a:off x="456050" y="557325"/>
            <a:ext cx="7300500" cy="9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Claim/Target Task</a:t>
            </a:r>
            <a:endParaRPr b="1" sz="44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9" name="Google Shape;12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0"/>
          <p:cNvSpPr txBox="1"/>
          <p:nvPr/>
        </p:nvSpPr>
        <p:spPr>
          <a:xfrm>
            <a:off x="456050" y="557325"/>
            <a:ext cx="7300500" cy="9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35" name="Google Shape;13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36" name="Google Shape;136;p30"/>
          <p:cNvSpPr txBox="1"/>
          <p:nvPr/>
        </p:nvSpPr>
        <p:spPr>
          <a:xfrm>
            <a:off x="2354664" y="2448453"/>
            <a:ext cx="1062300" cy="9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30" title="ai_character09_ques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199" y="3421650"/>
            <a:ext cx="1062300" cy="1207247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30"/>
          <p:cNvSpPr/>
          <p:nvPr/>
        </p:nvSpPr>
        <p:spPr>
          <a:xfrm>
            <a:off x="371775" y="722975"/>
            <a:ext cx="2675100" cy="2323800"/>
          </a:xfrm>
          <a:prstGeom prst="wedgeRectCallout">
            <a:avLst>
              <a:gd fmla="val -33536" name="adj1"/>
              <a:gd fmla="val 74302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rgbClr val="FFFFFF"/>
                </a:highlight>
              </a:rPr>
              <a:t>Q: What is the derivative of x^5 + x^9 - x^3 +1?</a:t>
            </a:r>
            <a:endParaRPr sz="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rgbClr val="FFFFFF"/>
                </a:highlight>
              </a:rPr>
              <a:t>A:To find the derivative of x^5 + x^9 - x^3 + 1, you can use the power rule of differentiation, which states that the derivative of x^n is equal to n \\* x^(n-1). Starting with x^5 + x^9 - x^3 + 1, you can apply the power rule to the first two terms, which gives you: 5 \\* x^(5-1) + 9 \\* x^(9-1) You can then simplify the expression by combining like terms: 5 \\* x^4 + 9 \\* x^8 Finally, you can simplify the expression further by canceling out the common factor of x^4: 5 \\* 9 \\* x^4 = 45 \\* x^4</a:t>
            </a:r>
            <a:endParaRPr sz="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800">
                <a:solidFill>
                  <a:schemeClr val="dk1"/>
                </a:solidFill>
                <a:highlight>
                  <a:schemeClr val="accent6"/>
                </a:highlight>
              </a:rPr>
              <a:t>Therefore, the derivative of x^5 + x^9 - x^3 + 1 is equal to 45 \\* x^4.</a:t>
            </a:r>
            <a:endParaRPr sz="900">
              <a:solidFill>
                <a:schemeClr val="dk1"/>
              </a:solidFill>
              <a:highlight>
                <a:schemeClr val="accent6"/>
              </a:highlight>
            </a:endParaRPr>
          </a:p>
        </p:txBody>
      </p:sp>
      <p:pic>
        <p:nvPicPr>
          <p:cNvPr id="139" name="Google Shape;139;p30" title="Screenshot 2025-04-27 at 10.22.0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69414" y="3433550"/>
            <a:ext cx="97155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30"/>
          <p:cNvSpPr/>
          <p:nvPr/>
        </p:nvSpPr>
        <p:spPr>
          <a:xfrm>
            <a:off x="3315400" y="1012175"/>
            <a:ext cx="877800" cy="671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0"/>
          <p:cNvSpPr/>
          <p:nvPr/>
        </p:nvSpPr>
        <p:spPr>
          <a:xfrm rot="5400000">
            <a:off x="5773400" y="2415450"/>
            <a:ext cx="605400" cy="671400"/>
          </a:xfrm>
          <a:prstGeom prst="rightArrow">
            <a:avLst>
              <a:gd fmla="val 50000" name="adj1"/>
              <a:gd fmla="val 53333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0"/>
          <p:cNvSpPr/>
          <p:nvPr/>
        </p:nvSpPr>
        <p:spPr>
          <a:xfrm flipH="1">
            <a:off x="4655550" y="521375"/>
            <a:ext cx="2109600" cy="1653000"/>
          </a:xfrm>
          <a:prstGeom prst="wedgeRectCallout">
            <a:avLst>
              <a:gd fmla="val -82308" name="adj1"/>
              <a:gd fmla="val 1669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</a:rPr>
              <a:t>Revised Prompt 1: Think step by step. What’s the derivative of x^5+ x^9 -x^3 +1?</a:t>
            </a:r>
            <a:endParaRPr sz="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</a:rPr>
              <a:t>Revised Prompt 2: 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What’s the derivative of x^5+ x^9 -x^3 +1, 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</a:rPr>
              <a:t>showing each step clearly</a:t>
            </a:r>
            <a:endParaRPr sz="9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143" name="Google Shape;143;p30"/>
          <p:cNvSpPr/>
          <p:nvPr/>
        </p:nvSpPr>
        <p:spPr>
          <a:xfrm flipH="1">
            <a:off x="4572150" y="3140450"/>
            <a:ext cx="2193000" cy="1653000"/>
          </a:xfrm>
          <a:prstGeom prst="wedgeRectCallout">
            <a:avLst>
              <a:gd fmla="val -97485" name="adj1"/>
              <a:gd fmla="val -23796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accent6"/>
                </a:highlight>
              </a:rPr>
              <a:t>Winning Prompt: </a:t>
            </a:r>
            <a:r>
              <a:rPr lang="en" sz="900">
                <a:solidFill>
                  <a:schemeClr val="dk1"/>
                </a:solidFill>
                <a:highlight>
                  <a:schemeClr val="accent6"/>
                </a:highlight>
              </a:rPr>
              <a:t>What’s the derivative of x^5+ x^9 -x^3 +1, showing each step clearly.</a:t>
            </a:r>
            <a:endParaRPr sz="7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700">
                <a:solidFill>
                  <a:schemeClr val="dk1"/>
                </a:solidFill>
                <a:highlight>
                  <a:schemeClr val="lt1"/>
                </a:highlight>
              </a:rPr>
              <a:t>Judgement: It gives a clear instruction ("showing each step clearly"), which is more direct and action-oriented.It sounds more natural and polished — smoother flow without awkward phrasing. It focuses on the output (clear steps) rather than the thinking process, making it easier to grade or evaluate if needed.</a:t>
            </a:r>
            <a:endParaRPr sz="7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144" name="Google Shape;144;p30" title="job_teacher_ma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24462" y="3140461"/>
            <a:ext cx="1417050" cy="1417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30" title="job_telephone_operator_woman_majim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34713" y="856838"/>
            <a:ext cx="1383424" cy="138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30"/>
          <p:cNvSpPr txBox="1"/>
          <p:nvPr/>
        </p:nvSpPr>
        <p:spPr>
          <a:xfrm>
            <a:off x="456050" y="4628900"/>
            <a:ext cx="10329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LLM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47" name="Google Shape;147;p30"/>
          <p:cNvSpPr txBox="1"/>
          <p:nvPr/>
        </p:nvSpPr>
        <p:spPr>
          <a:xfrm>
            <a:off x="7158200" y="2298150"/>
            <a:ext cx="13833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Prompt Optimizer Agent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148" name="Google Shape;148;p30"/>
          <p:cNvSpPr txBox="1"/>
          <p:nvPr/>
        </p:nvSpPr>
        <p:spPr>
          <a:xfrm>
            <a:off x="7372525" y="4586425"/>
            <a:ext cx="12618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Judge Agent</a:t>
            </a:r>
            <a:endParaRPr sz="1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1"/>
          <p:cNvSpPr txBox="1"/>
          <p:nvPr/>
        </p:nvSpPr>
        <p:spPr>
          <a:xfrm>
            <a:off x="456050" y="557325"/>
            <a:ext cx="7300500" cy="9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54" name="Google Shape;15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55" name="Google Shape;155;p31"/>
          <p:cNvSpPr txBox="1"/>
          <p:nvPr/>
        </p:nvSpPr>
        <p:spPr>
          <a:xfrm>
            <a:off x="2354664" y="2448453"/>
            <a:ext cx="1062300" cy="9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31" title="ai_character09_ques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199" y="3421650"/>
            <a:ext cx="1062300" cy="1207247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31"/>
          <p:cNvSpPr/>
          <p:nvPr/>
        </p:nvSpPr>
        <p:spPr>
          <a:xfrm>
            <a:off x="371775" y="557325"/>
            <a:ext cx="4379100" cy="2541300"/>
          </a:xfrm>
          <a:prstGeom prst="wedgeRectCallout">
            <a:avLst>
              <a:gd fmla="val -33536" name="adj1"/>
              <a:gd fmla="val 74302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Q: </a:t>
            </a: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What’s the derivative of x^5+ x^9 -x^3 +1, showing each step clearly.</a:t>
            </a: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</a:rPr>
              <a:t>A: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</a:rPr>
              <a:t>Find the derivative of the function, we need to take the derivative of each term in the function. The derivative of x^5 is 5x^4. The derivative of x^9 is 9x^8. The derivative of x^3 is 3x^2. The derivative of 1 is 1. Therefore, the derivative of the function is: 5x^4 + 9x^8 - 3x^2 + 1 = 5x^4 + 9x^8 - 3x^2 + 1 - (1) = 5x^4 + 9x^8 - 3x^2 </a:t>
            </a:r>
            <a:endParaRPr sz="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chemeClr val="accent6"/>
                </a:highlight>
              </a:rPr>
              <a:t>Therefore, the derivative of the function x^5 + x^9 - x^3+1 is 5x^4 + 9x^8 - 3x^2.</a:t>
            </a:r>
            <a:endParaRPr sz="900">
              <a:solidFill>
                <a:schemeClr val="dk1"/>
              </a:solidFill>
              <a:highlight>
                <a:schemeClr val="accent6"/>
              </a:highlight>
            </a:endParaRPr>
          </a:p>
        </p:txBody>
      </p:sp>
      <p:pic>
        <p:nvPicPr>
          <p:cNvPr descr="Green check mark icon. Vector. (Provided by Getty Images)" id="158" name="Google Shape;15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59681" y="3295427"/>
            <a:ext cx="1367798" cy="1367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31" title="cheerleader_stunt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25664" y="896063"/>
            <a:ext cx="3351375" cy="3351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31"/>
          <p:cNvSpPr txBox="1"/>
          <p:nvPr/>
        </p:nvSpPr>
        <p:spPr>
          <a:xfrm>
            <a:off x="456050" y="4628900"/>
            <a:ext cx="10329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LLM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2"/>
          <p:cNvSpPr txBox="1"/>
          <p:nvPr/>
        </p:nvSpPr>
        <p:spPr>
          <a:xfrm>
            <a:off x="456050" y="1640600"/>
            <a:ext cx="4230300" cy="29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Multi-agent system (</a:t>
            </a:r>
            <a:r>
              <a:rPr b="1" lang="en" sz="16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MAS</a:t>
            </a:r>
            <a:r>
              <a:rPr lang="en" sz="16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) for </a:t>
            </a:r>
            <a:r>
              <a:rPr i="1" lang="en" sz="16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iterative prompt refinement</a:t>
            </a:r>
            <a:endParaRPr i="1"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Sans Medium"/>
              <a:buChar char="●"/>
            </a:pPr>
            <a:r>
              <a:rPr lang="en" sz="16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Agents:</a:t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Sans Medium"/>
              <a:buChar char="○"/>
            </a:pPr>
            <a:r>
              <a:rPr lang="en" sz="16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Answerer LLM</a:t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Sans Medium"/>
              <a:buChar char="○"/>
            </a:pPr>
            <a:r>
              <a:rPr lang="en" sz="16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Prompt Optimizer Agent</a:t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Sans Medium"/>
              <a:buChar char="○"/>
            </a:pPr>
            <a:r>
              <a:rPr lang="en" sz="16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Judge Agent</a:t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166" name="Google Shape;166;p32"/>
          <p:cNvSpPr txBox="1"/>
          <p:nvPr/>
        </p:nvSpPr>
        <p:spPr>
          <a:xfrm>
            <a:off x="456050" y="557325"/>
            <a:ext cx="7300500" cy="9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Proposed Solution</a:t>
            </a:r>
            <a:endParaRPr b="1" sz="44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67" name="Google Shape;16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168" name="Google Shape;168;p32" title="Screenshot 2025-04-28 at 12.06.0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4775" y="1681925"/>
            <a:ext cx="4388376" cy="227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E5244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3"/>
          <p:cNvSpPr txBox="1"/>
          <p:nvPr/>
        </p:nvSpPr>
        <p:spPr>
          <a:xfrm>
            <a:off x="456050" y="1640600"/>
            <a:ext cx="3258900" cy="31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Datasets:</a:t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b="1" lang="en" sz="16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Big Bench Hard</a:t>
            </a:r>
            <a:r>
              <a:rPr lang="en" sz="16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(Boolean Expressions)</a:t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b="1" lang="en" sz="16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LiveBench</a:t>
            </a:r>
            <a:r>
              <a:rPr lang="en" sz="16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Reasoning</a:t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b="1" lang="en" sz="16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Medical</a:t>
            </a:r>
            <a:r>
              <a:rPr lang="en" sz="16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Reasoning</a:t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174" name="Google Shape;174;p33"/>
          <p:cNvSpPr txBox="1"/>
          <p:nvPr/>
        </p:nvSpPr>
        <p:spPr>
          <a:xfrm>
            <a:off x="456050" y="557325"/>
            <a:ext cx="7300500" cy="9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Implementation</a:t>
            </a:r>
            <a:endParaRPr b="1" sz="44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75" name="Google Shape;175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176" name="Google Shape;176;p33" title="GenAI Project-3.png"/>
          <p:cNvPicPr preferRelativeResize="0"/>
          <p:nvPr/>
        </p:nvPicPr>
        <p:blipFill rotWithShape="1">
          <a:blip r:embed="rId3">
            <a:alphaModFix/>
          </a:blip>
          <a:srcRect b="0" l="0" r="18380" t="0"/>
          <a:stretch/>
        </p:blipFill>
        <p:spPr>
          <a:xfrm>
            <a:off x="3714925" y="133763"/>
            <a:ext cx="5306225" cy="487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E5244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4"/>
          <p:cNvSpPr txBox="1"/>
          <p:nvPr/>
        </p:nvSpPr>
        <p:spPr>
          <a:xfrm>
            <a:off x="456050" y="557325"/>
            <a:ext cx="7300500" cy="9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Collab Showcase</a:t>
            </a:r>
            <a:endParaRPr b="1" sz="44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82" name="Google Shape;182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83" name="Google Shape;183;p34"/>
          <p:cNvSpPr txBox="1"/>
          <p:nvPr/>
        </p:nvSpPr>
        <p:spPr>
          <a:xfrm>
            <a:off x="514100" y="1800625"/>
            <a:ext cx="7184400" cy="27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https://colab.research.google.com/drive/16uQeKKibUojkq137WSiG5xnKRrLsYal-#scrollTo=tmS1SR3IlA3h</a:t>
            </a:r>
            <a:endParaRPr sz="18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5"/>
          <p:cNvSpPr txBox="1"/>
          <p:nvPr/>
        </p:nvSpPr>
        <p:spPr>
          <a:xfrm>
            <a:off x="456050" y="557325"/>
            <a:ext cx="7300500" cy="9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Data Summary - Baseline</a:t>
            </a:r>
            <a:endParaRPr b="1" sz="44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89" name="Google Shape;18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graphicFrame>
        <p:nvGraphicFramePr>
          <p:cNvPr id="190" name="Google Shape;190;p35"/>
          <p:cNvGraphicFramePr/>
          <p:nvPr/>
        </p:nvGraphicFramePr>
        <p:xfrm>
          <a:off x="5246950" y="189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{54C1ABA1-2AE1-4C00-A220-1EFBF76D41FC}</a:tableStyleId>
              </a:tblPr>
              <a:tblGrid>
                <a:gridCol w="1612750"/>
                <a:gridCol w="1612750"/>
              </a:tblGrid>
              <a:tr h="37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Nunito Sans Medium"/>
                          <a:ea typeface="Nunito Sans Medium"/>
                          <a:cs typeface="Nunito Sans Medium"/>
                          <a:sym typeface="Nunito Sans Medium"/>
                        </a:rPr>
                        <a:t>METRIC</a:t>
                      </a:r>
                      <a:endParaRPr>
                        <a:solidFill>
                          <a:schemeClr val="lt1"/>
                        </a:solidFill>
                        <a:latin typeface="Nunito Sans Medium"/>
                        <a:ea typeface="Nunito Sans Medium"/>
                        <a:cs typeface="Nunito Sans Medium"/>
                        <a:sym typeface="Nunito Sans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Nunito Sans Medium"/>
                          <a:ea typeface="Nunito Sans Medium"/>
                          <a:cs typeface="Nunito Sans Medium"/>
                          <a:sym typeface="Nunito Sans Medium"/>
                        </a:rPr>
                        <a:t>VALUE</a:t>
                      </a:r>
                      <a:endParaRPr>
                        <a:solidFill>
                          <a:schemeClr val="lt1"/>
                        </a:solidFill>
                        <a:latin typeface="Nunito Sans Medium"/>
                        <a:ea typeface="Nunito Sans Medium"/>
                        <a:cs typeface="Nunito Sans Medium"/>
                        <a:sym typeface="Nunito Sans Medium"/>
                      </a:endParaRPr>
                    </a:p>
                  </a:txBody>
                  <a:tcPr marT="91425" marB="91425" marR="91425" marL="91425"/>
                </a:tc>
              </a:tr>
              <a:tr h="37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Nunito Sans Medium"/>
                          <a:ea typeface="Nunito Sans Medium"/>
                          <a:cs typeface="Nunito Sans Medium"/>
                          <a:sym typeface="Nunito Sans Medium"/>
                        </a:rPr>
                        <a:t>Answered Correctly</a:t>
                      </a:r>
                      <a:endParaRPr>
                        <a:solidFill>
                          <a:schemeClr val="lt1"/>
                        </a:solidFill>
                        <a:latin typeface="Nunito Sans Medium"/>
                        <a:ea typeface="Nunito Sans Medium"/>
                        <a:cs typeface="Nunito Sans Medium"/>
                        <a:sym typeface="Nunito Sans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Nunito Sans Medium"/>
                          <a:ea typeface="Nunito Sans Medium"/>
                          <a:cs typeface="Nunito Sans Medium"/>
                          <a:sym typeface="Nunito Sans Medium"/>
                        </a:rPr>
                        <a:t>21</a:t>
                      </a:r>
                      <a:endParaRPr>
                        <a:solidFill>
                          <a:schemeClr val="lt1"/>
                        </a:solidFill>
                        <a:latin typeface="Nunito Sans Medium"/>
                        <a:ea typeface="Nunito Sans Medium"/>
                        <a:cs typeface="Nunito Sans Medium"/>
                        <a:sym typeface="Nunito Sans Medium"/>
                      </a:endParaRPr>
                    </a:p>
                  </a:txBody>
                  <a:tcPr marT="91425" marB="91425" marR="91425" marL="91425"/>
                </a:tc>
              </a:tr>
              <a:tr h="37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Nunito Sans Medium"/>
                          <a:ea typeface="Nunito Sans Medium"/>
                          <a:cs typeface="Nunito Sans Medium"/>
                          <a:sym typeface="Nunito Sans Medium"/>
                        </a:rPr>
                        <a:t>Answered Incorrectly</a:t>
                      </a:r>
                      <a:endParaRPr>
                        <a:solidFill>
                          <a:schemeClr val="lt1"/>
                        </a:solidFill>
                        <a:latin typeface="Nunito Sans Medium"/>
                        <a:ea typeface="Nunito Sans Medium"/>
                        <a:cs typeface="Nunito Sans Medium"/>
                        <a:sym typeface="Nunito Sans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Nunito Sans Medium"/>
                          <a:ea typeface="Nunito Sans Medium"/>
                          <a:cs typeface="Nunito Sans Medium"/>
                          <a:sym typeface="Nunito Sans Medium"/>
                        </a:rPr>
                        <a:t>13</a:t>
                      </a:r>
                      <a:endParaRPr>
                        <a:solidFill>
                          <a:schemeClr val="lt1"/>
                        </a:solidFill>
                        <a:latin typeface="Nunito Sans Medium"/>
                        <a:ea typeface="Nunito Sans Medium"/>
                        <a:cs typeface="Nunito Sans Medium"/>
                        <a:sym typeface="Nunito Sans Medium"/>
                      </a:endParaRPr>
                    </a:p>
                  </a:txBody>
                  <a:tcPr marT="91425" marB="91425" marR="91425" marL="91425"/>
                </a:tc>
              </a:tr>
              <a:tr h="37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Nunito Sans Medium"/>
                          <a:ea typeface="Nunito Sans Medium"/>
                          <a:cs typeface="Nunito Sans Medium"/>
                          <a:sym typeface="Nunito Sans Medium"/>
                        </a:rPr>
                        <a:t>Total Questions</a:t>
                      </a:r>
                      <a:endParaRPr>
                        <a:solidFill>
                          <a:schemeClr val="lt1"/>
                        </a:solidFill>
                        <a:latin typeface="Nunito Sans Medium"/>
                        <a:ea typeface="Nunito Sans Medium"/>
                        <a:cs typeface="Nunito Sans Medium"/>
                        <a:sym typeface="Nunito Sans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Nunito Sans Medium"/>
                          <a:ea typeface="Nunito Sans Medium"/>
                          <a:cs typeface="Nunito Sans Medium"/>
                          <a:sym typeface="Nunito Sans Medium"/>
                        </a:rPr>
                        <a:t>34</a:t>
                      </a:r>
                      <a:endParaRPr>
                        <a:solidFill>
                          <a:schemeClr val="lt1"/>
                        </a:solidFill>
                        <a:latin typeface="Nunito Sans Medium"/>
                        <a:ea typeface="Nunito Sans Medium"/>
                        <a:cs typeface="Nunito Sans Medium"/>
                        <a:sym typeface="Nunito Sans Medium"/>
                      </a:endParaRPr>
                    </a:p>
                  </a:txBody>
                  <a:tcPr marT="91425" marB="91425" marR="91425" marL="91425"/>
                </a:tc>
              </a:tr>
              <a:tr h="37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Nunito Sans Medium"/>
                          <a:ea typeface="Nunito Sans Medium"/>
                          <a:cs typeface="Nunito Sans Medium"/>
                          <a:sym typeface="Nunito Sans Medium"/>
                        </a:rPr>
                        <a:t>Accuracy</a:t>
                      </a:r>
                      <a:endParaRPr>
                        <a:solidFill>
                          <a:schemeClr val="lt1"/>
                        </a:solidFill>
                        <a:latin typeface="Nunito Sans Medium"/>
                        <a:ea typeface="Nunito Sans Medium"/>
                        <a:cs typeface="Nunito Sans Medium"/>
                        <a:sym typeface="Nunito Sans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Nunito Sans Medium"/>
                          <a:ea typeface="Nunito Sans Medium"/>
                          <a:cs typeface="Nunito Sans Medium"/>
                          <a:sym typeface="Nunito Sans Medium"/>
                        </a:rPr>
                        <a:t>61.76</a:t>
                      </a:r>
                      <a:r>
                        <a:rPr lang="en">
                          <a:solidFill>
                            <a:schemeClr val="lt1"/>
                          </a:solidFill>
                          <a:latin typeface="Nunito Sans Medium"/>
                          <a:ea typeface="Nunito Sans Medium"/>
                          <a:cs typeface="Nunito Sans Medium"/>
                          <a:sym typeface="Nunito Sans Medium"/>
                        </a:rPr>
                        <a:t>%</a:t>
                      </a:r>
                      <a:endParaRPr>
                        <a:solidFill>
                          <a:schemeClr val="lt1"/>
                        </a:solidFill>
                        <a:latin typeface="Nunito Sans Medium"/>
                        <a:ea typeface="Nunito Sans Medium"/>
                        <a:cs typeface="Nunito Sans Medium"/>
                        <a:sym typeface="Nunito Sans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1" name="Google Shape;191;p35"/>
          <p:cNvGraphicFramePr/>
          <p:nvPr/>
        </p:nvGraphicFramePr>
        <p:xfrm>
          <a:off x="674050" y="189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{54C1ABA1-2AE1-4C00-A220-1EFBF76D41FC}</a:tableStyleId>
              </a:tblPr>
              <a:tblGrid>
                <a:gridCol w="1612750"/>
                <a:gridCol w="1612750"/>
              </a:tblGrid>
              <a:tr h="37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Nunito Sans Medium"/>
                          <a:ea typeface="Nunito Sans Medium"/>
                          <a:cs typeface="Nunito Sans Medium"/>
                          <a:sym typeface="Nunito Sans Medium"/>
                        </a:rPr>
                        <a:t>METRIC</a:t>
                      </a:r>
                      <a:endParaRPr>
                        <a:solidFill>
                          <a:schemeClr val="lt1"/>
                        </a:solidFill>
                        <a:latin typeface="Nunito Sans Medium"/>
                        <a:ea typeface="Nunito Sans Medium"/>
                        <a:cs typeface="Nunito Sans Medium"/>
                        <a:sym typeface="Nunito Sans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Nunito Sans Medium"/>
                          <a:ea typeface="Nunito Sans Medium"/>
                          <a:cs typeface="Nunito Sans Medium"/>
                          <a:sym typeface="Nunito Sans Medium"/>
                        </a:rPr>
                        <a:t>VALUE</a:t>
                      </a:r>
                      <a:endParaRPr>
                        <a:solidFill>
                          <a:schemeClr val="lt1"/>
                        </a:solidFill>
                        <a:latin typeface="Nunito Sans Medium"/>
                        <a:ea typeface="Nunito Sans Medium"/>
                        <a:cs typeface="Nunito Sans Medium"/>
                        <a:sym typeface="Nunito Sans Medium"/>
                      </a:endParaRPr>
                    </a:p>
                  </a:txBody>
                  <a:tcPr marT="91425" marB="91425" marR="91425" marL="91425"/>
                </a:tc>
              </a:tr>
              <a:tr h="37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Nunito Sans Medium"/>
                          <a:ea typeface="Nunito Sans Medium"/>
                          <a:cs typeface="Nunito Sans Medium"/>
                          <a:sym typeface="Nunito Sans Medium"/>
                        </a:rPr>
                        <a:t>Answered Correctly</a:t>
                      </a:r>
                      <a:endParaRPr>
                        <a:solidFill>
                          <a:schemeClr val="lt1"/>
                        </a:solidFill>
                        <a:latin typeface="Nunito Sans Medium"/>
                        <a:ea typeface="Nunito Sans Medium"/>
                        <a:cs typeface="Nunito Sans Medium"/>
                        <a:sym typeface="Nunito Sans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Nunito Sans Medium"/>
                          <a:ea typeface="Nunito Sans Medium"/>
                          <a:cs typeface="Nunito Sans Medium"/>
                          <a:sym typeface="Nunito Sans Medium"/>
                        </a:rPr>
                        <a:t>249</a:t>
                      </a:r>
                      <a:endParaRPr>
                        <a:solidFill>
                          <a:schemeClr val="lt1"/>
                        </a:solidFill>
                        <a:latin typeface="Nunito Sans Medium"/>
                        <a:ea typeface="Nunito Sans Medium"/>
                        <a:cs typeface="Nunito Sans Medium"/>
                        <a:sym typeface="Nunito Sans Medium"/>
                      </a:endParaRPr>
                    </a:p>
                  </a:txBody>
                  <a:tcPr marT="91425" marB="91425" marR="91425" marL="91425"/>
                </a:tc>
              </a:tr>
              <a:tr h="37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Nunito Sans Medium"/>
                          <a:ea typeface="Nunito Sans Medium"/>
                          <a:cs typeface="Nunito Sans Medium"/>
                          <a:sym typeface="Nunito Sans Medium"/>
                        </a:rPr>
                        <a:t>Answered Incorrectly</a:t>
                      </a:r>
                      <a:endParaRPr>
                        <a:solidFill>
                          <a:schemeClr val="lt1"/>
                        </a:solidFill>
                        <a:latin typeface="Nunito Sans Medium"/>
                        <a:ea typeface="Nunito Sans Medium"/>
                        <a:cs typeface="Nunito Sans Medium"/>
                        <a:sym typeface="Nunito Sans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Nunito Sans Medium"/>
                          <a:ea typeface="Nunito Sans Medium"/>
                          <a:cs typeface="Nunito Sans Medium"/>
                          <a:sym typeface="Nunito Sans Medium"/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  <a:latin typeface="Nunito Sans Medium"/>
                        <a:ea typeface="Nunito Sans Medium"/>
                        <a:cs typeface="Nunito Sans Medium"/>
                        <a:sym typeface="Nunito Sans Medium"/>
                      </a:endParaRPr>
                    </a:p>
                  </a:txBody>
                  <a:tcPr marT="91425" marB="91425" marR="91425" marL="91425"/>
                </a:tc>
              </a:tr>
              <a:tr h="37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Nunito Sans Medium"/>
                          <a:ea typeface="Nunito Sans Medium"/>
                          <a:cs typeface="Nunito Sans Medium"/>
                          <a:sym typeface="Nunito Sans Medium"/>
                        </a:rPr>
                        <a:t>Total Questions</a:t>
                      </a:r>
                      <a:endParaRPr>
                        <a:solidFill>
                          <a:schemeClr val="lt1"/>
                        </a:solidFill>
                        <a:latin typeface="Nunito Sans Medium"/>
                        <a:ea typeface="Nunito Sans Medium"/>
                        <a:cs typeface="Nunito Sans Medium"/>
                        <a:sym typeface="Nunito Sans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Nunito Sans Medium"/>
                          <a:ea typeface="Nunito Sans Medium"/>
                          <a:cs typeface="Nunito Sans Medium"/>
                          <a:sym typeface="Nunito Sans Medium"/>
                        </a:rPr>
                        <a:t>250</a:t>
                      </a:r>
                      <a:endParaRPr>
                        <a:solidFill>
                          <a:schemeClr val="lt1"/>
                        </a:solidFill>
                        <a:latin typeface="Nunito Sans Medium"/>
                        <a:ea typeface="Nunito Sans Medium"/>
                        <a:cs typeface="Nunito Sans Medium"/>
                        <a:sym typeface="Nunito Sans Medium"/>
                      </a:endParaRPr>
                    </a:p>
                  </a:txBody>
                  <a:tcPr marT="91425" marB="91425" marR="91425" marL="91425"/>
                </a:tc>
              </a:tr>
              <a:tr h="37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Nunito Sans Medium"/>
                          <a:ea typeface="Nunito Sans Medium"/>
                          <a:cs typeface="Nunito Sans Medium"/>
                          <a:sym typeface="Nunito Sans Medium"/>
                        </a:rPr>
                        <a:t>Accuracy</a:t>
                      </a:r>
                      <a:endParaRPr>
                        <a:solidFill>
                          <a:schemeClr val="lt1"/>
                        </a:solidFill>
                        <a:latin typeface="Nunito Sans Medium"/>
                        <a:ea typeface="Nunito Sans Medium"/>
                        <a:cs typeface="Nunito Sans Medium"/>
                        <a:sym typeface="Nunito Sans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Nunito Sans Medium"/>
                          <a:ea typeface="Nunito Sans Medium"/>
                          <a:cs typeface="Nunito Sans Medium"/>
                          <a:sym typeface="Nunito Sans Medium"/>
                        </a:rPr>
                        <a:t>99.6%</a:t>
                      </a:r>
                      <a:endParaRPr>
                        <a:solidFill>
                          <a:schemeClr val="lt1"/>
                        </a:solidFill>
                        <a:latin typeface="Nunito Sans Medium"/>
                        <a:ea typeface="Nunito Sans Medium"/>
                        <a:cs typeface="Nunito Sans Medium"/>
                        <a:sym typeface="Nunito Sans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2" name="Google Shape;192;p35"/>
          <p:cNvSpPr txBox="1"/>
          <p:nvPr/>
        </p:nvSpPr>
        <p:spPr>
          <a:xfrm>
            <a:off x="1920050" y="1437675"/>
            <a:ext cx="733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BHH</a:t>
            </a:r>
            <a:endParaRPr b="1" sz="18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93" name="Google Shape;193;p35"/>
          <p:cNvSpPr txBox="1"/>
          <p:nvPr/>
        </p:nvSpPr>
        <p:spPr>
          <a:xfrm>
            <a:off x="6492950" y="1437675"/>
            <a:ext cx="733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Med</a:t>
            </a:r>
            <a:endParaRPr b="1" sz="18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6"/>
          <p:cNvSpPr txBox="1"/>
          <p:nvPr/>
        </p:nvSpPr>
        <p:spPr>
          <a:xfrm>
            <a:off x="456050" y="1640600"/>
            <a:ext cx="3850800" cy="27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Sans Medium"/>
              <a:buChar char="●"/>
            </a:pPr>
            <a:r>
              <a:rPr lang="en" sz="16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The PO likes to add “Think Step By Step” to the front of the prompt, rather than back. </a:t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Sans Medium"/>
              <a:buChar char="●"/>
            </a:pPr>
            <a:r>
              <a:rPr lang="en" sz="16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For the Medical Database, the new questions can sometimes successfully answer with the newly generated prompt!</a:t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Sans Medium"/>
              <a:buChar char="●"/>
            </a:pPr>
            <a:r>
              <a:rPr lang="en" sz="16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Likes to add more “perspectives” to the prompt</a:t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199" name="Google Shape;199;p36"/>
          <p:cNvSpPr txBox="1"/>
          <p:nvPr/>
        </p:nvSpPr>
        <p:spPr>
          <a:xfrm>
            <a:off x="456050" y="557325"/>
            <a:ext cx="7300500" cy="9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Experimental Results</a:t>
            </a:r>
            <a:endParaRPr b="1" sz="44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00" name="Google Shape;200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201" name="Google Shape;201;p36" title="Screenshot 2025-04-28 at 12.49.5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6852" y="1636325"/>
            <a:ext cx="4204700" cy="28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7"/>
          <p:cNvSpPr txBox="1"/>
          <p:nvPr/>
        </p:nvSpPr>
        <p:spPr>
          <a:xfrm>
            <a:off x="456050" y="557325"/>
            <a:ext cx="7300500" cy="9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Challenges</a:t>
            </a:r>
            <a:endParaRPr b="1" sz="44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07" name="Google Shape;207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208" name="Google Shape;208;p37" title="Screenshot 2025-04-28 at 12.52.3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2676" y="1650925"/>
            <a:ext cx="5628472" cy="307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7"/>
          <p:cNvSpPr txBox="1"/>
          <p:nvPr/>
        </p:nvSpPr>
        <p:spPr>
          <a:xfrm>
            <a:off x="0" y="1650925"/>
            <a:ext cx="3325800" cy="3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Sans Medium"/>
              <a:buChar char="●"/>
            </a:pPr>
            <a:r>
              <a:rPr lang="en" sz="16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Challenges</a:t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Sans Medium"/>
              <a:buChar char="○"/>
            </a:pPr>
            <a:r>
              <a:rPr lang="en" sz="16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Sometimes the agents would not follow their system role</a:t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Sans Medium"/>
              <a:buChar char="■"/>
            </a:pPr>
            <a:r>
              <a:rPr lang="en" sz="16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Answering Prompt</a:t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Sans Medium"/>
              <a:buChar char="■"/>
            </a:pPr>
            <a:r>
              <a:rPr lang="en" sz="16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Not using format</a:t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Sans Medium"/>
              <a:buChar char="○"/>
            </a:pPr>
            <a:r>
              <a:rPr lang="en" sz="16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Agents remaining silent, causing a break of the loop</a:t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Sans Medium"/>
              <a:buChar char="○"/>
            </a:pPr>
            <a:r>
              <a:rPr lang="en" sz="16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Computational Setbacks</a:t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8"/>
          <p:cNvSpPr txBox="1"/>
          <p:nvPr/>
        </p:nvSpPr>
        <p:spPr>
          <a:xfrm>
            <a:off x="456050" y="1640600"/>
            <a:ext cx="7184400" cy="27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Sans Medium"/>
              <a:buChar char="●"/>
            </a:pPr>
            <a:r>
              <a:rPr b="1" lang="en" sz="16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BHH</a:t>
            </a:r>
            <a:r>
              <a:rPr lang="en" sz="16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(Boolean Expressions)</a:t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Sans Medium"/>
              <a:buChar char="○"/>
            </a:pPr>
            <a:r>
              <a:rPr lang="en" sz="16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Not ideal dataset </a:t>
            </a:r>
            <a:r>
              <a:rPr lang="en" sz="16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since</a:t>
            </a:r>
            <a:r>
              <a:rPr lang="en" sz="16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LLM already highly accurate on these types of problems</a:t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Sans"/>
              <a:buChar char="●"/>
            </a:pPr>
            <a:r>
              <a:rPr b="1" lang="en" sz="16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Medical Reasoning </a:t>
            </a:r>
            <a:endParaRPr b="1" sz="16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Sans Medium"/>
              <a:buChar char="○"/>
            </a:pPr>
            <a:r>
              <a:rPr lang="en" sz="16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Outputted correct response within max iterations when testing</a:t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Sans Medium"/>
              <a:buChar char="○"/>
            </a:pPr>
            <a:r>
              <a:rPr lang="en" sz="16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Asked for more information that it did not need</a:t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Sans Medium"/>
              <a:buChar char="○"/>
            </a:pPr>
            <a:r>
              <a:rPr lang="en" sz="16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Sometimes would overgeneralize and revert to a step by step process rather than answering the question</a:t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215" name="Google Shape;215;p38"/>
          <p:cNvSpPr txBox="1"/>
          <p:nvPr/>
        </p:nvSpPr>
        <p:spPr>
          <a:xfrm>
            <a:off x="456050" y="557325"/>
            <a:ext cx="7300500" cy="9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Experimental Analysis</a:t>
            </a:r>
            <a:endParaRPr b="1" sz="44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16" name="Google Shape;216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9"/>
          <p:cNvSpPr txBox="1"/>
          <p:nvPr/>
        </p:nvSpPr>
        <p:spPr>
          <a:xfrm>
            <a:off x="456050" y="1640600"/>
            <a:ext cx="7184400" cy="27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Sans Medium"/>
              <a:buChar char="●"/>
            </a:pPr>
            <a:r>
              <a:rPr lang="en" sz="16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Conclusion</a:t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Sans Medium"/>
              <a:buChar char="○"/>
            </a:pPr>
            <a:r>
              <a:rPr lang="en" sz="16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Resampling the prompts with the MAS does lead to minor improvements in accuracy! </a:t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Sans Medium"/>
              <a:buChar char="●"/>
            </a:pPr>
            <a:r>
              <a:rPr lang="en" sz="16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Future Work</a:t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Sans Medium"/>
              <a:buChar char="○"/>
            </a:pPr>
            <a:r>
              <a:rPr lang="en" sz="16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Add more tools to the Prompt Optimizer Agent</a:t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02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Sans Medium"/>
              <a:buChar char="■"/>
            </a:pPr>
            <a:r>
              <a:rPr lang="en" sz="16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Utilize more principles of Prompt Engineering as tools</a:t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Sans Medium"/>
              <a:buChar char="○"/>
            </a:pPr>
            <a:r>
              <a:rPr lang="en" sz="16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Create an LLM Verifier Agent for automatic verification</a:t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02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Sans Medium"/>
              <a:buChar char="■"/>
            </a:pPr>
            <a:r>
              <a:rPr lang="en" sz="16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Tooling for verification with the agent</a:t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Sans Medium"/>
              <a:buChar char="○"/>
            </a:pPr>
            <a:r>
              <a:rPr lang="en" sz="16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SFT + RL for PO and Judge Agents</a:t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Sans Medium"/>
              <a:buChar char="○"/>
            </a:pPr>
            <a:r>
              <a:rPr lang="en" sz="1600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Experimenting with different LLM models</a:t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222" name="Google Shape;222;p39"/>
          <p:cNvSpPr txBox="1"/>
          <p:nvPr/>
        </p:nvSpPr>
        <p:spPr>
          <a:xfrm>
            <a:off x="456050" y="557325"/>
            <a:ext cx="7840200" cy="9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Conclusion and Future Work</a:t>
            </a:r>
            <a:endParaRPr b="1" sz="44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23" name="Google Shape;223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0"/>
          <p:cNvSpPr txBox="1"/>
          <p:nvPr/>
        </p:nvSpPr>
        <p:spPr>
          <a:xfrm>
            <a:off x="456050" y="1640600"/>
            <a:ext cx="7184400" cy="27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Sans Medium"/>
              <a:buChar char="●"/>
            </a:pPr>
            <a:r>
              <a:rPr lang="en" sz="1100" u="sng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https://arxiv.org/pdf/2312.16171</a:t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Sans Medium"/>
              <a:buChar char="●"/>
            </a:pPr>
            <a:r>
              <a:rPr lang="en" sz="1200" u="sng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https://medium.com/@abonia/running-ollama-in-google-colab-free-tier-545609258453</a:t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Sans Medium"/>
              <a:buChar char="●"/>
            </a:pPr>
            <a:r>
              <a:rPr lang="en" sz="1200" u="sng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https://python.langchain.com/docs/how_to/sequence/</a:t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Sans Medium"/>
              <a:buChar char="●"/>
            </a:pPr>
            <a:r>
              <a:rPr lang="en" sz="1200" u="sng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https://python.langchain.com/v0.1/docs/modules/agents/how_to/custom_agent/</a:t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Sans Medium"/>
              <a:buChar char="●"/>
            </a:pPr>
            <a:r>
              <a:rPr lang="en" sz="1100" u="sng">
                <a:solidFill>
                  <a:schemeClr val="lt1"/>
                </a:solidFill>
                <a:latin typeface="Nunito Sans Medium"/>
                <a:ea typeface="Nunito Sans Medium"/>
                <a:cs typeface="Nunito Sans Medium"/>
                <a:sym typeface="Nunito Sans Medium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https://arxiv.org/pdf/2501.06322</a:t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229" name="Google Shape;229;p40"/>
          <p:cNvSpPr txBox="1"/>
          <p:nvPr/>
        </p:nvSpPr>
        <p:spPr>
          <a:xfrm>
            <a:off x="456050" y="557325"/>
            <a:ext cx="7300500" cy="9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References</a:t>
            </a:r>
            <a:endParaRPr b="1" sz="44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30" name="Google Shape;230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